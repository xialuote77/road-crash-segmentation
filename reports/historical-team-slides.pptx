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68" r:id="rId15"/>
    <p:sldId id="270" r:id="rId16"/>
    <p:sldId id="271" r:id="rId17"/>
    <p:sldId id="272" r:id="rId18"/>
    <p:sldId id="273" r:id="rId19"/>
    <p:sldId id="274" r:id="rId20"/>
    <p:sldId id="275" r:id="rId21"/>
    <p:sldId id="276" r:id="rId22"/>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15:clr>
            <a:srgbClr val="747775"/>
          </p15:clr>
        </p15:guide>
        <p15:guide id="2" pos="5740">
          <p15:clr>
            <a:srgbClr val="747775"/>
          </p15:clr>
        </p15:guide>
        <p15:guide id="3" pos="2991">
          <p15:clr>
            <a:srgbClr val="747775"/>
          </p15:clr>
        </p15:guide>
        <p15:guide id="5" pos="5564">
          <p15:clr>
            <a:srgbClr val="747775"/>
          </p15:clr>
        </p15:guide>
        <p15:guide id="6" pos="2769">
          <p15:clr>
            <a:srgbClr val="747775"/>
          </p15:clr>
        </p15:guide>
        <p15:guide id="7" orient="horz" pos="16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5867858-D38C-4A6E-B77B-43783D642FB1}">
  <a:tblStyle styleId="{E5867858-D38C-4A6E-B77B-43783D642FB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940" y="52"/>
      </p:cViewPr>
      <p:guideLst>
        <p:guide/>
        <p:guide pos="5740"/>
        <p:guide pos="2991"/>
        <p:guide pos="5564"/>
        <p:guide pos="2769"/>
        <p:guide orient="horz" pos="16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A616922-9DB3-421C-B7CC-C762EDA4137D}" type="doc">
      <dgm:prSet loTypeId="urn:microsoft.com/office/officeart/2008/layout/LinedList" loCatId="list" qsTypeId="urn:microsoft.com/office/officeart/2005/8/quickstyle/simple1" qsCatId="simple" csTypeId="urn:microsoft.com/office/officeart/2005/8/colors/colorful5" csCatId="colorful"/>
      <dgm:spPr/>
      <dgm:t>
        <a:bodyPr/>
        <a:lstStyle/>
        <a:p>
          <a:endParaRPr lang="en-US"/>
        </a:p>
      </dgm:t>
    </dgm:pt>
    <dgm:pt modelId="{8FF98A29-9169-4D31-B201-29E60F4B4E53}">
      <dgm:prSet/>
      <dgm:spPr/>
      <dgm:t>
        <a:bodyPr/>
        <a:lstStyle/>
        <a:p>
          <a:r>
            <a:rPr lang="en-GB" baseline="0"/>
            <a:t>Data collection &amp; Merging</a:t>
          </a:r>
          <a:endParaRPr lang="en-US"/>
        </a:p>
      </dgm:t>
    </dgm:pt>
    <dgm:pt modelId="{5C691E9C-DB99-441E-8A60-55CE325A8BE8}" type="parTrans" cxnId="{12683710-DC94-450A-A9C0-442A9E444354}">
      <dgm:prSet/>
      <dgm:spPr/>
      <dgm:t>
        <a:bodyPr/>
        <a:lstStyle/>
        <a:p>
          <a:endParaRPr lang="en-US"/>
        </a:p>
      </dgm:t>
    </dgm:pt>
    <dgm:pt modelId="{822F1530-B871-45FF-B594-2F8803FE75DB}" type="sibTrans" cxnId="{12683710-DC94-450A-A9C0-442A9E444354}">
      <dgm:prSet/>
      <dgm:spPr/>
      <dgm:t>
        <a:bodyPr/>
        <a:lstStyle/>
        <a:p>
          <a:endParaRPr lang="en-US"/>
        </a:p>
      </dgm:t>
    </dgm:pt>
    <dgm:pt modelId="{9D9668DD-B1F0-4904-A522-5EE106EBD4B1}">
      <dgm:prSet/>
      <dgm:spPr/>
      <dgm:t>
        <a:bodyPr/>
        <a:lstStyle/>
        <a:p>
          <a:r>
            <a:rPr lang="en-GB" baseline="0" dirty="0"/>
            <a:t>Cleaning &amp; Feature Engineering</a:t>
          </a:r>
          <a:endParaRPr lang="en-US" dirty="0"/>
        </a:p>
      </dgm:t>
    </dgm:pt>
    <dgm:pt modelId="{3B25FAD1-E83F-46C0-9309-BB4C31B2B8E6}" type="parTrans" cxnId="{325CC053-2AEF-4269-944D-6650F37C97A7}">
      <dgm:prSet/>
      <dgm:spPr/>
      <dgm:t>
        <a:bodyPr/>
        <a:lstStyle/>
        <a:p>
          <a:endParaRPr lang="en-US"/>
        </a:p>
      </dgm:t>
    </dgm:pt>
    <dgm:pt modelId="{5F5B6922-A576-4891-B507-571F61724147}" type="sibTrans" cxnId="{325CC053-2AEF-4269-944D-6650F37C97A7}">
      <dgm:prSet/>
      <dgm:spPr/>
      <dgm:t>
        <a:bodyPr/>
        <a:lstStyle/>
        <a:p>
          <a:endParaRPr lang="en-US"/>
        </a:p>
      </dgm:t>
    </dgm:pt>
    <dgm:pt modelId="{251574B1-3692-473A-858F-16A00B09F3F7}">
      <dgm:prSet/>
      <dgm:spPr/>
      <dgm:t>
        <a:bodyPr/>
        <a:lstStyle/>
        <a:p>
          <a:r>
            <a:rPr lang="en-GB" baseline="0"/>
            <a:t>EDA &amp; Statistical Tasting</a:t>
          </a:r>
          <a:endParaRPr lang="en-US"/>
        </a:p>
      </dgm:t>
    </dgm:pt>
    <dgm:pt modelId="{B0BDB7BA-495A-492B-AA1B-F22D3EB04571}" type="parTrans" cxnId="{89632012-DB50-4F1F-9931-12AE7B97D78F}">
      <dgm:prSet/>
      <dgm:spPr/>
      <dgm:t>
        <a:bodyPr/>
        <a:lstStyle/>
        <a:p>
          <a:endParaRPr lang="en-US"/>
        </a:p>
      </dgm:t>
    </dgm:pt>
    <dgm:pt modelId="{9F5952EB-BF20-45B3-895C-D057F0AFE03E}" type="sibTrans" cxnId="{89632012-DB50-4F1F-9931-12AE7B97D78F}">
      <dgm:prSet/>
      <dgm:spPr/>
      <dgm:t>
        <a:bodyPr/>
        <a:lstStyle/>
        <a:p>
          <a:endParaRPr lang="en-US"/>
        </a:p>
      </dgm:t>
    </dgm:pt>
    <dgm:pt modelId="{DD0053CA-954F-4C1D-B8BD-E4B89CAE754A}">
      <dgm:prSet/>
      <dgm:spPr/>
      <dgm:t>
        <a:bodyPr/>
        <a:lstStyle/>
        <a:p>
          <a:r>
            <a:rPr lang="en-GB" baseline="0" dirty="0"/>
            <a:t>Clustering</a:t>
          </a:r>
          <a:endParaRPr lang="en-US" dirty="0"/>
        </a:p>
      </dgm:t>
    </dgm:pt>
    <dgm:pt modelId="{FDDEBA3E-9BA6-4585-8096-4838E02F74E0}" type="parTrans" cxnId="{788926CC-EA1E-4A91-B8F4-D2A4F5C10BDE}">
      <dgm:prSet/>
      <dgm:spPr/>
      <dgm:t>
        <a:bodyPr/>
        <a:lstStyle/>
        <a:p>
          <a:endParaRPr lang="en-US"/>
        </a:p>
      </dgm:t>
    </dgm:pt>
    <dgm:pt modelId="{D14279A9-75F5-4822-8625-00A7CDFCF408}" type="sibTrans" cxnId="{788926CC-EA1E-4A91-B8F4-D2A4F5C10BDE}">
      <dgm:prSet/>
      <dgm:spPr/>
      <dgm:t>
        <a:bodyPr/>
        <a:lstStyle/>
        <a:p>
          <a:endParaRPr lang="en-US"/>
        </a:p>
      </dgm:t>
    </dgm:pt>
    <dgm:pt modelId="{504D3FA5-F6C8-4F28-A10A-92FCBEC31ADB}">
      <dgm:prSet/>
      <dgm:spPr/>
      <dgm:t>
        <a:bodyPr/>
        <a:lstStyle/>
        <a:p>
          <a:r>
            <a:rPr lang="en-GB" baseline="0" dirty="0"/>
            <a:t>Supervised Learning</a:t>
          </a:r>
          <a:endParaRPr lang="en-US" dirty="0"/>
        </a:p>
      </dgm:t>
    </dgm:pt>
    <dgm:pt modelId="{96EE9504-1250-4D4A-B499-BDB63D0B825D}" type="parTrans" cxnId="{3BBA9F2F-4CB4-4CF0-BBB0-822E281BD372}">
      <dgm:prSet/>
      <dgm:spPr/>
      <dgm:t>
        <a:bodyPr/>
        <a:lstStyle/>
        <a:p>
          <a:endParaRPr lang="en-US"/>
        </a:p>
      </dgm:t>
    </dgm:pt>
    <dgm:pt modelId="{F8CA0917-19DE-4573-AF79-9C48C1B95B7F}" type="sibTrans" cxnId="{3BBA9F2F-4CB4-4CF0-BBB0-822E281BD372}">
      <dgm:prSet/>
      <dgm:spPr/>
      <dgm:t>
        <a:bodyPr/>
        <a:lstStyle/>
        <a:p>
          <a:endParaRPr lang="en-US"/>
        </a:p>
      </dgm:t>
    </dgm:pt>
    <dgm:pt modelId="{4DABB75B-7097-46F9-AD29-0FB36F6BF6FE}" type="pres">
      <dgm:prSet presAssocID="{7A616922-9DB3-421C-B7CC-C762EDA4137D}" presName="vert0" presStyleCnt="0">
        <dgm:presLayoutVars>
          <dgm:dir/>
          <dgm:animOne val="branch"/>
          <dgm:animLvl val="lvl"/>
        </dgm:presLayoutVars>
      </dgm:prSet>
      <dgm:spPr/>
    </dgm:pt>
    <dgm:pt modelId="{5B3D27B5-AFED-4FEF-9E96-DCBE8FAF1CD7}" type="pres">
      <dgm:prSet presAssocID="{8FF98A29-9169-4D31-B201-29E60F4B4E53}" presName="thickLine" presStyleLbl="alignNode1" presStyleIdx="0" presStyleCnt="5"/>
      <dgm:spPr/>
    </dgm:pt>
    <dgm:pt modelId="{533659A2-AA2F-4260-96ED-EA190F4AA26C}" type="pres">
      <dgm:prSet presAssocID="{8FF98A29-9169-4D31-B201-29E60F4B4E53}" presName="horz1" presStyleCnt="0"/>
      <dgm:spPr/>
    </dgm:pt>
    <dgm:pt modelId="{342A0633-479B-4E2F-9A01-CA0B935B7958}" type="pres">
      <dgm:prSet presAssocID="{8FF98A29-9169-4D31-B201-29E60F4B4E53}" presName="tx1" presStyleLbl="revTx" presStyleIdx="0" presStyleCnt="5"/>
      <dgm:spPr/>
    </dgm:pt>
    <dgm:pt modelId="{9A9139D9-9FA0-443C-B32D-8315D056B5BC}" type="pres">
      <dgm:prSet presAssocID="{8FF98A29-9169-4D31-B201-29E60F4B4E53}" presName="vert1" presStyleCnt="0"/>
      <dgm:spPr/>
    </dgm:pt>
    <dgm:pt modelId="{E73C26D5-D71F-42B8-9E59-5A80FC44D50C}" type="pres">
      <dgm:prSet presAssocID="{9D9668DD-B1F0-4904-A522-5EE106EBD4B1}" presName="thickLine" presStyleLbl="alignNode1" presStyleIdx="1" presStyleCnt="5"/>
      <dgm:spPr/>
    </dgm:pt>
    <dgm:pt modelId="{9533890B-2C5A-4295-AAFB-0C82D968166B}" type="pres">
      <dgm:prSet presAssocID="{9D9668DD-B1F0-4904-A522-5EE106EBD4B1}" presName="horz1" presStyleCnt="0"/>
      <dgm:spPr/>
    </dgm:pt>
    <dgm:pt modelId="{CA4D4E7B-39B1-44DA-888A-899335BF53CF}" type="pres">
      <dgm:prSet presAssocID="{9D9668DD-B1F0-4904-A522-5EE106EBD4B1}" presName="tx1" presStyleLbl="revTx" presStyleIdx="1" presStyleCnt="5"/>
      <dgm:spPr/>
    </dgm:pt>
    <dgm:pt modelId="{9CA6FDBC-29D8-485C-B63C-CC3CAA10AE65}" type="pres">
      <dgm:prSet presAssocID="{9D9668DD-B1F0-4904-A522-5EE106EBD4B1}" presName="vert1" presStyleCnt="0"/>
      <dgm:spPr/>
    </dgm:pt>
    <dgm:pt modelId="{1D5F95A6-9602-488A-845A-7C0350C317C8}" type="pres">
      <dgm:prSet presAssocID="{251574B1-3692-473A-858F-16A00B09F3F7}" presName="thickLine" presStyleLbl="alignNode1" presStyleIdx="2" presStyleCnt="5"/>
      <dgm:spPr/>
    </dgm:pt>
    <dgm:pt modelId="{0760E29C-0571-4516-85D3-3DE4C3E3933F}" type="pres">
      <dgm:prSet presAssocID="{251574B1-3692-473A-858F-16A00B09F3F7}" presName="horz1" presStyleCnt="0"/>
      <dgm:spPr/>
    </dgm:pt>
    <dgm:pt modelId="{097006AA-42AF-4F05-94F8-340344861CAC}" type="pres">
      <dgm:prSet presAssocID="{251574B1-3692-473A-858F-16A00B09F3F7}" presName="tx1" presStyleLbl="revTx" presStyleIdx="2" presStyleCnt="5"/>
      <dgm:spPr/>
    </dgm:pt>
    <dgm:pt modelId="{6DAB8111-8D86-4AFC-8A34-036B3CE35F43}" type="pres">
      <dgm:prSet presAssocID="{251574B1-3692-473A-858F-16A00B09F3F7}" presName="vert1" presStyleCnt="0"/>
      <dgm:spPr/>
    </dgm:pt>
    <dgm:pt modelId="{2146194F-3B9E-46FE-B1DB-55733FA9B9F5}" type="pres">
      <dgm:prSet presAssocID="{DD0053CA-954F-4C1D-B8BD-E4B89CAE754A}" presName="thickLine" presStyleLbl="alignNode1" presStyleIdx="3" presStyleCnt="5"/>
      <dgm:spPr/>
    </dgm:pt>
    <dgm:pt modelId="{353FDB31-7FA8-47F8-BC98-7C0912040877}" type="pres">
      <dgm:prSet presAssocID="{DD0053CA-954F-4C1D-B8BD-E4B89CAE754A}" presName="horz1" presStyleCnt="0"/>
      <dgm:spPr/>
    </dgm:pt>
    <dgm:pt modelId="{48C87BD7-188F-4797-895B-13A5399E9EB2}" type="pres">
      <dgm:prSet presAssocID="{DD0053CA-954F-4C1D-B8BD-E4B89CAE754A}" presName="tx1" presStyleLbl="revTx" presStyleIdx="3" presStyleCnt="5"/>
      <dgm:spPr/>
    </dgm:pt>
    <dgm:pt modelId="{9B1D002D-6A7B-4950-9D4B-3702299AC648}" type="pres">
      <dgm:prSet presAssocID="{DD0053CA-954F-4C1D-B8BD-E4B89CAE754A}" presName="vert1" presStyleCnt="0"/>
      <dgm:spPr/>
    </dgm:pt>
    <dgm:pt modelId="{B2C4C3C1-96E2-456D-B88F-1778E4F7FB5E}" type="pres">
      <dgm:prSet presAssocID="{504D3FA5-F6C8-4F28-A10A-92FCBEC31ADB}" presName="thickLine" presStyleLbl="alignNode1" presStyleIdx="4" presStyleCnt="5"/>
      <dgm:spPr/>
    </dgm:pt>
    <dgm:pt modelId="{88D9328B-3D59-4777-9D05-865F9FCD1212}" type="pres">
      <dgm:prSet presAssocID="{504D3FA5-F6C8-4F28-A10A-92FCBEC31ADB}" presName="horz1" presStyleCnt="0"/>
      <dgm:spPr/>
    </dgm:pt>
    <dgm:pt modelId="{8865BDAF-7403-4114-A015-2A3DD0163414}" type="pres">
      <dgm:prSet presAssocID="{504D3FA5-F6C8-4F28-A10A-92FCBEC31ADB}" presName="tx1" presStyleLbl="revTx" presStyleIdx="4" presStyleCnt="5"/>
      <dgm:spPr/>
    </dgm:pt>
    <dgm:pt modelId="{498C8373-55C3-4AFE-9B64-993C2753E131}" type="pres">
      <dgm:prSet presAssocID="{504D3FA5-F6C8-4F28-A10A-92FCBEC31ADB}" presName="vert1" presStyleCnt="0"/>
      <dgm:spPr/>
    </dgm:pt>
  </dgm:ptLst>
  <dgm:cxnLst>
    <dgm:cxn modelId="{12683710-DC94-450A-A9C0-442A9E444354}" srcId="{7A616922-9DB3-421C-B7CC-C762EDA4137D}" destId="{8FF98A29-9169-4D31-B201-29E60F4B4E53}" srcOrd="0" destOrd="0" parTransId="{5C691E9C-DB99-441E-8A60-55CE325A8BE8}" sibTransId="{822F1530-B871-45FF-B594-2F8803FE75DB}"/>
    <dgm:cxn modelId="{89632012-DB50-4F1F-9931-12AE7B97D78F}" srcId="{7A616922-9DB3-421C-B7CC-C762EDA4137D}" destId="{251574B1-3692-473A-858F-16A00B09F3F7}" srcOrd="2" destOrd="0" parTransId="{B0BDB7BA-495A-492B-AA1B-F22D3EB04571}" sibTransId="{9F5952EB-BF20-45B3-895C-D057F0AFE03E}"/>
    <dgm:cxn modelId="{18849818-1EB6-4E73-BA55-5654B0425686}" type="presOf" srcId="{8FF98A29-9169-4D31-B201-29E60F4B4E53}" destId="{342A0633-479B-4E2F-9A01-CA0B935B7958}" srcOrd="0" destOrd="0" presId="urn:microsoft.com/office/officeart/2008/layout/LinedList"/>
    <dgm:cxn modelId="{9C492E1F-4E38-4233-8A8E-D483EC54BA5E}" type="presOf" srcId="{7A616922-9DB3-421C-B7CC-C762EDA4137D}" destId="{4DABB75B-7097-46F9-AD29-0FB36F6BF6FE}" srcOrd="0" destOrd="0" presId="urn:microsoft.com/office/officeart/2008/layout/LinedList"/>
    <dgm:cxn modelId="{B1F70427-0D1F-4CE8-B903-E814DE39670F}" type="presOf" srcId="{9D9668DD-B1F0-4904-A522-5EE106EBD4B1}" destId="{CA4D4E7B-39B1-44DA-888A-899335BF53CF}" srcOrd="0" destOrd="0" presId="urn:microsoft.com/office/officeart/2008/layout/LinedList"/>
    <dgm:cxn modelId="{3BBA9F2F-4CB4-4CF0-BBB0-822E281BD372}" srcId="{7A616922-9DB3-421C-B7CC-C762EDA4137D}" destId="{504D3FA5-F6C8-4F28-A10A-92FCBEC31ADB}" srcOrd="4" destOrd="0" parTransId="{96EE9504-1250-4D4A-B499-BDB63D0B825D}" sibTransId="{F8CA0917-19DE-4573-AF79-9C48C1B95B7F}"/>
    <dgm:cxn modelId="{8B18FB72-9E65-4A0F-9AA5-51DBD1FA95DD}" type="presOf" srcId="{504D3FA5-F6C8-4F28-A10A-92FCBEC31ADB}" destId="{8865BDAF-7403-4114-A015-2A3DD0163414}" srcOrd="0" destOrd="0" presId="urn:microsoft.com/office/officeart/2008/layout/LinedList"/>
    <dgm:cxn modelId="{325CC053-2AEF-4269-944D-6650F37C97A7}" srcId="{7A616922-9DB3-421C-B7CC-C762EDA4137D}" destId="{9D9668DD-B1F0-4904-A522-5EE106EBD4B1}" srcOrd="1" destOrd="0" parTransId="{3B25FAD1-E83F-46C0-9309-BB4C31B2B8E6}" sibTransId="{5F5B6922-A576-4891-B507-571F61724147}"/>
    <dgm:cxn modelId="{D9B0B855-E5FE-4517-A8C8-C5A68A7B4F12}" type="presOf" srcId="{251574B1-3692-473A-858F-16A00B09F3F7}" destId="{097006AA-42AF-4F05-94F8-340344861CAC}" srcOrd="0" destOrd="0" presId="urn:microsoft.com/office/officeart/2008/layout/LinedList"/>
    <dgm:cxn modelId="{788926CC-EA1E-4A91-B8F4-D2A4F5C10BDE}" srcId="{7A616922-9DB3-421C-B7CC-C762EDA4137D}" destId="{DD0053CA-954F-4C1D-B8BD-E4B89CAE754A}" srcOrd="3" destOrd="0" parTransId="{FDDEBA3E-9BA6-4585-8096-4838E02F74E0}" sibTransId="{D14279A9-75F5-4822-8625-00A7CDFCF408}"/>
    <dgm:cxn modelId="{459D27F5-1DAC-4BE3-9337-669126577D44}" type="presOf" srcId="{DD0053CA-954F-4C1D-B8BD-E4B89CAE754A}" destId="{48C87BD7-188F-4797-895B-13A5399E9EB2}" srcOrd="0" destOrd="0" presId="urn:microsoft.com/office/officeart/2008/layout/LinedList"/>
    <dgm:cxn modelId="{F88FDCE8-493A-4F4D-9B90-94F025473417}" type="presParOf" srcId="{4DABB75B-7097-46F9-AD29-0FB36F6BF6FE}" destId="{5B3D27B5-AFED-4FEF-9E96-DCBE8FAF1CD7}" srcOrd="0" destOrd="0" presId="urn:microsoft.com/office/officeart/2008/layout/LinedList"/>
    <dgm:cxn modelId="{F5FE372B-9BBC-46BE-86FE-5AFEA8421831}" type="presParOf" srcId="{4DABB75B-7097-46F9-AD29-0FB36F6BF6FE}" destId="{533659A2-AA2F-4260-96ED-EA190F4AA26C}" srcOrd="1" destOrd="0" presId="urn:microsoft.com/office/officeart/2008/layout/LinedList"/>
    <dgm:cxn modelId="{85975B29-180F-4E4B-AA99-CA24FB4E5594}" type="presParOf" srcId="{533659A2-AA2F-4260-96ED-EA190F4AA26C}" destId="{342A0633-479B-4E2F-9A01-CA0B935B7958}" srcOrd="0" destOrd="0" presId="urn:microsoft.com/office/officeart/2008/layout/LinedList"/>
    <dgm:cxn modelId="{8058772C-7EA9-4F6F-9334-AC82F2371DAF}" type="presParOf" srcId="{533659A2-AA2F-4260-96ED-EA190F4AA26C}" destId="{9A9139D9-9FA0-443C-B32D-8315D056B5BC}" srcOrd="1" destOrd="0" presId="urn:microsoft.com/office/officeart/2008/layout/LinedList"/>
    <dgm:cxn modelId="{3C324571-6CB3-433A-8A14-00B337ECFA72}" type="presParOf" srcId="{4DABB75B-7097-46F9-AD29-0FB36F6BF6FE}" destId="{E73C26D5-D71F-42B8-9E59-5A80FC44D50C}" srcOrd="2" destOrd="0" presId="urn:microsoft.com/office/officeart/2008/layout/LinedList"/>
    <dgm:cxn modelId="{7715DCEA-D152-494F-86B1-E21BFE688035}" type="presParOf" srcId="{4DABB75B-7097-46F9-AD29-0FB36F6BF6FE}" destId="{9533890B-2C5A-4295-AAFB-0C82D968166B}" srcOrd="3" destOrd="0" presId="urn:microsoft.com/office/officeart/2008/layout/LinedList"/>
    <dgm:cxn modelId="{A66F7FC9-DEE4-4048-A7ED-0CFA008361B9}" type="presParOf" srcId="{9533890B-2C5A-4295-AAFB-0C82D968166B}" destId="{CA4D4E7B-39B1-44DA-888A-899335BF53CF}" srcOrd="0" destOrd="0" presId="urn:microsoft.com/office/officeart/2008/layout/LinedList"/>
    <dgm:cxn modelId="{D92588B6-D64F-4D9B-B22E-ECA8DEED88AF}" type="presParOf" srcId="{9533890B-2C5A-4295-AAFB-0C82D968166B}" destId="{9CA6FDBC-29D8-485C-B63C-CC3CAA10AE65}" srcOrd="1" destOrd="0" presId="urn:microsoft.com/office/officeart/2008/layout/LinedList"/>
    <dgm:cxn modelId="{192A2B42-5597-49A9-B175-613C89DE3F51}" type="presParOf" srcId="{4DABB75B-7097-46F9-AD29-0FB36F6BF6FE}" destId="{1D5F95A6-9602-488A-845A-7C0350C317C8}" srcOrd="4" destOrd="0" presId="urn:microsoft.com/office/officeart/2008/layout/LinedList"/>
    <dgm:cxn modelId="{CE18ADD1-CA09-4BD6-A257-1EB3631262F1}" type="presParOf" srcId="{4DABB75B-7097-46F9-AD29-0FB36F6BF6FE}" destId="{0760E29C-0571-4516-85D3-3DE4C3E3933F}" srcOrd="5" destOrd="0" presId="urn:microsoft.com/office/officeart/2008/layout/LinedList"/>
    <dgm:cxn modelId="{E4BA3FE9-C83E-45A3-BD89-75650D5E3C38}" type="presParOf" srcId="{0760E29C-0571-4516-85D3-3DE4C3E3933F}" destId="{097006AA-42AF-4F05-94F8-340344861CAC}" srcOrd="0" destOrd="0" presId="urn:microsoft.com/office/officeart/2008/layout/LinedList"/>
    <dgm:cxn modelId="{9561F592-E3A8-41EA-AAA4-2369AB7F950B}" type="presParOf" srcId="{0760E29C-0571-4516-85D3-3DE4C3E3933F}" destId="{6DAB8111-8D86-4AFC-8A34-036B3CE35F43}" srcOrd="1" destOrd="0" presId="urn:microsoft.com/office/officeart/2008/layout/LinedList"/>
    <dgm:cxn modelId="{D54B7820-0FAF-44F6-910D-152DD8AF022D}" type="presParOf" srcId="{4DABB75B-7097-46F9-AD29-0FB36F6BF6FE}" destId="{2146194F-3B9E-46FE-B1DB-55733FA9B9F5}" srcOrd="6" destOrd="0" presId="urn:microsoft.com/office/officeart/2008/layout/LinedList"/>
    <dgm:cxn modelId="{BFC59AA6-0180-462D-BB3C-E3390E821CBB}" type="presParOf" srcId="{4DABB75B-7097-46F9-AD29-0FB36F6BF6FE}" destId="{353FDB31-7FA8-47F8-BC98-7C0912040877}" srcOrd="7" destOrd="0" presId="urn:microsoft.com/office/officeart/2008/layout/LinedList"/>
    <dgm:cxn modelId="{253E2388-E09E-4ED5-A428-63F697EB4CED}" type="presParOf" srcId="{353FDB31-7FA8-47F8-BC98-7C0912040877}" destId="{48C87BD7-188F-4797-895B-13A5399E9EB2}" srcOrd="0" destOrd="0" presId="urn:microsoft.com/office/officeart/2008/layout/LinedList"/>
    <dgm:cxn modelId="{27E377CD-D366-468A-800A-C2600188ECDB}" type="presParOf" srcId="{353FDB31-7FA8-47F8-BC98-7C0912040877}" destId="{9B1D002D-6A7B-4950-9D4B-3702299AC648}" srcOrd="1" destOrd="0" presId="urn:microsoft.com/office/officeart/2008/layout/LinedList"/>
    <dgm:cxn modelId="{3064DF6D-E45D-4CAB-8946-AC0705E7AC56}" type="presParOf" srcId="{4DABB75B-7097-46F9-AD29-0FB36F6BF6FE}" destId="{B2C4C3C1-96E2-456D-B88F-1778E4F7FB5E}" srcOrd="8" destOrd="0" presId="urn:microsoft.com/office/officeart/2008/layout/LinedList"/>
    <dgm:cxn modelId="{D8B8752F-A5A7-47D6-AB9D-E6689A0D6D2C}" type="presParOf" srcId="{4DABB75B-7097-46F9-AD29-0FB36F6BF6FE}" destId="{88D9328B-3D59-4777-9D05-865F9FCD1212}" srcOrd="9" destOrd="0" presId="urn:microsoft.com/office/officeart/2008/layout/LinedList"/>
    <dgm:cxn modelId="{1E35A25D-47A3-4E9C-98F9-9DBA20DA5C4E}" type="presParOf" srcId="{88D9328B-3D59-4777-9D05-865F9FCD1212}" destId="{8865BDAF-7403-4114-A015-2A3DD0163414}" srcOrd="0" destOrd="0" presId="urn:microsoft.com/office/officeart/2008/layout/LinedList"/>
    <dgm:cxn modelId="{6A399A90-6822-4B22-A7D3-95BC98907E86}" type="presParOf" srcId="{88D9328B-3D59-4777-9D05-865F9FCD1212}" destId="{498C8373-55C3-4AFE-9B64-993C2753E131}"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41F3A04-AC97-4512-87DF-9188E96DE996}" type="doc">
      <dgm:prSet loTypeId="urn:microsoft.com/office/officeart/2018/layout/CircleProcess" loCatId="simpleprocesssa" qsTypeId="urn:microsoft.com/office/officeart/2005/8/quickstyle/simple1" qsCatId="simple" csTypeId="urn:microsoft.com/office/officeart/2005/8/colors/colorful1" csCatId="colorful"/>
      <dgm:spPr/>
      <dgm:t>
        <a:bodyPr/>
        <a:lstStyle/>
        <a:p>
          <a:endParaRPr lang="en-US"/>
        </a:p>
      </dgm:t>
    </dgm:pt>
    <dgm:pt modelId="{9F8DBDBD-DF78-432D-AA17-B48A0784D4ED}">
      <dgm:prSet/>
      <dgm:spPr/>
      <dgm:t>
        <a:bodyPr/>
        <a:lstStyle/>
        <a:p>
          <a:r>
            <a:rPr lang="en-GB"/>
            <a:t>Missing values: </a:t>
          </a:r>
          <a:endParaRPr lang="en-US"/>
        </a:p>
      </dgm:t>
    </dgm:pt>
    <dgm:pt modelId="{AC778129-A862-4A28-BB17-E0E8E42A3F81}" type="parTrans" cxnId="{F1103EC9-5F67-4C7B-BC48-FEC534DFEB3F}">
      <dgm:prSet/>
      <dgm:spPr/>
      <dgm:t>
        <a:bodyPr/>
        <a:lstStyle/>
        <a:p>
          <a:endParaRPr lang="en-US"/>
        </a:p>
      </dgm:t>
    </dgm:pt>
    <dgm:pt modelId="{E4FFC568-A948-423C-A49A-ACACA0C84B86}" type="sibTrans" cxnId="{F1103EC9-5F67-4C7B-BC48-FEC534DFEB3F}">
      <dgm:prSet/>
      <dgm:spPr/>
      <dgm:t>
        <a:bodyPr/>
        <a:lstStyle/>
        <a:p>
          <a:endParaRPr lang="en-US"/>
        </a:p>
      </dgm:t>
    </dgm:pt>
    <dgm:pt modelId="{D0F3B45E-12A6-4221-A0D6-7C971B1D88BD}">
      <dgm:prSet/>
      <dgm:spPr/>
      <dgm:t>
        <a:bodyPr/>
        <a:lstStyle/>
        <a:p>
          <a:r>
            <a:rPr lang="en-GB"/>
            <a:t>Mode imputation for seatbelt variable; 'Unknown' for seat position &amp; vehicle type</a:t>
          </a:r>
          <a:endParaRPr lang="en-US"/>
        </a:p>
      </dgm:t>
    </dgm:pt>
    <dgm:pt modelId="{2DB5D434-D465-4650-B6E2-57C1A250C7F7}" type="parTrans" cxnId="{0F2D6536-F43F-44BB-AFBF-29C80210B335}">
      <dgm:prSet/>
      <dgm:spPr/>
      <dgm:t>
        <a:bodyPr/>
        <a:lstStyle/>
        <a:p>
          <a:endParaRPr lang="en-US"/>
        </a:p>
      </dgm:t>
    </dgm:pt>
    <dgm:pt modelId="{9663FA82-CB64-4926-83D7-3B88447410E1}" type="sibTrans" cxnId="{0F2D6536-F43F-44BB-AFBF-29C80210B335}">
      <dgm:prSet/>
      <dgm:spPr/>
      <dgm:t>
        <a:bodyPr/>
        <a:lstStyle/>
        <a:p>
          <a:endParaRPr lang="en-US"/>
        </a:p>
      </dgm:t>
    </dgm:pt>
    <dgm:pt modelId="{990B4A92-E301-42EB-A6D2-1CFD2260E530}">
      <dgm:prSet/>
      <dgm:spPr/>
      <dgm:t>
        <a:bodyPr/>
        <a:lstStyle/>
        <a:p>
          <a:r>
            <a:rPr lang="en-GB"/>
            <a:t>categorised seatbelt, seating, and vehicle variables and Injury severity </a:t>
          </a:r>
          <a:endParaRPr lang="en-US"/>
        </a:p>
      </dgm:t>
    </dgm:pt>
    <dgm:pt modelId="{F4656129-80F3-41C5-8D0E-A93378AD5AE3}" type="parTrans" cxnId="{DCDE389B-5743-4C4A-816D-7D854BE6ED9C}">
      <dgm:prSet/>
      <dgm:spPr/>
      <dgm:t>
        <a:bodyPr/>
        <a:lstStyle/>
        <a:p>
          <a:endParaRPr lang="en-US"/>
        </a:p>
      </dgm:t>
    </dgm:pt>
    <dgm:pt modelId="{A9CB3574-6F46-4549-B119-D3A02D394A73}" type="sibTrans" cxnId="{DCDE389B-5743-4C4A-816D-7D854BE6ED9C}">
      <dgm:prSet/>
      <dgm:spPr/>
      <dgm:t>
        <a:bodyPr/>
        <a:lstStyle/>
        <a:p>
          <a:endParaRPr lang="en-US"/>
        </a:p>
      </dgm:t>
    </dgm:pt>
    <dgm:pt modelId="{AE7C2BE1-034F-49F2-B253-A511974C1759}">
      <dgm:prSet/>
      <dgm:spPr/>
      <dgm:t>
        <a:bodyPr/>
        <a:lstStyle/>
        <a:p>
          <a:r>
            <a:rPr lang="en-GB"/>
            <a:t>One-Hot Encoding for categorical variables</a:t>
          </a:r>
          <a:endParaRPr lang="en-US"/>
        </a:p>
      </dgm:t>
    </dgm:pt>
    <dgm:pt modelId="{EEA7BC93-0F5B-44C6-B3F9-D46508473C32}" type="parTrans" cxnId="{B2A49631-730C-4E2A-AE8F-8C36ED6E3F47}">
      <dgm:prSet/>
      <dgm:spPr/>
      <dgm:t>
        <a:bodyPr/>
        <a:lstStyle/>
        <a:p>
          <a:endParaRPr lang="en-US"/>
        </a:p>
      </dgm:t>
    </dgm:pt>
    <dgm:pt modelId="{3A8E35D0-5142-4094-ADC5-46B04F6D28D5}" type="sibTrans" cxnId="{B2A49631-730C-4E2A-AE8F-8C36ED6E3F47}">
      <dgm:prSet/>
      <dgm:spPr/>
      <dgm:t>
        <a:bodyPr/>
        <a:lstStyle/>
        <a:p>
          <a:endParaRPr lang="en-US"/>
        </a:p>
      </dgm:t>
    </dgm:pt>
    <dgm:pt modelId="{0033D139-948E-42D7-B696-6AC116F26C4E}">
      <dgm:prSet/>
      <dgm:spPr/>
      <dgm:t>
        <a:bodyPr/>
        <a:lstStyle/>
        <a:p>
          <a:r>
            <a:rPr lang="en-GB"/>
            <a:t>Applied StandardScaler for feature normalisation</a:t>
          </a:r>
          <a:endParaRPr lang="en-US"/>
        </a:p>
      </dgm:t>
    </dgm:pt>
    <dgm:pt modelId="{0E8DBB9A-B5E6-4100-BE17-AC148994E298}" type="parTrans" cxnId="{9E4DC55A-28F1-454E-9E7C-27591BD3D7A5}">
      <dgm:prSet/>
      <dgm:spPr/>
      <dgm:t>
        <a:bodyPr/>
        <a:lstStyle/>
        <a:p>
          <a:endParaRPr lang="en-US"/>
        </a:p>
      </dgm:t>
    </dgm:pt>
    <dgm:pt modelId="{6F020DCE-6AE2-4483-9233-8971DB26AE00}" type="sibTrans" cxnId="{9E4DC55A-28F1-454E-9E7C-27591BD3D7A5}">
      <dgm:prSet/>
      <dgm:spPr/>
      <dgm:t>
        <a:bodyPr/>
        <a:lstStyle/>
        <a:p>
          <a:endParaRPr lang="en-US"/>
        </a:p>
      </dgm:t>
    </dgm:pt>
    <dgm:pt modelId="{F6C1ADD2-1579-42C6-9F22-BC60414FF34F}" type="pres">
      <dgm:prSet presAssocID="{641F3A04-AC97-4512-87DF-9188E96DE996}" presName="Name0" presStyleCnt="0">
        <dgm:presLayoutVars>
          <dgm:chMax val="11"/>
          <dgm:chPref val="11"/>
          <dgm:dir/>
          <dgm:resizeHandles/>
        </dgm:presLayoutVars>
      </dgm:prSet>
      <dgm:spPr/>
    </dgm:pt>
    <dgm:pt modelId="{3F71F610-E34B-47DE-B8B3-5837B575BD65}" type="pres">
      <dgm:prSet presAssocID="{0033D139-948E-42D7-B696-6AC116F26C4E}" presName="Accent5" presStyleCnt="0"/>
      <dgm:spPr/>
    </dgm:pt>
    <dgm:pt modelId="{1998091D-A140-420C-8E3A-CEBD6A4A741D}" type="pres">
      <dgm:prSet presAssocID="{0033D139-948E-42D7-B696-6AC116F26C4E}" presName="Accent" presStyleLbl="node1" presStyleIdx="0" presStyleCnt="10"/>
      <dgm:spPr/>
    </dgm:pt>
    <dgm:pt modelId="{F0AFAB92-64CF-458E-A5AE-A8CCE6F5AC36}" type="pres">
      <dgm:prSet presAssocID="{0033D139-948E-42D7-B696-6AC116F26C4E}" presName="ParentBackground5" presStyleCnt="0"/>
      <dgm:spPr/>
    </dgm:pt>
    <dgm:pt modelId="{430C6E05-0BBD-4DC9-AF76-AB87C448496F}" type="pres">
      <dgm:prSet presAssocID="{0033D139-948E-42D7-B696-6AC116F26C4E}" presName="ParentBackground" presStyleLbl="node1" presStyleIdx="1" presStyleCnt="10"/>
      <dgm:spPr/>
    </dgm:pt>
    <dgm:pt modelId="{4980B763-246A-42B0-9222-D3F6B6A5F414}" type="pres">
      <dgm:prSet presAssocID="{0033D139-948E-42D7-B696-6AC116F26C4E}" presName="Parent5" presStyleLbl="fgAcc0" presStyleIdx="0" presStyleCnt="0">
        <dgm:presLayoutVars>
          <dgm:chMax val="1"/>
          <dgm:chPref val="1"/>
          <dgm:bulletEnabled val="1"/>
        </dgm:presLayoutVars>
      </dgm:prSet>
      <dgm:spPr/>
    </dgm:pt>
    <dgm:pt modelId="{C42F49D4-2C2B-4004-89C0-0B5D53905FEF}" type="pres">
      <dgm:prSet presAssocID="{AE7C2BE1-034F-49F2-B253-A511974C1759}" presName="Accent4" presStyleCnt="0"/>
      <dgm:spPr/>
    </dgm:pt>
    <dgm:pt modelId="{F2CFFFAB-E1A0-4647-8C5F-E762234300F5}" type="pres">
      <dgm:prSet presAssocID="{AE7C2BE1-034F-49F2-B253-A511974C1759}" presName="Accent" presStyleLbl="node1" presStyleIdx="2" presStyleCnt="10"/>
      <dgm:spPr/>
    </dgm:pt>
    <dgm:pt modelId="{6E2FAD01-873D-4A59-B125-26E51ABE5DBB}" type="pres">
      <dgm:prSet presAssocID="{AE7C2BE1-034F-49F2-B253-A511974C1759}" presName="ParentBackground4" presStyleCnt="0"/>
      <dgm:spPr/>
    </dgm:pt>
    <dgm:pt modelId="{741132FD-1339-4C8D-BC65-13C6F326BD1D}" type="pres">
      <dgm:prSet presAssocID="{AE7C2BE1-034F-49F2-B253-A511974C1759}" presName="ParentBackground" presStyleLbl="node1" presStyleIdx="3" presStyleCnt="10"/>
      <dgm:spPr/>
    </dgm:pt>
    <dgm:pt modelId="{4308CF89-ABED-4BB6-A26C-B97EA292FAC8}" type="pres">
      <dgm:prSet presAssocID="{AE7C2BE1-034F-49F2-B253-A511974C1759}" presName="Parent4" presStyleLbl="fgAcc0" presStyleIdx="0" presStyleCnt="0">
        <dgm:presLayoutVars>
          <dgm:chMax val="1"/>
          <dgm:chPref val="1"/>
          <dgm:bulletEnabled val="1"/>
        </dgm:presLayoutVars>
      </dgm:prSet>
      <dgm:spPr/>
    </dgm:pt>
    <dgm:pt modelId="{90207265-ABC2-4F83-85C8-81B8FECF9C05}" type="pres">
      <dgm:prSet presAssocID="{990B4A92-E301-42EB-A6D2-1CFD2260E530}" presName="Accent3" presStyleCnt="0"/>
      <dgm:spPr/>
    </dgm:pt>
    <dgm:pt modelId="{28D19E53-7BFD-409A-8F0A-61F74BF5D06F}" type="pres">
      <dgm:prSet presAssocID="{990B4A92-E301-42EB-A6D2-1CFD2260E530}" presName="Accent" presStyleLbl="node1" presStyleIdx="4" presStyleCnt="10"/>
      <dgm:spPr/>
    </dgm:pt>
    <dgm:pt modelId="{C2A16123-C966-4A5E-A84A-75C389A955BB}" type="pres">
      <dgm:prSet presAssocID="{990B4A92-E301-42EB-A6D2-1CFD2260E530}" presName="ParentBackground3" presStyleCnt="0"/>
      <dgm:spPr/>
    </dgm:pt>
    <dgm:pt modelId="{7DED189E-D4EA-43A8-B710-D88372E25A31}" type="pres">
      <dgm:prSet presAssocID="{990B4A92-E301-42EB-A6D2-1CFD2260E530}" presName="ParentBackground" presStyleLbl="node1" presStyleIdx="5" presStyleCnt="10"/>
      <dgm:spPr/>
    </dgm:pt>
    <dgm:pt modelId="{90E0E513-CC95-4737-9FE9-43FF7B1C4600}" type="pres">
      <dgm:prSet presAssocID="{990B4A92-E301-42EB-A6D2-1CFD2260E530}" presName="Parent3" presStyleLbl="fgAcc0" presStyleIdx="0" presStyleCnt="0">
        <dgm:presLayoutVars>
          <dgm:chMax val="1"/>
          <dgm:chPref val="1"/>
          <dgm:bulletEnabled val="1"/>
        </dgm:presLayoutVars>
      </dgm:prSet>
      <dgm:spPr/>
    </dgm:pt>
    <dgm:pt modelId="{167097CE-AFFB-40E5-89DF-1F64BF0268BC}" type="pres">
      <dgm:prSet presAssocID="{D0F3B45E-12A6-4221-A0D6-7C971B1D88BD}" presName="Accent2" presStyleCnt="0"/>
      <dgm:spPr/>
    </dgm:pt>
    <dgm:pt modelId="{AD62B51F-4C5A-4A4C-AB60-62508D4D7413}" type="pres">
      <dgm:prSet presAssocID="{D0F3B45E-12A6-4221-A0D6-7C971B1D88BD}" presName="Accent" presStyleLbl="node1" presStyleIdx="6" presStyleCnt="10"/>
      <dgm:spPr/>
    </dgm:pt>
    <dgm:pt modelId="{78773431-630B-4B46-8719-9101A5F19FC9}" type="pres">
      <dgm:prSet presAssocID="{D0F3B45E-12A6-4221-A0D6-7C971B1D88BD}" presName="ParentBackground2" presStyleCnt="0"/>
      <dgm:spPr/>
    </dgm:pt>
    <dgm:pt modelId="{CF79C133-A75E-442D-890B-94971A6A5CC6}" type="pres">
      <dgm:prSet presAssocID="{D0F3B45E-12A6-4221-A0D6-7C971B1D88BD}" presName="ParentBackground" presStyleLbl="node1" presStyleIdx="7" presStyleCnt="10"/>
      <dgm:spPr/>
    </dgm:pt>
    <dgm:pt modelId="{2B812726-51D3-473F-8552-CCEBB6A61075}" type="pres">
      <dgm:prSet presAssocID="{D0F3B45E-12A6-4221-A0D6-7C971B1D88BD}" presName="Parent2" presStyleLbl="fgAcc0" presStyleIdx="0" presStyleCnt="0">
        <dgm:presLayoutVars>
          <dgm:chMax val="1"/>
          <dgm:chPref val="1"/>
          <dgm:bulletEnabled val="1"/>
        </dgm:presLayoutVars>
      </dgm:prSet>
      <dgm:spPr/>
    </dgm:pt>
    <dgm:pt modelId="{16148A1E-71D7-4C78-9A35-1D8E64DF9C2A}" type="pres">
      <dgm:prSet presAssocID="{9F8DBDBD-DF78-432D-AA17-B48A0784D4ED}" presName="Accent1" presStyleCnt="0"/>
      <dgm:spPr/>
    </dgm:pt>
    <dgm:pt modelId="{CD81F1BE-96F4-40D7-8E11-854CC7F695EB}" type="pres">
      <dgm:prSet presAssocID="{9F8DBDBD-DF78-432D-AA17-B48A0784D4ED}" presName="Accent" presStyleLbl="node1" presStyleIdx="8" presStyleCnt="10"/>
      <dgm:spPr/>
    </dgm:pt>
    <dgm:pt modelId="{AD3D1B8E-22A2-45C8-9778-508938A53193}" type="pres">
      <dgm:prSet presAssocID="{9F8DBDBD-DF78-432D-AA17-B48A0784D4ED}" presName="ParentBackground1" presStyleCnt="0"/>
      <dgm:spPr/>
    </dgm:pt>
    <dgm:pt modelId="{B7D40AA1-30B0-4983-AB78-1E3109205CFE}" type="pres">
      <dgm:prSet presAssocID="{9F8DBDBD-DF78-432D-AA17-B48A0784D4ED}" presName="ParentBackground" presStyleLbl="node1" presStyleIdx="9" presStyleCnt="10"/>
      <dgm:spPr/>
    </dgm:pt>
    <dgm:pt modelId="{C83B7C61-CD45-47B8-9988-BEF0E6819C23}" type="pres">
      <dgm:prSet presAssocID="{9F8DBDBD-DF78-432D-AA17-B48A0784D4ED}" presName="Parent1" presStyleLbl="fgAcc0" presStyleIdx="0" presStyleCnt="0">
        <dgm:presLayoutVars>
          <dgm:chMax val="1"/>
          <dgm:chPref val="1"/>
          <dgm:bulletEnabled val="1"/>
        </dgm:presLayoutVars>
      </dgm:prSet>
      <dgm:spPr/>
    </dgm:pt>
  </dgm:ptLst>
  <dgm:cxnLst>
    <dgm:cxn modelId="{8FAF3D03-9D66-4206-851E-94C3ACCCCD7D}" type="presOf" srcId="{641F3A04-AC97-4512-87DF-9188E96DE996}" destId="{F6C1ADD2-1579-42C6-9F22-BC60414FF34F}" srcOrd="0" destOrd="0" presId="urn:microsoft.com/office/officeart/2018/layout/CircleProcess"/>
    <dgm:cxn modelId="{0FF76C1B-6127-498B-A7CC-9ECE5034D583}" type="presOf" srcId="{AE7C2BE1-034F-49F2-B253-A511974C1759}" destId="{741132FD-1339-4C8D-BC65-13C6F326BD1D}" srcOrd="0" destOrd="0" presId="urn:microsoft.com/office/officeart/2018/layout/CircleProcess"/>
    <dgm:cxn modelId="{FB3AD31D-52BC-4B5A-A9A8-EBB135F3BA20}" type="presOf" srcId="{9F8DBDBD-DF78-432D-AA17-B48A0784D4ED}" destId="{C83B7C61-CD45-47B8-9988-BEF0E6819C23}" srcOrd="1" destOrd="0" presId="urn:microsoft.com/office/officeart/2018/layout/CircleProcess"/>
    <dgm:cxn modelId="{D441FD29-6471-4006-9A12-8B851C60E73D}" type="presOf" srcId="{AE7C2BE1-034F-49F2-B253-A511974C1759}" destId="{4308CF89-ABED-4BB6-A26C-B97EA292FAC8}" srcOrd="1" destOrd="0" presId="urn:microsoft.com/office/officeart/2018/layout/CircleProcess"/>
    <dgm:cxn modelId="{B2A49631-730C-4E2A-AE8F-8C36ED6E3F47}" srcId="{641F3A04-AC97-4512-87DF-9188E96DE996}" destId="{AE7C2BE1-034F-49F2-B253-A511974C1759}" srcOrd="3" destOrd="0" parTransId="{EEA7BC93-0F5B-44C6-B3F9-D46508473C32}" sibTransId="{3A8E35D0-5142-4094-ADC5-46B04F6D28D5}"/>
    <dgm:cxn modelId="{0F2D6536-F43F-44BB-AFBF-29C80210B335}" srcId="{641F3A04-AC97-4512-87DF-9188E96DE996}" destId="{D0F3B45E-12A6-4221-A0D6-7C971B1D88BD}" srcOrd="1" destOrd="0" parTransId="{2DB5D434-D465-4650-B6E2-57C1A250C7F7}" sibTransId="{9663FA82-CB64-4926-83D7-3B88447410E1}"/>
    <dgm:cxn modelId="{6C11393E-13BD-4D5E-A456-FDB5075DFBD5}" type="presOf" srcId="{990B4A92-E301-42EB-A6D2-1CFD2260E530}" destId="{7DED189E-D4EA-43A8-B710-D88372E25A31}" srcOrd="0" destOrd="0" presId="urn:microsoft.com/office/officeart/2018/layout/CircleProcess"/>
    <dgm:cxn modelId="{15174742-157B-483B-B1B6-80E5B3A5B0D9}" type="presOf" srcId="{9F8DBDBD-DF78-432D-AA17-B48A0784D4ED}" destId="{B7D40AA1-30B0-4983-AB78-1E3109205CFE}" srcOrd="0" destOrd="0" presId="urn:microsoft.com/office/officeart/2018/layout/CircleProcess"/>
    <dgm:cxn modelId="{EEDAA44F-3C6C-45B1-8E42-52718C246228}" type="presOf" srcId="{D0F3B45E-12A6-4221-A0D6-7C971B1D88BD}" destId="{2B812726-51D3-473F-8552-CCEBB6A61075}" srcOrd="1" destOrd="0" presId="urn:microsoft.com/office/officeart/2018/layout/CircleProcess"/>
    <dgm:cxn modelId="{9E4DC55A-28F1-454E-9E7C-27591BD3D7A5}" srcId="{641F3A04-AC97-4512-87DF-9188E96DE996}" destId="{0033D139-948E-42D7-B696-6AC116F26C4E}" srcOrd="4" destOrd="0" parTransId="{0E8DBB9A-B5E6-4100-BE17-AC148994E298}" sibTransId="{6F020DCE-6AE2-4483-9233-8971DB26AE00}"/>
    <dgm:cxn modelId="{9198288E-5520-47C8-94FD-3F433019D946}" type="presOf" srcId="{0033D139-948E-42D7-B696-6AC116F26C4E}" destId="{430C6E05-0BBD-4DC9-AF76-AB87C448496F}" srcOrd="0" destOrd="0" presId="urn:microsoft.com/office/officeart/2018/layout/CircleProcess"/>
    <dgm:cxn modelId="{DCDE389B-5743-4C4A-816D-7D854BE6ED9C}" srcId="{641F3A04-AC97-4512-87DF-9188E96DE996}" destId="{990B4A92-E301-42EB-A6D2-1CFD2260E530}" srcOrd="2" destOrd="0" parTransId="{F4656129-80F3-41C5-8D0E-A93378AD5AE3}" sibTransId="{A9CB3574-6F46-4549-B119-D3A02D394A73}"/>
    <dgm:cxn modelId="{CA03B79D-4B30-4951-9974-FB28BDD297BE}" type="presOf" srcId="{990B4A92-E301-42EB-A6D2-1CFD2260E530}" destId="{90E0E513-CC95-4737-9FE9-43FF7B1C4600}" srcOrd="1" destOrd="0" presId="urn:microsoft.com/office/officeart/2018/layout/CircleProcess"/>
    <dgm:cxn modelId="{339FD9AC-532D-4927-91A8-C965B8E40FBA}" type="presOf" srcId="{0033D139-948E-42D7-B696-6AC116F26C4E}" destId="{4980B763-246A-42B0-9222-D3F6B6A5F414}" srcOrd="1" destOrd="0" presId="urn:microsoft.com/office/officeart/2018/layout/CircleProcess"/>
    <dgm:cxn modelId="{F1103EC9-5F67-4C7B-BC48-FEC534DFEB3F}" srcId="{641F3A04-AC97-4512-87DF-9188E96DE996}" destId="{9F8DBDBD-DF78-432D-AA17-B48A0784D4ED}" srcOrd="0" destOrd="0" parTransId="{AC778129-A862-4A28-BB17-E0E8E42A3F81}" sibTransId="{E4FFC568-A948-423C-A49A-ACACA0C84B86}"/>
    <dgm:cxn modelId="{72A51CCA-1C3A-492B-9FE0-9BD93AE56ADE}" type="presOf" srcId="{D0F3B45E-12A6-4221-A0D6-7C971B1D88BD}" destId="{CF79C133-A75E-442D-890B-94971A6A5CC6}" srcOrd="0" destOrd="0" presId="urn:microsoft.com/office/officeart/2018/layout/CircleProcess"/>
    <dgm:cxn modelId="{6363B0C0-EBD4-4A59-A051-7AFF9FD936B7}" type="presParOf" srcId="{F6C1ADD2-1579-42C6-9F22-BC60414FF34F}" destId="{3F71F610-E34B-47DE-B8B3-5837B575BD65}" srcOrd="0" destOrd="0" presId="urn:microsoft.com/office/officeart/2018/layout/CircleProcess"/>
    <dgm:cxn modelId="{05D86FB3-62C9-44FC-8736-CDF8D4A4D332}" type="presParOf" srcId="{3F71F610-E34B-47DE-B8B3-5837B575BD65}" destId="{1998091D-A140-420C-8E3A-CEBD6A4A741D}" srcOrd="0" destOrd="0" presId="urn:microsoft.com/office/officeart/2018/layout/CircleProcess"/>
    <dgm:cxn modelId="{5092BFAB-1F12-4392-B4CB-DB22AA12B797}" type="presParOf" srcId="{F6C1ADD2-1579-42C6-9F22-BC60414FF34F}" destId="{F0AFAB92-64CF-458E-A5AE-A8CCE6F5AC36}" srcOrd="1" destOrd="0" presId="urn:microsoft.com/office/officeart/2018/layout/CircleProcess"/>
    <dgm:cxn modelId="{3FFF0AE9-F1B5-4243-92B5-CC13F4B2C544}" type="presParOf" srcId="{F0AFAB92-64CF-458E-A5AE-A8CCE6F5AC36}" destId="{430C6E05-0BBD-4DC9-AF76-AB87C448496F}" srcOrd="0" destOrd="0" presId="urn:microsoft.com/office/officeart/2018/layout/CircleProcess"/>
    <dgm:cxn modelId="{0D37FD02-D8AB-426D-A977-0854C478AD2C}" type="presParOf" srcId="{F6C1ADD2-1579-42C6-9F22-BC60414FF34F}" destId="{4980B763-246A-42B0-9222-D3F6B6A5F414}" srcOrd="2" destOrd="0" presId="urn:microsoft.com/office/officeart/2018/layout/CircleProcess"/>
    <dgm:cxn modelId="{26D20C38-167A-47B2-A4D6-51ECD30B62F2}" type="presParOf" srcId="{F6C1ADD2-1579-42C6-9F22-BC60414FF34F}" destId="{C42F49D4-2C2B-4004-89C0-0B5D53905FEF}" srcOrd="3" destOrd="0" presId="urn:microsoft.com/office/officeart/2018/layout/CircleProcess"/>
    <dgm:cxn modelId="{8765C6DB-0CB3-4710-B7F3-A8FD0AB5ECE8}" type="presParOf" srcId="{C42F49D4-2C2B-4004-89C0-0B5D53905FEF}" destId="{F2CFFFAB-E1A0-4647-8C5F-E762234300F5}" srcOrd="0" destOrd="0" presId="urn:microsoft.com/office/officeart/2018/layout/CircleProcess"/>
    <dgm:cxn modelId="{851BE312-8D17-4C73-B9D9-0C059B291622}" type="presParOf" srcId="{F6C1ADD2-1579-42C6-9F22-BC60414FF34F}" destId="{6E2FAD01-873D-4A59-B125-26E51ABE5DBB}" srcOrd="4" destOrd="0" presId="urn:microsoft.com/office/officeart/2018/layout/CircleProcess"/>
    <dgm:cxn modelId="{EAF9415D-17F8-451A-9A1A-E1FA551DC9B3}" type="presParOf" srcId="{6E2FAD01-873D-4A59-B125-26E51ABE5DBB}" destId="{741132FD-1339-4C8D-BC65-13C6F326BD1D}" srcOrd="0" destOrd="0" presId="urn:microsoft.com/office/officeart/2018/layout/CircleProcess"/>
    <dgm:cxn modelId="{443F548A-2EBD-4407-9584-5A32ADEF4600}" type="presParOf" srcId="{F6C1ADD2-1579-42C6-9F22-BC60414FF34F}" destId="{4308CF89-ABED-4BB6-A26C-B97EA292FAC8}" srcOrd="5" destOrd="0" presId="urn:microsoft.com/office/officeart/2018/layout/CircleProcess"/>
    <dgm:cxn modelId="{3613FFEB-8E6E-4BE8-A10D-1AA583FC3384}" type="presParOf" srcId="{F6C1ADD2-1579-42C6-9F22-BC60414FF34F}" destId="{90207265-ABC2-4F83-85C8-81B8FECF9C05}" srcOrd="6" destOrd="0" presId="urn:microsoft.com/office/officeart/2018/layout/CircleProcess"/>
    <dgm:cxn modelId="{52DE0142-A44F-4770-9270-FC7780715C87}" type="presParOf" srcId="{90207265-ABC2-4F83-85C8-81B8FECF9C05}" destId="{28D19E53-7BFD-409A-8F0A-61F74BF5D06F}" srcOrd="0" destOrd="0" presId="urn:microsoft.com/office/officeart/2018/layout/CircleProcess"/>
    <dgm:cxn modelId="{66BE2EAE-1CB9-40B7-9700-0A695359CD19}" type="presParOf" srcId="{F6C1ADD2-1579-42C6-9F22-BC60414FF34F}" destId="{C2A16123-C966-4A5E-A84A-75C389A955BB}" srcOrd="7" destOrd="0" presId="urn:microsoft.com/office/officeart/2018/layout/CircleProcess"/>
    <dgm:cxn modelId="{2DF358B7-215E-4ECF-8A1E-96989C781E04}" type="presParOf" srcId="{C2A16123-C966-4A5E-A84A-75C389A955BB}" destId="{7DED189E-D4EA-43A8-B710-D88372E25A31}" srcOrd="0" destOrd="0" presId="urn:microsoft.com/office/officeart/2018/layout/CircleProcess"/>
    <dgm:cxn modelId="{6ECE4244-4565-4AC8-9928-90F7A6B7D3C5}" type="presParOf" srcId="{F6C1ADD2-1579-42C6-9F22-BC60414FF34F}" destId="{90E0E513-CC95-4737-9FE9-43FF7B1C4600}" srcOrd="8" destOrd="0" presId="urn:microsoft.com/office/officeart/2018/layout/CircleProcess"/>
    <dgm:cxn modelId="{80720F33-D7D8-4C90-8A7F-8A6EF31108D4}" type="presParOf" srcId="{F6C1ADD2-1579-42C6-9F22-BC60414FF34F}" destId="{167097CE-AFFB-40E5-89DF-1F64BF0268BC}" srcOrd="9" destOrd="0" presId="urn:microsoft.com/office/officeart/2018/layout/CircleProcess"/>
    <dgm:cxn modelId="{C9BB5234-D3CE-4672-B729-48855FD0F569}" type="presParOf" srcId="{167097CE-AFFB-40E5-89DF-1F64BF0268BC}" destId="{AD62B51F-4C5A-4A4C-AB60-62508D4D7413}" srcOrd="0" destOrd="0" presId="urn:microsoft.com/office/officeart/2018/layout/CircleProcess"/>
    <dgm:cxn modelId="{77288EA3-88A0-4798-AC40-7D5441B72CFB}" type="presParOf" srcId="{F6C1ADD2-1579-42C6-9F22-BC60414FF34F}" destId="{78773431-630B-4B46-8719-9101A5F19FC9}" srcOrd="10" destOrd="0" presId="urn:microsoft.com/office/officeart/2018/layout/CircleProcess"/>
    <dgm:cxn modelId="{641C2A09-964F-4A17-8B4F-A87E3D768F74}" type="presParOf" srcId="{78773431-630B-4B46-8719-9101A5F19FC9}" destId="{CF79C133-A75E-442D-890B-94971A6A5CC6}" srcOrd="0" destOrd="0" presId="urn:microsoft.com/office/officeart/2018/layout/CircleProcess"/>
    <dgm:cxn modelId="{2386614C-73CE-49A8-876F-435977DD4490}" type="presParOf" srcId="{F6C1ADD2-1579-42C6-9F22-BC60414FF34F}" destId="{2B812726-51D3-473F-8552-CCEBB6A61075}" srcOrd="11" destOrd="0" presId="urn:microsoft.com/office/officeart/2018/layout/CircleProcess"/>
    <dgm:cxn modelId="{855A4A04-EE76-400A-98B0-362A625A4760}" type="presParOf" srcId="{F6C1ADD2-1579-42C6-9F22-BC60414FF34F}" destId="{16148A1E-71D7-4C78-9A35-1D8E64DF9C2A}" srcOrd="12" destOrd="0" presId="urn:microsoft.com/office/officeart/2018/layout/CircleProcess"/>
    <dgm:cxn modelId="{849FA496-A4B7-44B8-B24D-BB264C91C8B9}" type="presParOf" srcId="{16148A1E-71D7-4C78-9A35-1D8E64DF9C2A}" destId="{CD81F1BE-96F4-40D7-8E11-854CC7F695EB}" srcOrd="0" destOrd="0" presId="urn:microsoft.com/office/officeart/2018/layout/CircleProcess"/>
    <dgm:cxn modelId="{987DD5DF-22B8-4CC2-8547-C16F7A2A7643}" type="presParOf" srcId="{F6C1ADD2-1579-42C6-9F22-BC60414FF34F}" destId="{AD3D1B8E-22A2-45C8-9778-508938A53193}" srcOrd="13" destOrd="0" presId="urn:microsoft.com/office/officeart/2018/layout/CircleProcess"/>
    <dgm:cxn modelId="{C40F3170-D23A-4F08-AE57-D26DB28A9CFF}" type="presParOf" srcId="{AD3D1B8E-22A2-45C8-9778-508938A53193}" destId="{B7D40AA1-30B0-4983-AB78-1E3109205CFE}" srcOrd="0" destOrd="0" presId="urn:microsoft.com/office/officeart/2018/layout/CircleProcess"/>
    <dgm:cxn modelId="{ADFE6317-14DD-407A-8E6B-6BC1DA29CA80}" type="presParOf" srcId="{F6C1ADD2-1579-42C6-9F22-BC60414FF34F}" destId="{C83B7C61-CD45-47B8-9988-BEF0E6819C23}" srcOrd="14" destOrd="0" presId="urn:microsoft.com/office/officeart/2018/layout/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3D27B5-AFED-4FEF-9E96-DCBE8FAF1CD7}">
      <dsp:nvSpPr>
        <dsp:cNvPr id="0" name=""/>
        <dsp:cNvSpPr/>
      </dsp:nvSpPr>
      <dsp:spPr>
        <a:xfrm>
          <a:off x="0" y="510"/>
          <a:ext cx="4879728" cy="0"/>
        </a:xfrm>
        <a:prstGeom prst="line">
          <a:avLst/>
        </a:prstGeom>
        <a:solidFill>
          <a:schemeClr val="accent5">
            <a:hueOff val="0"/>
            <a:satOff val="0"/>
            <a:lumOff val="0"/>
            <a:alphaOff val="0"/>
          </a:schemeClr>
        </a:solidFill>
        <a:ln w="34925" cap="flat" cmpd="sng" algn="in">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42A0633-479B-4E2F-9A01-CA0B935B7958}">
      <dsp:nvSpPr>
        <dsp:cNvPr id="0" name=""/>
        <dsp:cNvSpPr/>
      </dsp:nvSpPr>
      <dsp:spPr>
        <a:xfrm>
          <a:off x="0" y="510"/>
          <a:ext cx="4879728" cy="8364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GB" sz="2700" kern="1200" baseline="0"/>
            <a:t>Data collection &amp; Merging</a:t>
          </a:r>
          <a:endParaRPr lang="en-US" sz="2700" kern="1200"/>
        </a:p>
      </dsp:txBody>
      <dsp:txXfrm>
        <a:off x="0" y="510"/>
        <a:ext cx="4879728" cy="836471"/>
      </dsp:txXfrm>
    </dsp:sp>
    <dsp:sp modelId="{E73C26D5-D71F-42B8-9E59-5A80FC44D50C}">
      <dsp:nvSpPr>
        <dsp:cNvPr id="0" name=""/>
        <dsp:cNvSpPr/>
      </dsp:nvSpPr>
      <dsp:spPr>
        <a:xfrm>
          <a:off x="0" y="836982"/>
          <a:ext cx="4879728" cy="0"/>
        </a:xfrm>
        <a:prstGeom prst="line">
          <a:avLst/>
        </a:prstGeom>
        <a:solidFill>
          <a:schemeClr val="accent5">
            <a:hueOff val="2208089"/>
            <a:satOff val="7189"/>
            <a:lumOff val="2500"/>
            <a:alphaOff val="0"/>
          </a:schemeClr>
        </a:solidFill>
        <a:ln w="34925" cap="flat" cmpd="sng" algn="in">
          <a:solidFill>
            <a:schemeClr val="accent5">
              <a:hueOff val="2208089"/>
              <a:satOff val="7189"/>
              <a:lumOff val="250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A4D4E7B-39B1-44DA-888A-899335BF53CF}">
      <dsp:nvSpPr>
        <dsp:cNvPr id="0" name=""/>
        <dsp:cNvSpPr/>
      </dsp:nvSpPr>
      <dsp:spPr>
        <a:xfrm>
          <a:off x="0" y="836982"/>
          <a:ext cx="4879728" cy="8364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GB" sz="2700" kern="1200" baseline="0" dirty="0"/>
            <a:t>Cleaning &amp; Feature Engineering</a:t>
          </a:r>
          <a:endParaRPr lang="en-US" sz="2700" kern="1200" dirty="0"/>
        </a:p>
      </dsp:txBody>
      <dsp:txXfrm>
        <a:off x="0" y="836982"/>
        <a:ext cx="4879728" cy="836471"/>
      </dsp:txXfrm>
    </dsp:sp>
    <dsp:sp modelId="{1D5F95A6-9602-488A-845A-7C0350C317C8}">
      <dsp:nvSpPr>
        <dsp:cNvPr id="0" name=""/>
        <dsp:cNvSpPr/>
      </dsp:nvSpPr>
      <dsp:spPr>
        <a:xfrm>
          <a:off x="0" y="1673454"/>
          <a:ext cx="4879728" cy="0"/>
        </a:xfrm>
        <a:prstGeom prst="line">
          <a:avLst/>
        </a:prstGeom>
        <a:solidFill>
          <a:schemeClr val="accent5">
            <a:hueOff val="4416178"/>
            <a:satOff val="14379"/>
            <a:lumOff val="5000"/>
            <a:alphaOff val="0"/>
          </a:schemeClr>
        </a:solidFill>
        <a:ln w="34925" cap="flat" cmpd="sng" algn="in">
          <a:solidFill>
            <a:schemeClr val="accent5">
              <a:hueOff val="4416178"/>
              <a:satOff val="14379"/>
              <a:lumOff val="500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97006AA-42AF-4F05-94F8-340344861CAC}">
      <dsp:nvSpPr>
        <dsp:cNvPr id="0" name=""/>
        <dsp:cNvSpPr/>
      </dsp:nvSpPr>
      <dsp:spPr>
        <a:xfrm>
          <a:off x="0" y="1673454"/>
          <a:ext cx="4879728" cy="8364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GB" sz="2700" kern="1200" baseline="0"/>
            <a:t>EDA &amp; Statistical Tasting</a:t>
          </a:r>
          <a:endParaRPr lang="en-US" sz="2700" kern="1200"/>
        </a:p>
      </dsp:txBody>
      <dsp:txXfrm>
        <a:off x="0" y="1673454"/>
        <a:ext cx="4879728" cy="836471"/>
      </dsp:txXfrm>
    </dsp:sp>
    <dsp:sp modelId="{2146194F-3B9E-46FE-B1DB-55733FA9B9F5}">
      <dsp:nvSpPr>
        <dsp:cNvPr id="0" name=""/>
        <dsp:cNvSpPr/>
      </dsp:nvSpPr>
      <dsp:spPr>
        <a:xfrm>
          <a:off x="0" y="2509925"/>
          <a:ext cx="4879728" cy="0"/>
        </a:xfrm>
        <a:prstGeom prst="line">
          <a:avLst/>
        </a:prstGeom>
        <a:solidFill>
          <a:schemeClr val="accent5">
            <a:hueOff val="6624266"/>
            <a:satOff val="21568"/>
            <a:lumOff val="7500"/>
            <a:alphaOff val="0"/>
          </a:schemeClr>
        </a:solidFill>
        <a:ln w="34925" cap="flat" cmpd="sng" algn="in">
          <a:solidFill>
            <a:schemeClr val="accent5">
              <a:hueOff val="6624266"/>
              <a:satOff val="21568"/>
              <a:lumOff val="750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8C87BD7-188F-4797-895B-13A5399E9EB2}">
      <dsp:nvSpPr>
        <dsp:cNvPr id="0" name=""/>
        <dsp:cNvSpPr/>
      </dsp:nvSpPr>
      <dsp:spPr>
        <a:xfrm>
          <a:off x="0" y="2509925"/>
          <a:ext cx="4879728" cy="8364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GB" sz="2700" kern="1200" baseline="0" dirty="0"/>
            <a:t>Clustering</a:t>
          </a:r>
          <a:endParaRPr lang="en-US" sz="2700" kern="1200" dirty="0"/>
        </a:p>
      </dsp:txBody>
      <dsp:txXfrm>
        <a:off x="0" y="2509925"/>
        <a:ext cx="4879728" cy="836471"/>
      </dsp:txXfrm>
    </dsp:sp>
    <dsp:sp modelId="{B2C4C3C1-96E2-456D-B88F-1778E4F7FB5E}">
      <dsp:nvSpPr>
        <dsp:cNvPr id="0" name=""/>
        <dsp:cNvSpPr/>
      </dsp:nvSpPr>
      <dsp:spPr>
        <a:xfrm>
          <a:off x="0" y="3346397"/>
          <a:ext cx="4879728" cy="0"/>
        </a:xfrm>
        <a:prstGeom prst="line">
          <a:avLst/>
        </a:prstGeom>
        <a:solidFill>
          <a:schemeClr val="accent5">
            <a:hueOff val="8832355"/>
            <a:satOff val="28758"/>
            <a:lumOff val="10000"/>
            <a:alphaOff val="0"/>
          </a:schemeClr>
        </a:solidFill>
        <a:ln w="34925" cap="flat" cmpd="sng" algn="in">
          <a:solidFill>
            <a:schemeClr val="accent5">
              <a:hueOff val="8832355"/>
              <a:satOff val="28758"/>
              <a:lumOff val="1000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865BDAF-7403-4114-A015-2A3DD0163414}">
      <dsp:nvSpPr>
        <dsp:cNvPr id="0" name=""/>
        <dsp:cNvSpPr/>
      </dsp:nvSpPr>
      <dsp:spPr>
        <a:xfrm>
          <a:off x="0" y="3346397"/>
          <a:ext cx="4879728" cy="8364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GB" sz="2700" kern="1200" baseline="0" dirty="0"/>
            <a:t>Supervised Learning</a:t>
          </a:r>
          <a:endParaRPr lang="en-US" sz="2700" kern="1200" dirty="0"/>
        </a:p>
      </dsp:txBody>
      <dsp:txXfrm>
        <a:off x="0" y="3346397"/>
        <a:ext cx="4879728" cy="83647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98091D-A140-420C-8E3A-CEBD6A4A741D}">
      <dsp:nvSpPr>
        <dsp:cNvPr id="0" name=""/>
        <dsp:cNvSpPr/>
      </dsp:nvSpPr>
      <dsp:spPr>
        <a:xfrm>
          <a:off x="6024670" y="656171"/>
          <a:ext cx="1373722" cy="1373947"/>
        </a:xfrm>
        <a:prstGeom prst="ellipse">
          <a:avLst/>
        </a:prstGeom>
        <a:solidFill>
          <a:schemeClr val="accent2">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30C6E05-0BBD-4DC9-AF76-AB87C448496F}">
      <dsp:nvSpPr>
        <dsp:cNvPr id="0" name=""/>
        <dsp:cNvSpPr/>
      </dsp:nvSpPr>
      <dsp:spPr>
        <a:xfrm>
          <a:off x="6069997" y="701978"/>
          <a:ext cx="1282336" cy="1282334"/>
        </a:xfrm>
        <a:prstGeom prst="ellipse">
          <a:avLst/>
        </a:prstGeom>
        <a:solidFill>
          <a:schemeClr val="accent3">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GB" sz="900" kern="1200"/>
            <a:t>Applied StandardScaler for feature normalisation</a:t>
          </a:r>
          <a:endParaRPr lang="en-US" sz="900" kern="1200"/>
        </a:p>
      </dsp:txBody>
      <dsp:txXfrm>
        <a:off x="6253501" y="885203"/>
        <a:ext cx="916058" cy="915884"/>
      </dsp:txXfrm>
    </dsp:sp>
    <dsp:sp modelId="{F2CFFFAB-E1A0-4647-8C5F-E762234300F5}">
      <dsp:nvSpPr>
        <dsp:cNvPr id="0" name=""/>
        <dsp:cNvSpPr/>
      </dsp:nvSpPr>
      <dsp:spPr>
        <a:xfrm rot="2700000">
          <a:off x="4604236" y="656243"/>
          <a:ext cx="1373563" cy="1373563"/>
        </a:xfrm>
        <a:prstGeom prst="teardrop">
          <a:avLst>
            <a:gd name="adj" fmla="val 100000"/>
          </a:avLst>
        </a:prstGeom>
        <a:solidFill>
          <a:schemeClr val="accent4">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41132FD-1339-4C8D-BC65-13C6F326BD1D}">
      <dsp:nvSpPr>
        <dsp:cNvPr id="0" name=""/>
        <dsp:cNvSpPr/>
      </dsp:nvSpPr>
      <dsp:spPr>
        <a:xfrm>
          <a:off x="4650947" y="701978"/>
          <a:ext cx="1282336" cy="1282334"/>
        </a:xfrm>
        <a:prstGeom prst="ellipse">
          <a:avLst/>
        </a:prstGeom>
        <a:solidFill>
          <a:schemeClr val="accent5">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GB" sz="900" kern="1200"/>
            <a:t>One-Hot Encoding for categorical variables</a:t>
          </a:r>
          <a:endParaRPr lang="en-US" sz="900" kern="1200"/>
        </a:p>
      </dsp:txBody>
      <dsp:txXfrm>
        <a:off x="4833720" y="885203"/>
        <a:ext cx="916058" cy="915884"/>
      </dsp:txXfrm>
    </dsp:sp>
    <dsp:sp modelId="{28D19E53-7BFD-409A-8F0A-61F74BF5D06F}">
      <dsp:nvSpPr>
        <dsp:cNvPr id="0" name=""/>
        <dsp:cNvSpPr/>
      </dsp:nvSpPr>
      <dsp:spPr>
        <a:xfrm rot="2700000">
          <a:off x="3185186" y="656243"/>
          <a:ext cx="1373563" cy="1373563"/>
        </a:xfrm>
        <a:prstGeom prst="teardrop">
          <a:avLst>
            <a:gd name="adj" fmla="val 100000"/>
          </a:avLst>
        </a:prstGeom>
        <a:solidFill>
          <a:schemeClr val="accent6">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DED189E-D4EA-43A8-B710-D88372E25A31}">
      <dsp:nvSpPr>
        <dsp:cNvPr id="0" name=""/>
        <dsp:cNvSpPr/>
      </dsp:nvSpPr>
      <dsp:spPr>
        <a:xfrm>
          <a:off x="3231165" y="701978"/>
          <a:ext cx="1282336" cy="1282334"/>
        </a:xfrm>
        <a:prstGeom prst="ellipse">
          <a:avLst/>
        </a:prstGeom>
        <a:solidFill>
          <a:schemeClr val="accent2">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GB" sz="900" kern="1200"/>
            <a:t>categorised seatbelt, seating, and vehicle variables and Injury severity </a:t>
          </a:r>
          <a:endParaRPr lang="en-US" sz="900" kern="1200"/>
        </a:p>
      </dsp:txBody>
      <dsp:txXfrm>
        <a:off x="3413939" y="885203"/>
        <a:ext cx="916058" cy="915884"/>
      </dsp:txXfrm>
    </dsp:sp>
    <dsp:sp modelId="{AD62B51F-4C5A-4A4C-AB60-62508D4D7413}">
      <dsp:nvSpPr>
        <dsp:cNvPr id="0" name=""/>
        <dsp:cNvSpPr/>
      </dsp:nvSpPr>
      <dsp:spPr>
        <a:xfrm rot="2700000">
          <a:off x="1765405" y="656243"/>
          <a:ext cx="1373563" cy="1373563"/>
        </a:xfrm>
        <a:prstGeom prst="teardrop">
          <a:avLst>
            <a:gd name="adj" fmla="val 100000"/>
          </a:avLst>
        </a:prstGeom>
        <a:solidFill>
          <a:schemeClr val="accent3">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F79C133-A75E-442D-890B-94971A6A5CC6}">
      <dsp:nvSpPr>
        <dsp:cNvPr id="0" name=""/>
        <dsp:cNvSpPr/>
      </dsp:nvSpPr>
      <dsp:spPr>
        <a:xfrm>
          <a:off x="1811384" y="701978"/>
          <a:ext cx="1282336" cy="1282334"/>
        </a:xfrm>
        <a:prstGeom prst="ellipse">
          <a:avLst/>
        </a:prstGeom>
        <a:solidFill>
          <a:schemeClr val="accent4">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GB" sz="900" kern="1200"/>
            <a:t>Mode imputation for seatbelt variable; 'Unknown' for seat position &amp; vehicle type</a:t>
          </a:r>
          <a:endParaRPr lang="en-US" sz="900" kern="1200"/>
        </a:p>
      </dsp:txBody>
      <dsp:txXfrm>
        <a:off x="1994888" y="885203"/>
        <a:ext cx="916058" cy="915884"/>
      </dsp:txXfrm>
    </dsp:sp>
    <dsp:sp modelId="{CD81F1BE-96F4-40D7-8E11-854CC7F695EB}">
      <dsp:nvSpPr>
        <dsp:cNvPr id="0" name=""/>
        <dsp:cNvSpPr/>
      </dsp:nvSpPr>
      <dsp:spPr>
        <a:xfrm rot="2700000">
          <a:off x="345623" y="656243"/>
          <a:ext cx="1373563" cy="1373563"/>
        </a:xfrm>
        <a:prstGeom prst="teardrop">
          <a:avLst>
            <a:gd name="adj" fmla="val 100000"/>
          </a:avLst>
        </a:prstGeom>
        <a:solidFill>
          <a:schemeClr val="accent5">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7D40AA1-30B0-4983-AB78-1E3109205CFE}">
      <dsp:nvSpPr>
        <dsp:cNvPr id="0" name=""/>
        <dsp:cNvSpPr/>
      </dsp:nvSpPr>
      <dsp:spPr>
        <a:xfrm>
          <a:off x="391603" y="701978"/>
          <a:ext cx="1282336" cy="1282334"/>
        </a:xfrm>
        <a:prstGeom prst="ellipse">
          <a:avLst/>
        </a:prstGeom>
        <a:solidFill>
          <a:schemeClr val="accent6">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GB" sz="900" kern="1200"/>
            <a:t>Missing values: </a:t>
          </a:r>
          <a:endParaRPr lang="en-US" sz="900" kern="1200"/>
        </a:p>
      </dsp:txBody>
      <dsp:txXfrm>
        <a:off x="575107" y="885203"/>
        <a:ext cx="916058" cy="915884"/>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node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5afc178a1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5afc178a1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5b02134599_1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5b02134599_1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5babf54fe7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5babf54fe7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5babf54fe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5babf54fe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5babf54fe7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5babf54fe7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5bbb585e1c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5bbb585e1c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550" b="1">
              <a:solidFill>
                <a:srgbClr val="3D85C6"/>
              </a:solidFill>
              <a:highlight>
                <a:schemeClr val="lt1"/>
              </a:highlight>
            </a:endParaRPr>
          </a:p>
          <a:p>
            <a:pPr marL="0" lvl="0" indent="0" algn="l" rtl="0">
              <a:spcBef>
                <a:spcPts val="0"/>
              </a:spcBef>
              <a:spcAft>
                <a:spcPts val="0"/>
              </a:spcAft>
              <a:buNone/>
            </a:pPr>
            <a:r>
              <a:rPr lang="en-GB" sz="1350">
                <a:solidFill>
                  <a:srgbClr val="2A2B2E"/>
                </a:solidFill>
                <a:highlight>
                  <a:schemeClr val="lt1"/>
                </a:highlight>
              </a:rPr>
              <a:t>Due to the distance from the </a:t>
            </a:r>
            <a:r>
              <a:rPr lang="en-GB" sz="1350" b="1">
                <a:solidFill>
                  <a:srgbClr val="2A2B2E"/>
                </a:solidFill>
                <a:highlight>
                  <a:schemeClr val="lt1"/>
                </a:highlight>
              </a:rPr>
              <a:t>frontal collision</a:t>
            </a:r>
            <a:r>
              <a:rPr lang="en-GB" sz="1350">
                <a:solidFill>
                  <a:srgbClr val="2A2B2E"/>
                </a:solidFill>
                <a:highlight>
                  <a:schemeClr val="lt1"/>
                </a:highlight>
              </a:rPr>
              <a:t>, the rear seats offer the best passive protection, and front and driver are less protection </a:t>
            </a:r>
            <a:endParaRPr sz="1350">
              <a:solidFill>
                <a:srgbClr val="2A2B2E"/>
              </a:solidFill>
              <a:highlight>
                <a:schemeClr val="lt1"/>
              </a:highlight>
            </a:endParaRPr>
          </a:p>
          <a:p>
            <a:pPr marL="0" lvl="0" indent="0" algn="l" rtl="0">
              <a:spcBef>
                <a:spcPts val="0"/>
              </a:spcBef>
              <a:spcAft>
                <a:spcPts val="0"/>
              </a:spcAft>
              <a:buClr>
                <a:schemeClr val="dk1"/>
              </a:buClr>
              <a:buSzPts val="1100"/>
              <a:buFont typeface="Arial"/>
              <a:buNone/>
            </a:pPr>
            <a:endParaRPr sz="1350">
              <a:solidFill>
                <a:srgbClr val="2A2B2E"/>
              </a:solidFill>
              <a:highlight>
                <a:schemeClr val="lt1"/>
              </a:highlight>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5bbb585e1c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5bbb585e1c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600">
              <a:solidFill>
                <a:srgbClr val="0B5394"/>
              </a:solidFill>
            </a:endParaRPr>
          </a:p>
          <a:p>
            <a:pPr marL="0" lvl="0" indent="0" algn="l" rtl="0">
              <a:lnSpc>
                <a:spcPct val="115000"/>
              </a:lnSpc>
              <a:spcBef>
                <a:spcPts val="0"/>
              </a:spcBef>
              <a:spcAft>
                <a:spcPts val="0"/>
              </a:spcAft>
              <a:buNone/>
            </a:pPr>
            <a:r>
              <a:rPr lang="en-GB" sz="1400">
                <a:solidFill>
                  <a:schemeClr val="dk1"/>
                </a:solidFill>
              </a:rPr>
              <a:t>Seatbelt use helps reduce serious injuries</a:t>
            </a:r>
            <a:endParaRPr sz="1400">
              <a:solidFill>
                <a:schemeClr val="dk1"/>
              </a:solidFill>
            </a:endParaRPr>
          </a:p>
          <a:p>
            <a:pPr marL="0" lvl="0" indent="0" algn="l" rtl="0">
              <a:lnSpc>
                <a:spcPct val="115000"/>
              </a:lnSpc>
              <a:spcBef>
                <a:spcPts val="1200"/>
              </a:spcBef>
              <a:spcAft>
                <a:spcPts val="0"/>
              </a:spcAft>
              <a:buNone/>
            </a:pPr>
            <a:r>
              <a:rPr lang="en-GB" sz="1400">
                <a:solidFill>
                  <a:schemeClr val="dk1"/>
                </a:solidFill>
              </a:rPr>
              <a:t>Highlights the importance of </a:t>
            </a:r>
            <a:r>
              <a:rPr lang="en-GB" sz="1400" b="1">
                <a:solidFill>
                  <a:schemeClr val="dk1"/>
                </a:solidFill>
              </a:rPr>
              <a:t>contextual factors</a:t>
            </a:r>
            <a:r>
              <a:rPr lang="en-GB" sz="1400">
                <a:solidFill>
                  <a:schemeClr val="dk1"/>
                </a:solidFill>
              </a:rPr>
              <a:t> like seat position and vehicle type</a:t>
            </a:r>
            <a:endParaRPr sz="1400">
              <a:solidFill>
                <a:schemeClr val="dk1"/>
              </a:solidFill>
            </a:endParaRPr>
          </a:p>
          <a:p>
            <a:pPr marL="0" lvl="0" indent="0" algn="l" rtl="0">
              <a:lnSpc>
                <a:spcPct val="115000"/>
              </a:lnSpc>
              <a:spcBef>
                <a:spcPts val="1200"/>
              </a:spcBef>
              <a:spcAft>
                <a:spcPts val="0"/>
              </a:spcAft>
              <a:buNone/>
            </a:pPr>
            <a:r>
              <a:rPr lang="en-GB" sz="1350">
                <a:solidFill>
                  <a:srgbClr val="2A2B2E"/>
                </a:solidFill>
                <a:highlight>
                  <a:schemeClr val="lt1"/>
                </a:highlight>
              </a:rPr>
              <a:t>Small sample size in “Not Worn” group may exaggerate injury rates</a:t>
            </a:r>
            <a:endParaRPr sz="1400">
              <a:solidFill>
                <a:schemeClr val="dk1"/>
              </a:solidFill>
            </a:endParaRPr>
          </a:p>
          <a:p>
            <a:pPr marL="0" lvl="0" indent="0" algn="l" rtl="0">
              <a:spcBef>
                <a:spcPts val="120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5bbb585e1c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5bbb585e1c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300">
                <a:solidFill>
                  <a:srgbClr val="595959"/>
                </a:solidFill>
              </a:rPr>
              <a:t>Larger vehicles provide better </a:t>
            </a:r>
            <a:r>
              <a:rPr lang="en-GB" sz="1300" b="1">
                <a:solidFill>
                  <a:srgbClr val="595959"/>
                </a:solidFill>
              </a:rPr>
              <a:t>protection </a:t>
            </a:r>
            <a:r>
              <a:rPr lang="en-GB" sz="1300">
                <a:solidFill>
                  <a:srgbClr val="595959"/>
                </a:solidFill>
              </a:rPr>
              <a:t>and result in fewer injuries.</a:t>
            </a:r>
            <a:endParaRPr sz="1300">
              <a:solidFill>
                <a:srgbClr val="595959"/>
              </a:solidFill>
            </a:endParaRPr>
          </a:p>
          <a:p>
            <a:pPr marL="0" lvl="0" indent="0" algn="l" rtl="0">
              <a:spcBef>
                <a:spcPts val="0"/>
              </a:spcBef>
              <a:spcAft>
                <a:spcPts val="0"/>
              </a:spcAft>
              <a:buNone/>
            </a:pPr>
            <a:r>
              <a:rPr lang="en-GB" sz="1300">
                <a:solidFill>
                  <a:srgbClr val="595959"/>
                </a:solidFill>
              </a:rPr>
              <a:t>Passengers in </a:t>
            </a:r>
            <a:r>
              <a:rPr lang="en-GB" sz="1300" b="1">
                <a:solidFill>
                  <a:srgbClr val="595959"/>
                </a:solidFill>
              </a:rPr>
              <a:t>exposed positions</a:t>
            </a:r>
            <a:r>
              <a:rPr lang="en-GB" sz="1300">
                <a:solidFill>
                  <a:srgbClr val="595959"/>
                </a:solidFill>
              </a:rPr>
              <a:t>, like on motorcycles, face higher risks due to less physical shielding.</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5bbb585e1c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5bbb585e1c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5babf54fe7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5babf54fe7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5c06d4f25a_3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35c06d4f25a_3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5babf54fe7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5babf54fe7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35babf54fe7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35babf54fe7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5babf54fe7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5babf54fe7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5bbb585e1c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5bbb585e1c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5c06d4f25a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5c06d4f25a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5c06d4f25a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35c06d4f25a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5c06d4f25a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35c06d4f25a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5c06d4f25a_7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35c06d4f25a_7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5c06d4f25a_7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35c06d4f25a_7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436346" y="1341340"/>
            <a:ext cx="6270922" cy="1573670"/>
          </a:xfrm>
        </p:spPr>
        <p:txBody>
          <a:bodyPr anchor="b">
            <a:noAutofit/>
          </a:bodyPr>
          <a:lstStyle>
            <a:lvl1pPr algn="ctr">
              <a:defRPr sz="5400" cap="all" baseline="0">
                <a:solidFill>
                  <a:schemeClr val="tx2"/>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2009930" y="2967210"/>
            <a:ext cx="5123755" cy="814678"/>
          </a:xfrm>
        </p:spPr>
        <p:txBody>
          <a:bodyPr>
            <a:normAutofit/>
          </a:bodyPr>
          <a:lstStyle>
            <a:lvl1pPr marL="0" indent="0" algn="ctr">
              <a:lnSpc>
                <a:spcPct val="112000"/>
              </a:lnSpc>
              <a:spcBef>
                <a:spcPts val="0"/>
              </a:spcBef>
              <a:spcAft>
                <a:spcPts val="0"/>
              </a:spcAft>
              <a:buNone/>
              <a:defRPr sz="1725"/>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en-US" dirty="0"/>
          </a:p>
        </p:txBody>
      </p:sp>
      <p:sp>
        <p:nvSpPr>
          <p:cNvPr id="4" name="Date Placeholder 3"/>
          <p:cNvSpPr>
            <a:spLocks noGrp="1"/>
          </p:cNvSpPr>
          <p:nvPr>
            <p:ph type="dt" sz="half" idx="10"/>
          </p:nvPr>
        </p:nvSpPr>
        <p:spPr>
          <a:xfrm>
            <a:off x="564644" y="4840039"/>
            <a:ext cx="1205958" cy="303461"/>
          </a:xfrm>
        </p:spPr>
        <p:txBody>
          <a:bodyPr/>
          <a:lstStyle>
            <a:lvl1pPr>
              <a:defRPr baseline="0">
                <a:solidFill>
                  <a:schemeClr val="tx2"/>
                </a:solidFill>
              </a:defRPr>
            </a:lvl1pPr>
          </a:lstStyle>
          <a:p>
            <a:fld id="{87DE6118-2437-4B30-8E3C-4D2BE6020583}" type="datetimeFigureOut">
              <a:rPr lang="en-US" dirty="0"/>
              <a:pPr/>
              <a:t>5/23/2025</a:t>
            </a:fld>
            <a:endParaRPr lang="en-US" dirty="0"/>
          </a:p>
        </p:txBody>
      </p:sp>
      <p:sp>
        <p:nvSpPr>
          <p:cNvPr id="5" name="Footer Placeholder 4"/>
          <p:cNvSpPr>
            <a:spLocks noGrp="1"/>
          </p:cNvSpPr>
          <p:nvPr>
            <p:ph type="ftr" sz="quarter" idx="11"/>
          </p:nvPr>
        </p:nvSpPr>
        <p:spPr>
          <a:xfrm>
            <a:off x="1938041" y="4840039"/>
            <a:ext cx="5267533" cy="303461"/>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7373012" y="4840039"/>
            <a:ext cx="1197219" cy="303461"/>
          </a:xfrm>
        </p:spPr>
        <p:txBody>
          <a:bodyPr/>
          <a:lstStyle>
            <a:lvl1pPr>
              <a:defRPr baseline="0">
                <a:solidFill>
                  <a:schemeClr val="tx2"/>
                </a:solidFill>
              </a:defRPr>
            </a:lvl1pPr>
          </a:lstStyle>
          <a:p>
            <a:pPr marL="0" lvl="0" indent="0" algn="r" rtl="0">
              <a:spcBef>
                <a:spcPts val="0"/>
              </a:spcBef>
              <a:spcAft>
                <a:spcPts val="0"/>
              </a:spcAft>
              <a:buNone/>
            </a:pPr>
            <a:fld id="{00000000-1234-1234-1234-123412341234}" type="slidenum">
              <a:rPr lang="en-GB" smtClean="0"/>
              <a:t>‹#›</a:t>
            </a:fld>
            <a:endParaRPr lang="en-GB"/>
          </a:p>
        </p:txBody>
      </p:sp>
      <p:grpSp>
        <p:nvGrpSpPr>
          <p:cNvPr id="7" name="Group 6"/>
          <p:cNvGrpSpPr/>
          <p:nvPr/>
        </p:nvGrpSpPr>
        <p:grpSpPr>
          <a:xfrm>
            <a:off x="564644" y="558352"/>
            <a:ext cx="8005588" cy="4012253"/>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3986449443"/>
      </p:ext>
    </p:extLst>
  </p:cSld>
  <p:clrMapOvr>
    <a:overrideClrMapping bg1="lt1" tx1="dk1" bg2="lt2" tx2="dk2" accent1="accent1" accent2="accent2" accent3="accent3" accent4="accent4" accent5="accent5" accent6="accent6" hlink="hlink" folHlink="folHlink"/>
  </p:clrMapOvr>
  <p:transition spd="med">
    <p:pull/>
  </p:transition>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5/23/2025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3785832644"/>
      </p:ext>
    </p:extLst>
  </p:cSld>
  <p:clrMapOvr>
    <a:masterClrMapping/>
  </p:clrMapOvr>
  <p:transition spd="med">
    <p:pull/>
  </p:transition>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73769" y="976020"/>
            <a:ext cx="7209728" cy="2139553"/>
          </a:xfrm>
        </p:spPr>
        <p:txBody>
          <a:bodyPr anchor="b">
            <a:normAutofit/>
          </a:bodyPr>
          <a:lstStyle>
            <a:lvl1pPr algn="r">
              <a:defRPr sz="5400" cap="all" baseline="0">
                <a:solidFill>
                  <a:schemeClr val="tx2"/>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73769" y="3162246"/>
            <a:ext cx="7209728" cy="857493"/>
          </a:xfrm>
        </p:spPr>
        <p:txBody>
          <a:bodyPr/>
          <a:lstStyle>
            <a:lvl1pPr marL="0" indent="0" algn="r">
              <a:lnSpc>
                <a:spcPct val="112000"/>
              </a:lnSpc>
              <a:spcBef>
                <a:spcPts val="0"/>
              </a:spcBef>
              <a:spcAft>
                <a:spcPts val="0"/>
              </a:spcAft>
              <a:buNone/>
              <a:defRPr sz="1800">
                <a:solidFill>
                  <a:schemeClr val="tx2"/>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a:xfrm>
            <a:off x="554181" y="4840039"/>
            <a:ext cx="1216807" cy="303461"/>
          </a:xfrm>
        </p:spPr>
        <p:txBody>
          <a:bodyPr/>
          <a:lstStyle>
            <a:lvl1pPr>
              <a:defRPr>
                <a:solidFill>
                  <a:schemeClr val="tx2"/>
                </a:solidFill>
              </a:defRPr>
            </a:lvl1pPr>
          </a:lstStyle>
          <a:p>
            <a:fld id="{87DE6118-2437-4B30-8E3C-4D2BE6020583}" type="datetimeFigureOut">
              <a:rPr lang="en-US" dirty="0"/>
              <a:pPr/>
              <a:t>5/23/2025</a:t>
            </a:fld>
            <a:endParaRPr lang="en-US" dirty="0"/>
          </a:p>
        </p:txBody>
      </p:sp>
      <p:sp>
        <p:nvSpPr>
          <p:cNvPr id="5" name="Footer Placeholder 4"/>
          <p:cNvSpPr>
            <a:spLocks noGrp="1"/>
          </p:cNvSpPr>
          <p:nvPr>
            <p:ph type="ftr" sz="quarter" idx="11"/>
          </p:nvPr>
        </p:nvSpPr>
        <p:spPr>
          <a:xfrm>
            <a:off x="1938234" y="4840039"/>
            <a:ext cx="5267533" cy="303461"/>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7373012" y="4840039"/>
            <a:ext cx="1197219" cy="303461"/>
          </a:xfrm>
        </p:spPr>
        <p:txBody>
          <a:bodyPr/>
          <a:lstStyle>
            <a:lvl1pPr>
              <a:defRPr>
                <a:solidFill>
                  <a:schemeClr val="tx2"/>
                </a:solidFill>
              </a:defRPr>
            </a:lvl1pPr>
          </a:lstStyle>
          <a:p>
            <a:pPr marL="0" lvl="0" indent="0" algn="r" rtl="0">
              <a:spcBef>
                <a:spcPts val="0"/>
              </a:spcBef>
              <a:spcAft>
                <a:spcPts val="0"/>
              </a:spcAft>
              <a:buNone/>
            </a:pPr>
            <a:fld id="{00000000-1234-1234-1234-123412341234}" type="slidenum">
              <a:rPr lang="en-GB" smtClean="0"/>
              <a:t>‹#›</a:t>
            </a:fld>
            <a:endParaRPr lang="en-GB"/>
          </a:p>
        </p:txBody>
      </p:sp>
      <p:sp>
        <p:nvSpPr>
          <p:cNvPr id="7" name="Freeform 6" title="Crop Mark"/>
          <p:cNvSpPr/>
          <p:nvPr/>
        </p:nvSpPr>
        <p:spPr bwMode="auto">
          <a:xfrm>
            <a:off x="6113972" y="1264239"/>
            <a:ext cx="2456260" cy="3306366"/>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298984759"/>
      </p:ext>
    </p:extLst>
  </p:cSld>
  <p:clrMapOvr>
    <a:overrideClrMapping bg1="dk1" tx1="lt1" bg2="dk2" tx2="lt2" accent1="accent1" accent2="accent2" accent3="accent3" accent4="accent4" accent5="accent5" accent6="accent6" hlink="hlink" folHlink="folHlink"/>
  </p:clrMapOvr>
  <p:transition spd="med">
    <p:pull/>
  </p:transition>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zh-CN" altLang="en-US"/>
              <a:t>单击此处编辑母版标题样式</a:t>
            </a:r>
            <a:endParaRPr lang="en-US" dirty="0"/>
          </a:p>
        </p:txBody>
      </p:sp>
      <p:sp>
        <p:nvSpPr>
          <p:cNvPr id="3" name="Content Placeholder 2"/>
          <p:cNvSpPr>
            <a:spLocks noGrp="1"/>
          </p:cNvSpPr>
          <p:nvPr>
            <p:ph sz="half" idx="1"/>
          </p:nvPr>
        </p:nvSpPr>
        <p:spPr>
          <a:xfrm>
            <a:off x="1028700" y="1714500"/>
            <a:ext cx="3335840" cy="268605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894052" y="1714500"/>
            <a:ext cx="3335840" cy="268605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5/23/2025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3266261536"/>
      </p:ext>
    </p:extLst>
  </p:cSld>
  <p:clrMapOvr>
    <a:masterClrMapping/>
  </p:clrMapOvr>
  <p:transition spd="med">
    <p:pull/>
  </p:transition>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1028700" y="514350"/>
            <a:ext cx="7200900" cy="1114425"/>
          </a:xfrm>
        </p:spPr>
        <p:txBody>
          <a:bodyPr/>
          <a:lstStyle>
            <a:lvl1pPr>
              <a:defRPr>
                <a:solidFill>
                  <a:schemeClr val="tx2"/>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1028700" y="1755648"/>
            <a:ext cx="3332988" cy="617934"/>
          </a:xfrm>
        </p:spPr>
        <p:txBody>
          <a:bodyPr anchor="b">
            <a:noAutofit/>
          </a:bodyPr>
          <a:lstStyle>
            <a:lvl1pPr marL="0" indent="0">
              <a:lnSpc>
                <a:spcPct val="84000"/>
              </a:lnSpc>
              <a:spcBef>
                <a:spcPts val="0"/>
              </a:spcBef>
              <a:spcAft>
                <a:spcPts val="0"/>
              </a:spcAft>
              <a:buNone/>
              <a:defRPr sz="2250" b="0"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Content Placeholder 3"/>
          <p:cNvSpPr>
            <a:spLocks noGrp="1"/>
          </p:cNvSpPr>
          <p:nvPr>
            <p:ph sz="half" idx="2"/>
          </p:nvPr>
        </p:nvSpPr>
        <p:spPr>
          <a:xfrm>
            <a:off x="1028700" y="2478906"/>
            <a:ext cx="3332988" cy="1921645"/>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893761" y="1755648"/>
            <a:ext cx="3332988" cy="617934"/>
          </a:xfrm>
        </p:spPr>
        <p:txBody>
          <a:bodyPr anchor="b">
            <a:noAutofit/>
          </a:bodyPr>
          <a:lstStyle>
            <a:lvl1pPr marL="0" indent="0">
              <a:lnSpc>
                <a:spcPct val="84000"/>
              </a:lnSpc>
              <a:spcBef>
                <a:spcPts val="0"/>
              </a:spcBef>
              <a:spcAft>
                <a:spcPts val="0"/>
              </a:spcAft>
              <a:buNone/>
              <a:defRPr sz="2250" b="0"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Content Placeholder 5"/>
          <p:cNvSpPr>
            <a:spLocks noGrp="1"/>
          </p:cNvSpPr>
          <p:nvPr>
            <p:ph sz="quarter" idx="4"/>
          </p:nvPr>
        </p:nvSpPr>
        <p:spPr>
          <a:xfrm>
            <a:off x="4893761" y="2478906"/>
            <a:ext cx="3332988" cy="1921645"/>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5/23/2025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191588047"/>
      </p:ext>
    </p:extLst>
  </p:cSld>
  <p:clrMapOvr>
    <a:masterClrMapping/>
  </p:clrMapOvr>
  <p:transition spd="med">
    <p:pull/>
  </p:transition>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5/23/2025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1276674939"/>
      </p:ext>
    </p:extLst>
  </p:cSld>
  <p:clrMapOvr>
    <a:masterClrMapping/>
  </p:clrMapOvr>
  <p:transition spd="med">
    <p:pull/>
  </p:transition>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5/23/2025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239183383"/>
      </p:ext>
    </p:extLst>
  </p:cSld>
  <p:clrMapOvr>
    <a:masterClrMapping/>
  </p:clrMapOvr>
  <p:transition spd="med">
    <p:pull/>
  </p:transition>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8" name="Rectangle 7" title="Background Shape"/>
          <p:cNvSpPr/>
          <p:nvPr/>
        </p:nvSpPr>
        <p:spPr>
          <a:xfrm>
            <a:off x="0" y="282"/>
            <a:ext cx="3977640" cy="51432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42925" y="514350"/>
            <a:ext cx="2891790" cy="1618413"/>
          </a:xfrm>
        </p:spPr>
        <p:txBody>
          <a:bodyPr anchor="t">
            <a:noAutofit/>
          </a:bodyPr>
          <a:lstStyle>
            <a:lvl1pPr>
              <a:lnSpc>
                <a:spcPct val="84000"/>
              </a:lnSpc>
              <a:defRPr sz="3600" baseline="0">
                <a:solidFill>
                  <a:schemeClr val="tx2"/>
                </a:solidFill>
              </a:defRPr>
            </a:lvl1pPr>
          </a:lstStyle>
          <a:p>
            <a:r>
              <a:rPr lang="zh-CN" altLang="en-US"/>
              <a:t>单击此处编辑母版标题样式</a:t>
            </a:r>
            <a:endParaRPr lang="en-US" dirty="0"/>
          </a:p>
        </p:txBody>
      </p:sp>
      <p:sp>
        <p:nvSpPr>
          <p:cNvPr id="3" name="Content Placeholder 2"/>
          <p:cNvSpPr>
            <a:spLocks noGrp="1"/>
          </p:cNvSpPr>
          <p:nvPr>
            <p:ph idx="1"/>
          </p:nvPr>
        </p:nvSpPr>
        <p:spPr>
          <a:xfrm>
            <a:off x="4692015" y="514351"/>
            <a:ext cx="3909060" cy="3881438"/>
          </a:xfrm>
        </p:spPr>
        <p:txBody>
          <a:bodyPr/>
          <a:lstStyle>
            <a:lvl1pPr>
              <a:defRPr sz="1500"/>
            </a:lvl1pPr>
            <a:lvl2pPr>
              <a:defRPr sz="1500"/>
            </a:lvl2pPr>
            <a:lvl3pPr>
              <a:defRPr sz="1350"/>
            </a:lvl3pPr>
            <a:lvl4pPr>
              <a:defRPr sz="135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542925" y="2142258"/>
            <a:ext cx="2891790" cy="2258292"/>
          </a:xfrm>
        </p:spPr>
        <p:txBody>
          <a:bodyPr/>
          <a:lstStyle>
            <a:lvl1pPr marL="0" indent="0">
              <a:lnSpc>
                <a:spcPct val="113000"/>
              </a:lnSpc>
              <a:spcBef>
                <a:spcPts val="0"/>
              </a:spcBef>
              <a:spcAft>
                <a:spcPts val="1125"/>
              </a:spcAft>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Date Placeholder 4"/>
          <p:cNvSpPr>
            <a:spLocks noGrp="1"/>
          </p:cNvSpPr>
          <p:nvPr>
            <p:ph type="dt" sz="half" idx="10"/>
          </p:nvPr>
        </p:nvSpPr>
        <p:spPr>
          <a:xfrm>
            <a:off x="542925" y="4840039"/>
            <a:ext cx="903429" cy="303461"/>
          </a:xfrm>
        </p:spPr>
        <p:txBody>
          <a:bodyPr/>
          <a:lstStyle>
            <a:lvl1pPr>
              <a:defRPr>
                <a:solidFill>
                  <a:schemeClr val="tx2"/>
                </a:solidFill>
              </a:defRPr>
            </a:lvl1pPr>
          </a:lstStyle>
          <a:p>
            <a:fld id="{87DE6118-2437-4B30-8E3C-4D2BE6020583}" type="datetimeFigureOut">
              <a:rPr lang="en-US" dirty="0"/>
              <a:pPr/>
              <a:t>5/23/2025</a:t>
            </a:fld>
            <a:endParaRPr lang="en-US" dirty="0"/>
          </a:p>
        </p:txBody>
      </p:sp>
      <p:sp>
        <p:nvSpPr>
          <p:cNvPr id="6" name="Footer Placeholder 5"/>
          <p:cNvSpPr>
            <a:spLocks noGrp="1"/>
          </p:cNvSpPr>
          <p:nvPr>
            <p:ph type="ftr" sz="quarter" idx="11"/>
          </p:nvPr>
        </p:nvSpPr>
        <p:spPr>
          <a:xfrm>
            <a:off x="1654459" y="4840039"/>
            <a:ext cx="1780256" cy="303461"/>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7412355" y="4840039"/>
            <a:ext cx="1197219" cy="303461"/>
          </a:xfrm>
        </p:spPr>
        <p:txBody>
          <a:bodyPr/>
          <a:lstStyle>
            <a:lvl1pPr>
              <a:defRPr>
                <a:solidFill>
                  <a:schemeClr val="tx2"/>
                </a:solidFill>
              </a:defRPr>
            </a:lvl1pPr>
          </a:lstStyle>
          <a:p>
            <a:pPr marL="0" lvl="0" indent="0" algn="r" rtl="0">
              <a:spcBef>
                <a:spcPts val="0"/>
              </a:spcBef>
              <a:spcAft>
                <a:spcPts val="0"/>
              </a:spcAft>
              <a:buNone/>
            </a:pPr>
            <a:fld id="{00000000-1234-1234-1234-123412341234}" type="slidenum">
              <a:rPr lang="en-GB" smtClean="0"/>
              <a:t>‹#›</a:t>
            </a:fld>
            <a:endParaRPr lang="en-GB"/>
          </a:p>
        </p:txBody>
      </p:sp>
      <p:sp>
        <p:nvSpPr>
          <p:cNvPr id="9" name="Rectangle 8" title="Divider Bar"/>
          <p:cNvSpPr/>
          <p:nvPr/>
        </p:nvSpPr>
        <p:spPr>
          <a:xfrm>
            <a:off x="3977640" y="282"/>
            <a:ext cx="17145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162323618"/>
      </p:ext>
    </p:extLst>
  </p:cSld>
  <p:clrMapOvr>
    <a:masterClrMapping/>
  </p:clrMapOvr>
  <p:transition spd="med">
    <p:pull/>
  </p:transition>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8" name="Rectangle 7" title="Background Shape"/>
          <p:cNvSpPr/>
          <p:nvPr/>
        </p:nvSpPr>
        <p:spPr>
          <a:xfrm>
            <a:off x="0" y="282"/>
            <a:ext cx="3977640" cy="51432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42925" y="514350"/>
            <a:ext cx="2891790" cy="1618413"/>
          </a:xfrm>
        </p:spPr>
        <p:txBody>
          <a:bodyPr anchor="t">
            <a:normAutofit/>
          </a:bodyPr>
          <a:lstStyle>
            <a:lvl1pPr>
              <a:lnSpc>
                <a:spcPct val="84000"/>
              </a:lnSpc>
              <a:defRPr sz="3600" baseline="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4149090" y="1"/>
            <a:ext cx="4994910" cy="5143499"/>
          </a:xfrm>
        </p:spPr>
        <p:txBody>
          <a:bodyPr anchor="t">
            <a:normAutofit/>
          </a:bodyPr>
          <a:lstStyle>
            <a:lvl1pPr marL="0" indent="0">
              <a:buNone/>
              <a:defRPr sz="1500"/>
            </a:lvl1pPr>
            <a:lvl2pPr marL="342900" indent="0">
              <a:buNone/>
              <a:defRPr sz="1500"/>
            </a:lvl2pPr>
            <a:lvl3pPr marL="685800" indent="0">
              <a:buNone/>
              <a:defRPr sz="15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p:nvPr>
        </p:nvSpPr>
        <p:spPr>
          <a:xfrm>
            <a:off x="542925" y="2141976"/>
            <a:ext cx="2891790" cy="2258574"/>
          </a:xfrm>
        </p:spPr>
        <p:txBody>
          <a:bodyPr/>
          <a:lstStyle>
            <a:lvl1pPr marL="0" indent="0">
              <a:lnSpc>
                <a:spcPct val="113000"/>
              </a:lnSpc>
              <a:spcBef>
                <a:spcPts val="0"/>
              </a:spcBef>
              <a:spcAft>
                <a:spcPts val="1125"/>
              </a:spcAft>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Date Placeholder 4"/>
          <p:cNvSpPr>
            <a:spLocks noGrp="1"/>
          </p:cNvSpPr>
          <p:nvPr>
            <p:ph type="dt" sz="half" idx="10"/>
          </p:nvPr>
        </p:nvSpPr>
        <p:spPr>
          <a:xfrm>
            <a:off x="542925" y="4840039"/>
            <a:ext cx="903429" cy="303461"/>
          </a:xfrm>
        </p:spPr>
        <p:txBody>
          <a:bodyPr/>
          <a:lstStyle>
            <a:lvl1pPr>
              <a:defRPr>
                <a:solidFill>
                  <a:schemeClr val="tx2"/>
                </a:solidFill>
              </a:defRPr>
            </a:lvl1pPr>
          </a:lstStyle>
          <a:p>
            <a:fld id="{87DE6118-2437-4B30-8E3C-4D2BE6020583}" type="datetimeFigureOut">
              <a:rPr lang="en-US" dirty="0"/>
              <a:pPr/>
              <a:t>5/23/2025</a:t>
            </a:fld>
            <a:endParaRPr lang="en-US" dirty="0"/>
          </a:p>
        </p:txBody>
      </p:sp>
      <p:sp>
        <p:nvSpPr>
          <p:cNvPr id="6" name="Footer Placeholder 5"/>
          <p:cNvSpPr>
            <a:spLocks noGrp="1"/>
          </p:cNvSpPr>
          <p:nvPr>
            <p:ph type="ftr" sz="quarter" idx="11"/>
          </p:nvPr>
        </p:nvSpPr>
        <p:spPr>
          <a:xfrm>
            <a:off x="1654459" y="4840039"/>
            <a:ext cx="1780256" cy="303461"/>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7412355" y="4840039"/>
            <a:ext cx="1197219" cy="303461"/>
          </a:xfrm>
        </p:spPr>
        <p:txBody>
          <a:bodyPr/>
          <a:lstStyle>
            <a:lvl1pPr>
              <a:defRPr>
                <a:solidFill>
                  <a:schemeClr val="tx2"/>
                </a:solidFill>
              </a:defRPr>
            </a:lvl1pPr>
          </a:lstStyle>
          <a:p>
            <a:pPr marL="0" lvl="0" indent="0" algn="r" rtl="0">
              <a:spcBef>
                <a:spcPts val="0"/>
              </a:spcBef>
              <a:spcAft>
                <a:spcPts val="0"/>
              </a:spcAft>
              <a:buNone/>
            </a:pPr>
            <a:fld id="{00000000-1234-1234-1234-123412341234}" type="slidenum">
              <a:rPr lang="en-GB" smtClean="0"/>
              <a:t>‹#›</a:t>
            </a:fld>
            <a:endParaRPr lang="en-GB"/>
          </a:p>
        </p:txBody>
      </p:sp>
      <p:sp>
        <p:nvSpPr>
          <p:cNvPr id="9" name="Rectangle 8" title="Divider Bar"/>
          <p:cNvSpPr/>
          <p:nvPr/>
        </p:nvSpPr>
        <p:spPr>
          <a:xfrm>
            <a:off x="3977640" y="282"/>
            <a:ext cx="17145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68639523"/>
      </p:ext>
    </p:extLst>
  </p:cSld>
  <p:clrMapOvr>
    <a:masterClrMapping/>
  </p:clrMapOvr>
  <p:transition spd="med">
    <p:pull/>
  </p:transition>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028700" y="1721644"/>
            <a:ext cx="7200900" cy="2678906"/>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5/23/2025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4038826139"/>
      </p:ext>
    </p:extLst>
  </p:cSld>
  <p:clrMapOvr>
    <a:masterClrMapping/>
  </p:clrMapOvr>
  <p:transition spd="med">
    <p:pull/>
  </p:transition>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7421" y="468117"/>
            <a:ext cx="1174325" cy="3932433"/>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028700" y="468117"/>
            <a:ext cx="6134731" cy="3932433"/>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5/23/2025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84360481"/>
      </p:ext>
    </p:extLst>
  </p:cSld>
  <p:clrMapOvr>
    <a:masterClrMapping/>
  </p:clrMapOvr>
  <p:transition spd="med">
    <p:pull/>
  </p:transition>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668306761"/>
      </p:ext>
    </p:extLst>
  </p:cSld>
  <p:clrMapOvr>
    <a:masterClrMapping/>
  </p:clrMapOvr>
  <p:transition spd="med">
    <p:pull/>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3279707836"/>
      </p:ext>
    </p:extLst>
  </p:cSld>
  <p:clrMapOvr>
    <a:masterClrMapping/>
  </p:clrMapOvr>
  <p:transition spd="med">
    <p:pull/>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8700" y="514350"/>
            <a:ext cx="7200900" cy="1114425"/>
          </a:xfrm>
          <a:prstGeom prst="rect">
            <a:avLst/>
          </a:prstGeom>
        </p:spPr>
        <p:txBody>
          <a:bodyPr vert="horz" lIns="91440" tIns="45720" rIns="91440" bIns="45720" rtlCol="0" anchor="t">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028700" y="1714500"/>
            <a:ext cx="7200900" cy="268605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1042987" y="4840039"/>
            <a:ext cx="903429" cy="303461"/>
          </a:xfrm>
          <a:prstGeom prst="rect">
            <a:avLst/>
          </a:prstGeom>
        </p:spPr>
        <p:txBody>
          <a:bodyPr vert="horz" lIns="91440" tIns="45720" rIns="91440" bIns="45720" rtlCol="0" anchor="ctr"/>
          <a:lstStyle>
            <a:lvl1pPr algn="l">
              <a:defRPr sz="900" baseline="0">
                <a:solidFill>
                  <a:schemeClr val="tx2"/>
                </a:solidFill>
              </a:defRPr>
            </a:lvl1pPr>
          </a:lstStyle>
          <a:p>
            <a:fld id="{87DE6118-2437-4B30-8E3C-4D2BE6020583}" type="datetimeFigureOut">
              <a:rPr lang="en-US" dirty="0"/>
              <a:pPr/>
              <a:t>5/23/2025</a:t>
            </a:fld>
            <a:endParaRPr lang="en-US" dirty="0"/>
          </a:p>
        </p:txBody>
      </p:sp>
      <p:sp>
        <p:nvSpPr>
          <p:cNvPr id="5" name="Footer Placeholder 4"/>
          <p:cNvSpPr>
            <a:spLocks noGrp="1"/>
          </p:cNvSpPr>
          <p:nvPr>
            <p:ph type="ftr" sz="quarter" idx="3"/>
          </p:nvPr>
        </p:nvSpPr>
        <p:spPr>
          <a:xfrm>
            <a:off x="2170173" y="4840039"/>
            <a:ext cx="4710623" cy="303461"/>
          </a:xfrm>
          <a:prstGeom prst="rect">
            <a:avLst/>
          </a:prstGeom>
        </p:spPr>
        <p:txBody>
          <a:bodyPr vert="horz" lIns="91440" tIns="45720" rIns="91440" bIns="45720" rtlCol="0" anchor="ctr"/>
          <a:lstStyle>
            <a:lvl1pPr algn="l">
              <a:defRPr sz="9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7104552" y="4840039"/>
            <a:ext cx="1197219" cy="303461"/>
          </a:xfrm>
          <a:prstGeom prst="rect">
            <a:avLst/>
          </a:prstGeom>
        </p:spPr>
        <p:txBody>
          <a:bodyPr vert="horz" lIns="91440" tIns="45720" rIns="91440" bIns="45720" rtlCol="0" anchor="ctr"/>
          <a:lstStyle>
            <a:lvl1pPr algn="r">
              <a:defRPr sz="900" baseline="0">
                <a:solidFill>
                  <a:schemeClr val="tx2"/>
                </a:solidFill>
              </a:defRPr>
            </a:lvl1pPr>
          </a:lstStyle>
          <a:p>
            <a:pPr marL="0" lvl="0" indent="0" algn="r" rtl="0">
              <a:spcBef>
                <a:spcPts val="0"/>
              </a:spcBef>
              <a:spcAft>
                <a:spcPts val="0"/>
              </a:spcAft>
              <a:buNone/>
            </a:pPr>
            <a:fld id="{00000000-1234-1234-1234-123412341234}" type="slidenum">
              <a:rPr lang="en-GB" smtClean="0"/>
              <a:t>‹#›</a:t>
            </a:fld>
            <a:endParaRPr lang="en-GB"/>
          </a:p>
        </p:txBody>
      </p:sp>
      <p:sp>
        <p:nvSpPr>
          <p:cNvPr id="9" name="Rectangle 8" title="Side bar"/>
          <p:cNvSpPr/>
          <p:nvPr/>
        </p:nvSpPr>
        <p:spPr>
          <a:xfrm>
            <a:off x="358571" y="282"/>
            <a:ext cx="17145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2946370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ransition spd="med">
    <p:pull/>
  </p:transition>
  <p:hf sldNum="0" hdr="0" ftr="0" dt="0"/>
  <p:txStyles>
    <p:titleStyle>
      <a:lvl1pPr algn="l" defTabSz="685800" rtl="0" eaLnBrk="1" latinLnBrk="0" hangingPunct="1">
        <a:lnSpc>
          <a:spcPct val="89000"/>
        </a:lnSpc>
        <a:spcBef>
          <a:spcPct val="0"/>
        </a:spcBef>
        <a:buNone/>
        <a:defRPr sz="3300" kern="1200" baseline="0">
          <a:solidFill>
            <a:schemeClr val="tx2"/>
          </a:solidFill>
          <a:latin typeface="+mj-lt"/>
          <a:ea typeface="+mj-ea"/>
          <a:cs typeface="+mj-cs"/>
        </a:defRPr>
      </a:lvl1pPr>
    </p:titleStyle>
    <p:bodyStyle>
      <a:lvl1pPr marL="288036" indent="-288036" algn="l" defTabSz="685800" rtl="0" eaLnBrk="1" latinLnBrk="0" hangingPunct="1">
        <a:lnSpc>
          <a:spcPct val="94000"/>
        </a:lnSpc>
        <a:spcBef>
          <a:spcPts val="750"/>
        </a:spcBef>
        <a:spcAft>
          <a:spcPts val="150"/>
        </a:spcAft>
        <a:buFont typeface="Franklin Gothic Book" panose="020B0503020102020204" pitchFamily="34" charset="0"/>
        <a:buChar char="■"/>
        <a:defRPr sz="1500" kern="1200" baseline="0">
          <a:solidFill>
            <a:schemeClr val="tx2"/>
          </a:solidFill>
          <a:latin typeface="+mn-lt"/>
          <a:ea typeface="+mn-ea"/>
          <a:cs typeface="+mn-cs"/>
        </a:defRPr>
      </a:lvl1pPr>
      <a:lvl2pPr marL="685800" indent="-288036" algn="l" defTabSz="685800" rtl="0" eaLnBrk="1" latinLnBrk="0" hangingPunct="1">
        <a:lnSpc>
          <a:spcPct val="94000"/>
        </a:lnSpc>
        <a:spcBef>
          <a:spcPts val="375"/>
        </a:spcBef>
        <a:spcAft>
          <a:spcPts val="150"/>
        </a:spcAft>
        <a:buFont typeface="Franklin Gothic Book" panose="020B0503020102020204" pitchFamily="34" charset="0"/>
        <a:buChar char="–"/>
        <a:defRPr sz="1500" i="1" kern="1200" baseline="0">
          <a:solidFill>
            <a:schemeClr val="tx2"/>
          </a:solidFill>
          <a:latin typeface="+mn-lt"/>
          <a:ea typeface="+mn-ea"/>
          <a:cs typeface="+mn-cs"/>
        </a:defRPr>
      </a:lvl2pPr>
      <a:lvl3pPr marL="1028700" indent="-288036" algn="l" defTabSz="685800" rtl="0" eaLnBrk="1" latinLnBrk="0" hangingPunct="1">
        <a:lnSpc>
          <a:spcPct val="94000"/>
        </a:lnSpc>
        <a:spcBef>
          <a:spcPts val="375"/>
        </a:spcBef>
        <a:spcAft>
          <a:spcPts val="150"/>
        </a:spcAft>
        <a:buFont typeface="Franklin Gothic Book" panose="020B0503020102020204" pitchFamily="34" charset="0"/>
        <a:buChar char="■"/>
        <a:defRPr sz="1350" kern="1200" baseline="0">
          <a:solidFill>
            <a:schemeClr val="tx2"/>
          </a:solidFill>
          <a:latin typeface="+mn-lt"/>
          <a:ea typeface="+mn-ea"/>
          <a:cs typeface="+mn-cs"/>
        </a:defRPr>
      </a:lvl3pPr>
      <a:lvl4pPr marL="1371600" indent="-288036" algn="l" defTabSz="685800" rtl="0" eaLnBrk="1" latinLnBrk="0" hangingPunct="1">
        <a:lnSpc>
          <a:spcPct val="94000"/>
        </a:lnSpc>
        <a:spcBef>
          <a:spcPts val="375"/>
        </a:spcBef>
        <a:spcAft>
          <a:spcPts val="150"/>
        </a:spcAft>
        <a:buFont typeface="Franklin Gothic Book" panose="020B0503020102020204" pitchFamily="34" charset="0"/>
        <a:buChar char="–"/>
        <a:defRPr sz="1350" i="1" kern="1200" baseline="0">
          <a:solidFill>
            <a:schemeClr val="tx2"/>
          </a:solidFill>
          <a:latin typeface="+mn-lt"/>
          <a:ea typeface="+mn-ea"/>
          <a:cs typeface="+mn-cs"/>
        </a:defRPr>
      </a:lvl4pPr>
      <a:lvl5pPr marL="1714500" indent="-288036" algn="l" defTabSz="685800" rtl="0" eaLnBrk="1" latinLnBrk="0" hangingPunct="1">
        <a:lnSpc>
          <a:spcPct val="94000"/>
        </a:lnSpc>
        <a:spcBef>
          <a:spcPts val="375"/>
        </a:spcBef>
        <a:spcAft>
          <a:spcPts val="150"/>
        </a:spcAft>
        <a:buFont typeface="Franklin Gothic Book" panose="020B0503020102020204" pitchFamily="34" charset="0"/>
        <a:buChar char="■"/>
        <a:defRPr sz="1200" kern="1200" baseline="0">
          <a:solidFill>
            <a:schemeClr val="tx2"/>
          </a:solidFill>
          <a:latin typeface="+mn-lt"/>
          <a:ea typeface="+mn-ea"/>
          <a:cs typeface="+mn-cs"/>
        </a:defRPr>
      </a:lvl5pPr>
      <a:lvl6pPr marL="2057400" indent="-288036" algn="l" defTabSz="685800" rtl="0" eaLnBrk="1" latinLnBrk="0" hangingPunct="1">
        <a:lnSpc>
          <a:spcPct val="94000"/>
        </a:lnSpc>
        <a:spcBef>
          <a:spcPts val="375"/>
        </a:spcBef>
        <a:spcAft>
          <a:spcPts val="150"/>
        </a:spcAft>
        <a:buFont typeface="Franklin Gothic Book" panose="020B0503020102020204" pitchFamily="34" charset="0"/>
        <a:buChar char="–"/>
        <a:defRPr sz="1200" i="1" kern="1200" baseline="0">
          <a:solidFill>
            <a:schemeClr val="tx2"/>
          </a:solidFill>
          <a:latin typeface="+mn-lt"/>
          <a:ea typeface="+mn-ea"/>
          <a:cs typeface="+mn-cs"/>
        </a:defRPr>
      </a:lvl6pPr>
      <a:lvl7pPr marL="2400300" indent="-288036" algn="l" defTabSz="685800" rtl="0" eaLnBrk="1" latinLnBrk="0" hangingPunct="1">
        <a:lnSpc>
          <a:spcPct val="94000"/>
        </a:lnSpc>
        <a:spcBef>
          <a:spcPts val="375"/>
        </a:spcBef>
        <a:spcAft>
          <a:spcPts val="150"/>
        </a:spcAft>
        <a:buFont typeface="Franklin Gothic Book" panose="020B0503020102020204" pitchFamily="34" charset="0"/>
        <a:buChar char="■"/>
        <a:defRPr sz="1050" kern="1200" baseline="0">
          <a:solidFill>
            <a:schemeClr val="tx2"/>
          </a:solidFill>
          <a:latin typeface="+mn-lt"/>
          <a:ea typeface="+mn-ea"/>
          <a:cs typeface="+mn-cs"/>
        </a:defRPr>
      </a:lvl7pPr>
      <a:lvl8pPr marL="2743200" indent="-288036" algn="l" defTabSz="685800" rtl="0" eaLnBrk="1" latinLnBrk="0" hangingPunct="1">
        <a:lnSpc>
          <a:spcPct val="94000"/>
        </a:lnSpc>
        <a:spcBef>
          <a:spcPts val="375"/>
        </a:spcBef>
        <a:spcAft>
          <a:spcPts val="150"/>
        </a:spcAft>
        <a:buFont typeface="Franklin Gothic Book" panose="020B0503020102020204" pitchFamily="34" charset="0"/>
        <a:buChar char="–"/>
        <a:defRPr sz="1050" i="1" kern="1200" baseline="0">
          <a:solidFill>
            <a:schemeClr val="tx2"/>
          </a:solidFill>
          <a:latin typeface="+mn-lt"/>
          <a:ea typeface="+mn-ea"/>
          <a:cs typeface="+mn-cs"/>
        </a:defRPr>
      </a:lvl8pPr>
      <a:lvl9pPr marL="3086100" indent="-288036" algn="l" defTabSz="685800" rtl="0" eaLnBrk="1" latinLnBrk="0" hangingPunct="1">
        <a:lnSpc>
          <a:spcPct val="94000"/>
        </a:lnSpc>
        <a:spcBef>
          <a:spcPts val="375"/>
        </a:spcBef>
        <a:spcAft>
          <a:spcPts val="150"/>
        </a:spcAft>
        <a:buFont typeface="Franklin Gothic Book" panose="020B0503020102020204" pitchFamily="34" charset="0"/>
        <a:buChar char="■"/>
        <a:defRPr sz="1050" kern="1200" baseline="0">
          <a:solidFill>
            <a:schemeClr val="tx2"/>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GB" sz="2800">
                <a:latin typeface="Times New Roman"/>
                <a:ea typeface="Times New Roman"/>
                <a:cs typeface="Times New Roman"/>
                <a:sym typeface="Times New Roman"/>
              </a:rPr>
              <a:t>Understanding Injury Risk on the Road: A Cluster-Based Analysis of Behavioural and Structural Factors</a:t>
            </a:r>
            <a:endParaRPr/>
          </a:p>
        </p:txBody>
      </p:sp>
      <p:sp>
        <p:nvSpPr>
          <p:cNvPr id="55" name="Google Shape;55;p13"/>
          <p:cNvSpPr txBox="1"/>
          <p:nvPr/>
        </p:nvSpPr>
        <p:spPr>
          <a:xfrm>
            <a:off x="1800000" y="2871025"/>
            <a:ext cx="5400000" cy="632579"/>
          </a:xfrm>
          <a:prstGeom prst="rect">
            <a:avLst/>
          </a:prstGeom>
          <a:noFill/>
          <a:ln>
            <a:noFill/>
          </a:ln>
        </p:spPr>
        <p:txBody>
          <a:bodyPr spcFirstLastPara="1" wrap="square" lIns="91425" tIns="91425" rIns="91425" bIns="91425" anchor="t" anchorCtr="0">
            <a:spAutoFit/>
          </a:bodyPr>
          <a:lstStyle/>
          <a:p>
            <a:pPr marL="0" marR="0" lvl="0" indent="0" algn="ctr" rtl="0">
              <a:lnSpc>
                <a:spcPct val="190000"/>
              </a:lnSpc>
              <a:spcBef>
                <a:spcPts val="0"/>
              </a:spcBef>
              <a:spcAft>
                <a:spcPts val="0"/>
              </a:spcAft>
              <a:buNone/>
            </a:pPr>
            <a:r>
              <a:rPr lang="en-GB" sz="1532" dirty="0">
                <a:solidFill>
                  <a:schemeClr val="dk1"/>
                </a:solidFill>
              </a:rPr>
              <a:t>Tianrui Che</a:t>
            </a:r>
            <a:r>
              <a:rPr lang="en-US" altLang="zh-CN" sz="1532" dirty="0">
                <a:solidFill>
                  <a:schemeClr val="dk1"/>
                </a:solidFill>
              </a:rPr>
              <a:t>n,</a:t>
            </a:r>
            <a:r>
              <a:rPr lang="en-GB" sz="1532" dirty="0" err="1">
                <a:solidFill>
                  <a:schemeClr val="dk1"/>
                </a:solidFill>
              </a:rPr>
              <a:t>Xinping</a:t>
            </a:r>
            <a:r>
              <a:rPr lang="en-GB" sz="1532" dirty="0">
                <a:solidFill>
                  <a:schemeClr val="dk1"/>
                </a:solidFill>
              </a:rPr>
              <a:t> </a:t>
            </a:r>
            <a:r>
              <a:rPr lang="en-GB" sz="1532" dirty="0" err="1">
                <a:solidFill>
                  <a:schemeClr val="dk1"/>
                </a:solidFill>
              </a:rPr>
              <a:t>Ouy</a:t>
            </a:r>
            <a:r>
              <a:rPr lang="en-US" altLang="zh-CN" sz="1532" dirty="0">
                <a:solidFill>
                  <a:schemeClr val="dk1"/>
                </a:solidFill>
              </a:rPr>
              <a:t>ang</a:t>
            </a:r>
            <a:r>
              <a:rPr lang="en-GB" sz="1532" dirty="0">
                <a:solidFill>
                  <a:schemeClr val="dk1"/>
                </a:solidFill>
              </a:rPr>
              <a:t>, Kunze Lyu, Na Yu</a:t>
            </a:r>
            <a:endParaRPr sz="1700" dirty="0">
              <a:solidFill>
                <a:schemeClr val="dk2"/>
              </a:solidFill>
            </a:endParaRPr>
          </a:p>
        </p:txBody>
      </p:sp>
    </p:spTree>
  </p:cSld>
  <p:clrMapOvr>
    <a:masterClrMapping/>
  </p:clrMapOvr>
  <p:transition spd="med">
    <p:pull/>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Shape 59"/>
        <p:cNvGrpSpPr/>
        <p:nvPr/>
      </p:nvGrpSpPr>
      <p:grpSpPr>
        <a:xfrm>
          <a:off x="0" y="0"/>
          <a:ext cx="0" cy="0"/>
          <a:chOff x="0" y="0"/>
          <a:chExt cx="0" cy="0"/>
        </a:xfrm>
      </p:grpSpPr>
      <p:sp>
        <p:nvSpPr>
          <p:cNvPr id="66" name="Rectangle 65">
            <a:extLst>
              <a:ext uri="{FF2B5EF4-FFF2-40B4-BE49-F238E27FC236}">
                <a16:creationId xmlns:a16="http://schemas.microsoft.com/office/drawing/2014/main" id="{2A97F59D-628C-4053-B41F-489D0045FD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571" y="282"/>
            <a:ext cx="17145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68" name="Rectangle 67">
            <a:extLst>
              <a:ext uri="{FF2B5EF4-FFF2-40B4-BE49-F238E27FC236}">
                <a16:creationId xmlns:a16="http://schemas.microsoft.com/office/drawing/2014/main" id="{3362DFFC-4DCC-48EE-B781-94D04B95F1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2"/>
            <a:ext cx="3977640" cy="51432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60" name="Google Shape;60;p14"/>
          <p:cNvSpPr txBox="1">
            <a:spLocks noGrp="1"/>
          </p:cNvSpPr>
          <p:nvPr>
            <p:ph type="title"/>
          </p:nvPr>
        </p:nvSpPr>
        <p:spPr>
          <a:xfrm>
            <a:off x="480060" y="593677"/>
            <a:ext cx="3014130" cy="3946793"/>
          </a:xfrm>
          <a:prstGeom prst="rect">
            <a:avLst/>
          </a:prstGeom>
        </p:spPr>
        <p:txBody>
          <a:bodyPr spcFirstLastPara="1" vert="horz" lIns="91440" tIns="45720" rIns="91440" bIns="45720" rtlCol="0" anchor="ctr" anchorCtr="0">
            <a:normAutofit/>
          </a:bodyPr>
          <a:lstStyle/>
          <a:p>
            <a:pPr marL="0" lvl="0" indent="0" algn="r" defTabSz="914400">
              <a:spcBef>
                <a:spcPct val="0"/>
              </a:spcBef>
              <a:spcAft>
                <a:spcPts val="0"/>
              </a:spcAft>
            </a:pPr>
            <a:r>
              <a:rPr lang="en-US" sz="4100">
                <a:solidFill>
                  <a:schemeClr val="bg2"/>
                </a:solidFill>
              </a:rPr>
              <a:t>Introduction</a:t>
            </a:r>
          </a:p>
        </p:txBody>
      </p:sp>
      <p:sp>
        <p:nvSpPr>
          <p:cNvPr id="70" name="Rectangle 69">
            <a:extLst>
              <a:ext uri="{FF2B5EF4-FFF2-40B4-BE49-F238E27FC236}">
                <a16:creationId xmlns:a16="http://schemas.microsoft.com/office/drawing/2014/main" id="{18B8B265-E68C-4B64-9238-781F0102C5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7640" y="282"/>
            <a:ext cx="171450" cy="51435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61" name="Google Shape;61;p14"/>
          <p:cNvSpPr txBox="1">
            <a:spLocks noGrp="1"/>
          </p:cNvSpPr>
          <p:nvPr>
            <p:ph type="body" idx="1"/>
          </p:nvPr>
        </p:nvSpPr>
        <p:spPr>
          <a:xfrm>
            <a:off x="4632540" y="593677"/>
            <a:ext cx="3669231" cy="4166102"/>
          </a:xfrm>
          <a:prstGeom prst="rect">
            <a:avLst/>
          </a:prstGeom>
        </p:spPr>
        <p:txBody>
          <a:bodyPr spcFirstLastPara="1" vert="horz" lIns="91440" tIns="45720" rIns="91440" bIns="45720" rtlCol="0" anchor="ctr" anchorCtr="0">
            <a:normAutofit fontScale="92500" lnSpcReduction="10000"/>
          </a:bodyPr>
          <a:lstStyle/>
          <a:p>
            <a:pPr marL="457200" lvl="0" indent="-384048" defTabSz="914400">
              <a:spcBef>
                <a:spcPts val="0"/>
              </a:spcBef>
              <a:spcAft>
                <a:spcPts val="200"/>
              </a:spcAft>
              <a:buSzPts val="1800"/>
              <a:buFont typeface="Franklin Gothic Book" panose="020B0503020102020204" pitchFamily="34" charset="0"/>
              <a:buAutoNum type="arabicPeriod"/>
            </a:pPr>
            <a:r>
              <a:rPr lang="en-US" sz="2000" dirty="0"/>
              <a:t>Research question: </a:t>
            </a:r>
          </a:p>
          <a:p>
            <a:pPr marL="0" lvl="0" indent="-384048" defTabSz="914400">
              <a:spcBef>
                <a:spcPts val="1200"/>
              </a:spcBef>
              <a:spcAft>
                <a:spcPts val="200"/>
              </a:spcAft>
              <a:buFont typeface="Franklin Gothic Book" panose="020B0503020102020204" pitchFamily="34" charset="0"/>
              <a:buNone/>
            </a:pPr>
            <a:r>
              <a:rPr lang="en-US" sz="1900" dirty="0"/>
              <a:t>How do the use of seat belts, seat positions and vehicle types affect the severity of injuries? Which high-risk road users can be identified through clustering?</a:t>
            </a:r>
          </a:p>
          <a:p>
            <a:pPr marL="457200" lvl="0" indent="-384048" defTabSz="914400">
              <a:spcBef>
                <a:spcPts val="1200"/>
              </a:spcBef>
              <a:spcAft>
                <a:spcPts val="200"/>
              </a:spcAft>
              <a:buClr>
                <a:schemeClr val="dk1"/>
              </a:buClr>
              <a:buSzPts val="1300"/>
              <a:buFont typeface="Franklin Gothic Book" panose="020B0503020102020204" pitchFamily="34" charset="0"/>
              <a:buChar char="●"/>
            </a:pPr>
            <a:r>
              <a:rPr lang="en-US" sz="1100" dirty="0">
                <a:sym typeface="Times New Roman"/>
              </a:rPr>
              <a:t>This report investigates how the use of seat belts—such as whether they were worn or not—relates to injury outcomes. </a:t>
            </a:r>
          </a:p>
          <a:p>
            <a:pPr marL="457200" lvl="0" indent="-384048" defTabSz="914400">
              <a:spcBef>
                <a:spcPts val="0"/>
              </a:spcBef>
              <a:spcAft>
                <a:spcPts val="200"/>
              </a:spcAft>
              <a:buClr>
                <a:schemeClr val="dk1"/>
              </a:buClr>
              <a:buSzPts val="1300"/>
              <a:buFont typeface="Franklin Gothic Book" panose="020B0503020102020204" pitchFamily="34" charset="0"/>
              <a:buChar char="●"/>
            </a:pPr>
            <a:r>
              <a:rPr lang="en-US" sz="1100" dirty="0">
                <a:sym typeface="Times New Roman"/>
              </a:rPr>
              <a:t>It also analyses how the position of the passenger within the vehicle, for example, sitting in the front versus sitting in the rear, affects injury severity. </a:t>
            </a:r>
          </a:p>
          <a:p>
            <a:pPr marL="457200" lvl="0" indent="-384048" defTabSz="914400">
              <a:spcBef>
                <a:spcPts val="0"/>
              </a:spcBef>
              <a:spcAft>
                <a:spcPts val="200"/>
              </a:spcAft>
              <a:buClr>
                <a:schemeClr val="dk1"/>
              </a:buClr>
              <a:buSzPts val="1300"/>
              <a:buFont typeface="Franklin Gothic Book" panose="020B0503020102020204" pitchFamily="34" charset="0"/>
              <a:buChar char="●"/>
            </a:pPr>
            <a:r>
              <a:rPr lang="en-US" sz="1100" dirty="0">
                <a:sym typeface="Times New Roman"/>
              </a:rPr>
              <a:t>Additionally, we examine the role of various vehicle types in accidents, including common passenger cars, taxis, utilities, station wagons, panel vans, prime movers, heavy vehicles, and other light commercial vehicles. </a:t>
            </a:r>
          </a:p>
          <a:p>
            <a:pPr marL="457200" lvl="0" indent="-384048" defTabSz="914400">
              <a:spcBef>
                <a:spcPts val="0"/>
              </a:spcBef>
              <a:spcAft>
                <a:spcPts val="200"/>
              </a:spcAft>
              <a:buClr>
                <a:schemeClr val="dk1"/>
              </a:buClr>
              <a:buSzPts val="1300"/>
              <a:buFont typeface="Franklin Gothic Book" panose="020B0503020102020204" pitchFamily="34" charset="0"/>
              <a:buChar char="●"/>
            </a:pPr>
            <a:r>
              <a:rPr lang="en-US" sz="1100" dirty="0">
                <a:sym typeface="Times New Roman"/>
              </a:rPr>
              <a:t>By combining these factors, we aim to identify patterns that help pinpoint high-risk road users. </a:t>
            </a:r>
          </a:p>
          <a:p>
            <a:pPr marL="457200" lvl="0" indent="-384048" defTabSz="914400">
              <a:spcBef>
                <a:spcPts val="0"/>
              </a:spcBef>
              <a:spcAft>
                <a:spcPts val="200"/>
              </a:spcAft>
              <a:buClr>
                <a:schemeClr val="dk1"/>
              </a:buClr>
              <a:buSzPts val="1300"/>
              <a:buFont typeface="Franklin Gothic Book" panose="020B0503020102020204" pitchFamily="34" charset="0"/>
              <a:buChar char="●"/>
            </a:pPr>
            <a:r>
              <a:rPr lang="en-US" sz="1100" dirty="0">
                <a:sym typeface="Times New Roman"/>
              </a:rPr>
              <a:t>Clustering techniques are also applied to detect groups of individuals who share similar characteristics and face higher injury risks in crashes. </a:t>
            </a:r>
            <a:endParaRPr lang="en-US" sz="1100" dirty="0"/>
          </a:p>
        </p:txBody>
      </p:sp>
    </p:spTree>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Shape 65"/>
        <p:cNvGrpSpPr/>
        <p:nvPr/>
      </p:nvGrpSpPr>
      <p:grpSpPr>
        <a:xfrm>
          <a:off x="0" y="0"/>
          <a:ext cx="0" cy="0"/>
          <a:chOff x="0" y="0"/>
          <a:chExt cx="0" cy="0"/>
        </a:xfrm>
      </p:grpSpPr>
      <p:sp>
        <p:nvSpPr>
          <p:cNvPr id="73" name="Rectangle 72">
            <a:extLst>
              <a:ext uri="{FF2B5EF4-FFF2-40B4-BE49-F238E27FC236}">
                <a16:creationId xmlns:a16="http://schemas.microsoft.com/office/drawing/2014/main" id="{0E807223-DF88-4D6D-970E-08919E5E02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571" y="282"/>
            <a:ext cx="17145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75" name="Rectangle 74">
            <a:extLst>
              <a:ext uri="{FF2B5EF4-FFF2-40B4-BE49-F238E27FC236}">
                <a16:creationId xmlns:a16="http://schemas.microsoft.com/office/drawing/2014/main" id="{699C17EF-9F98-4D0C-A74B-FA23A50AD3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Google Shape;66;p15"/>
          <p:cNvSpPr txBox="1">
            <a:spLocks noGrp="1"/>
          </p:cNvSpPr>
          <p:nvPr>
            <p:ph type="title"/>
          </p:nvPr>
        </p:nvSpPr>
        <p:spPr>
          <a:xfrm>
            <a:off x="3825617" y="514351"/>
            <a:ext cx="4959811" cy="905954"/>
          </a:xfrm>
          <a:prstGeom prst="rect">
            <a:avLst/>
          </a:prstGeom>
        </p:spPr>
        <p:txBody>
          <a:bodyPr spcFirstLastPara="1" vert="horz" lIns="91440" tIns="45720" rIns="91440" bIns="45720" rtlCol="0" anchor="t" anchorCtr="0">
            <a:normAutofit/>
          </a:bodyPr>
          <a:lstStyle/>
          <a:p>
            <a:pPr marL="0" lvl="0" indent="0" defTabSz="914400">
              <a:spcBef>
                <a:spcPct val="0"/>
              </a:spcBef>
              <a:spcAft>
                <a:spcPts val="0"/>
              </a:spcAft>
            </a:pPr>
            <a:r>
              <a:rPr lang="en-US" sz="2800" dirty="0"/>
              <a:t>Correlation to road accident policy makers or implementor</a:t>
            </a:r>
          </a:p>
        </p:txBody>
      </p:sp>
      <p:pic>
        <p:nvPicPr>
          <p:cNvPr id="69" name="Picture 68" descr="停成列的汽车">
            <a:extLst>
              <a:ext uri="{FF2B5EF4-FFF2-40B4-BE49-F238E27FC236}">
                <a16:creationId xmlns:a16="http://schemas.microsoft.com/office/drawing/2014/main" id="{3F768CAC-C0C2-5B60-E9D0-D275665D835B}"/>
              </a:ext>
            </a:extLst>
          </p:cNvPr>
          <p:cNvPicPr>
            <a:picLocks noChangeAspect="1"/>
          </p:cNvPicPr>
          <p:nvPr/>
        </p:nvPicPr>
        <p:blipFill>
          <a:blip r:embed="rId3">
            <a:grayscl/>
          </a:blip>
          <a:srcRect l="38254" r="11416"/>
          <a:stretch>
            <a:fillRect/>
          </a:stretch>
        </p:blipFill>
        <p:spPr>
          <a:xfrm>
            <a:off x="20" y="10"/>
            <a:ext cx="3451588" cy="5143490"/>
          </a:xfrm>
          <a:prstGeom prst="rect">
            <a:avLst/>
          </a:prstGeom>
        </p:spPr>
      </p:pic>
      <p:sp>
        <p:nvSpPr>
          <p:cNvPr id="77" name="Rectangle 76">
            <a:extLst>
              <a:ext uri="{FF2B5EF4-FFF2-40B4-BE49-F238E27FC236}">
                <a16:creationId xmlns:a16="http://schemas.microsoft.com/office/drawing/2014/main" id="{ECE34936-B6F6-4892-93D7-48FAA43F3B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51608" cy="5143500"/>
          </a:xfrm>
          <a:prstGeom prst="rect">
            <a:avLst/>
          </a:prstGeom>
          <a:gradFill flip="none" rotWithShape="1">
            <a:gsLst>
              <a:gs pos="30000">
                <a:schemeClr val="tx2">
                  <a:alpha val="70000"/>
                </a:schemeClr>
              </a:gs>
              <a:gs pos="100000">
                <a:schemeClr val="tx2"/>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94F17385-8DC0-437B-80A6-4E608B5AC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80158" y="282"/>
            <a:ext cx="17145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67" name="Google Shape;67;p15"/>
          <p:cNvSpPr txBox="1">
            <a:spLocks noGrp="1"/>
          </p:cNvSpPr>
          <p:nvPr>
            <p:ph type="body" idx="1"/>
          </p:nvPr>
        </p:nvSpPr>
        <p:spPr>
          <a:xfrm>
            <a:off x="3825618" y="1420586"/>
            <a:ext cx="5138768" cy="3265714"/>
          </a:xfrm>
          <a:prstGeom prst="rect">
            <a:avLst/>
          </a:prstGeom>
        </p:spPr>
        <p:txBody>
          <a:bodyPr spcFirstLastPara="1" vert="horz" lIns="91440" tIns="45720" rIns="91440" bIns="45720" rtlCol="0" anchorCtr="0">
            <a:normAutofit fontScale="70000" lnSpcReduction="20000"/>
          </a:bodyPr>
          <a:lstStyle/>
          <a:p>
            <a:pPr marL="384048" lvl="0" indent="-384048" defTabSz="914400">
              <a:spcBef>
                <a:spcPts val="1200"/>
              </a:spcBef>
              <a:spcAft>
                <a:spcPts val="200"/>
              </a:spcAft>
              <a:buSzPct val="100000"/>
              <a:buFont typeface="Franklin Gothic Book" panose="020B0503020102020204" pitchFamily="34" charset="0"/>
              <a:buChar char="●"/>
            </a:pPr>
            <a:r>
              <a:rPr lang="en-US" sz="1900" b="1" dirty="0"/>
              <a:t>Seating position:</a:t>
            </a:r>
            <a:r>
              <a:rPr lang="en-US" sz="1900" dirty="0"/>
              <a:t> Most people wearing seat belts are likely divers or front-row passengers, and they were at a higher risk when the car crash occurred.  Although they wore seat belts, they were close to common collision types, especially in the frontal collision, resulting in a higher injury rate. Our results provides empirical support for </a:t>
            </a:r>
            <a:r>
              <a:rPr lang="en-US" sz="1900" b="1" dirty="0"/>
              <a:t>promoting rear seat occupancy,</a:t>
            </a:r>
            <a:r>
              <a:rPr lang="en-US" sz="1900" dirty="0"/>
              <a:t> and explained why </a:t>
            </a:r>
            <a:r>
              <a:rPr lang="en-US" sz="1900" b="1" dirty="0"/>
              <a:t>children and elder people</a:t>
            </a:r>
            <a:r>
              <a:rPr lang="en-US" sz="1900" dirty="0"/>
              <a:t> are suggested to seat in the rear seats.</a:t>
            </a:r>
          </a:p>
          <a:p>
            <a:pPr marL="384048" lvl="0" indent="-384048" defTabSz="914400">
              <a:spcBef>
                <a:spcPts val="1200"/>
              </a:spcBef>
              <a:spcAft>
                <a:spcPts val="200"/>
              </a:spcAft>
              <a:buSzPct val="100000"/>
              <a:buFont typeface="Franklin Gothic Book" panose="020B0503020102020204" pitchFamily="34" charset="0"/>
              <a:buChar char="●"/>
            </a:pPr>
            <a:r>
              <a:rPr lang="en-US" sz="1900" b="1" dirty="0"/>
              <a:t>Vehicle type:</a:t>
            </a:r>
            <a:r>
              <a:rPr lang="en-US" sz="1900" dirty="0"/>
              <a:t> the type of vehicle plays an important role in the</a:t>
            </a:r>
            <a:r>
              <a:rPr lang="en-US" sz="1900" b="1" dirty="0"/>
              <a:t> severity of injuries. </a:t>
            </a:r>
            <a:r>
              <a:rPr lang="en-US" sz="1900" dirty="0"/>
              <a:t> Passengers in large vehicles benefit from stronger </a:t>
            </a:r>
            <a:r>
              <a:rPr lang="en-US" sz="1900" b="1" dirty="0"/>
              <a:t>structural protection and higher seat positions</a:t>
            </a:r>
            <a:r>
              <a:rPr lang="en-US" sz="1900" dirty="0"/>
              <a:t>, </a:t>
            </a:r>
            <a:r>
              <a:rPr lang="en-US" sz="1900" b="1" dirty="0"/>
              <a:t>reducing the risk of injury</a:t>
            </a:r>
            <a:r>
              <a:rPr lang="en-US" sz="1900" dirty="0"/>
              <a:t>.  In contrast, smaller vehicles offer </a:t>
            </a:r>
            <a:r>
              <a:rPr lang="en-US" sz="1900" b="1" dirty="0"/>
              <a:t>less protection during collisions,</a:t>
            </a:r>
            <a:r>
              <a:rPr lang="en-US" sz="1900" dirty="0"/>
              <a:t> resulting in a higher injury rate.</a:t>
            </a:r>
          </a:p>
          <a:p>
            <a:pPr marL="384048" lvl="0" indent="-384048" defTabSz="914400">
              <a:spcBef>
                <a:spcPts val="1200"/>
              </a:spcBef>
              <a:spcAft>
                <a:spcPts val="200"/>
              </a:spcAft>
              <a:buSzPct val="100000"/>
              <a:buFont typeface="Franklin Gothic Book" panose="020B0503020102020204" pitchFamily="34" charset="0"/>
              <a:buChar char="●"/>
            </a:pPr>
            <a:r>
              <a:rPr lang="en-US" sz="1900" b="1" dirty="0"/>
              <a:t>Seatbelt usage : </a:t>
            </a:r>
            <a:r>
              <a:rPr lang="en-US" sz="1900" dirty="0"/>
              <a:t>The </a:t>
            </a:r>
            <a:r>
              <a:rPr lang="en-US" sz="1900" b="1" dirty="0"/>
              <a:t>protective role</a:t>
            </a:r>
            <a:r>
              <a:rPr lang="en-US" sz="1900" dirty="0"/>
              <a:t> of seat belts still cannot be ignored, especially in high-risk position and serious accidents, where seat belts can significantly reduce the degree of injury, Therefore, wearing a seat belt is one of the most effective ways to minimize the degree of injury. </a:t>
            </a:r>
          </a:p>
          <a:p>
            <a:pPr marL="384048" lvl="0" indent="-384048" defTabSz="914400">
              <a:spcBef>
                <a:spcPts val="1200"/>
              </a:spcBef>
              <a:spcAft>
                <a:spcPts val="200"/>
              </a:spcAft>
              <a:buFont typeface="Franklin Gothic Book" panose="020B0503020102020204" pitchFamily="34" charset="0"/>
              <a:buNone/>
            </a:pPr>
            <a:endParaRPr lang="en-US" sz="700" dirty="0"/>
          </a:p>
        </p:txBody>
      </p:sp>
    </p:spTree>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Shape 71"/>
        <p:cNvGrpSpPr/>
        <p:nvPr/>
      </p:nvGrpSpPr>
      <p:grpSpPr>
        <a:xfrm>
          <a:off x="0" y="0"/>
          <a:ext cx="0" cy="0"/>
          <a:chOff x="0" y="0"/>
          <a:chExt cx="0" cy="0"/>
        </a:xfrm>
      </p:grpSpPr>
      <p:sp>
        <p:nvSpPr>
          <p:cNvPr id="79" name="Rectangle 78">
            <a:extLst>
              <a:ext uri="{FF2B5EF4-FFF2-40B4-BE49-F238E27FC236}">
                <a16:creationId xmlns:a16="http://schemas.microsoft.com/office/drawing/2014/main" id="{0F90CED2-72DA-49F5-8068-294F7EEF13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571" y="282"/>
            <a:ext cx="17145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useBgFill="1">
        <p:nvSpPr>
          <p:cNvPr id="81" name="Rectangle 80">
            <a:extLst>
              <a:ext uri="{FF2B5EF4-FFF2-40B4-BE49-F238E27FC236}">
                <a16:creationId xmlns:a16="http://schemas.microsoft.com/office/drawing/2014/main" id="{30BC9609-A8AF-411F-A9E0-C3B93C8945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Google Shape;72;p16"/>
          <p:cNvSpPr txBox="1">
            <a:spLocks noGrp="1"/>
          </p:cNvSpPr>
          <p:nvPr>
            <p:ph type="title"/>
          </p:nvPr>
        </p:nvSpPr>
        <p:spPr>
          <a:xfrm>
            <a:off x="480060" y="479778"/>
            <a:ext cx="2474684" cy="4183380"/>
          </a:xfrm>
          <a:prstGeom prst="rect">
            <a:avLst/>
          </a:prstGeom>
          <a:noFill/>
          <a:ln>
            <a:noFill/>
          </a:ln>
        </p:spPr>
        <p:txBody>
          <a:bodyPr spcFirstLastPara="1" vert="horz" lIns="91440" tIns="45720" rIns="91440" bIns="45720" rtlCol="0" anchor="ctr" anchorCtr="0">
            <a:normAutofit/>
          </a:bodyPr>
          <a:lstStyle/>
          <a:p>
            <a:pPr marL="0" lvl="0" indent="0" algn="ctr" defTabSz="914400">
              <a:spcBef>
                <a:spcPct val="0"/>
              </a:spcBef>
              <a:spcAft>
                <a:spcPts val="0"/>
              </a:spcAft>
              <a:buSzPts val="990"/>
            </a:pPr>
            <a:r>
              <a:rPr lang="en-US" sz="2700" b="1" i="1" dirty="0">
                <a:solidFill>
                  <a:prstClr val="black">
                    <a:hueOff val="0"/>
                    <a:satOff val="0"/>
                    <a:lumOff val="0"/>
                    <a:alphaOff val="0"/>
                  </a:prstClr>
                </a:solidFill>
                <a:latin typeface="Franklin Gothic Book" panose="020B0503020102020204"/>
                <a:ea typeface="+mn-ea"/>
                <a:cs typeface="+mn-cs"/>
              </a:rPr>
              <a:t>Methodology overview</a:t>
            </a:r>
          </a:p>
        </p:txBody>
      </p:sp>
      <p:graphicFrame>
        <p:nvGraphicFramePr>
          <p:cNvPr id="75" name="Google Shape;73;p16">
            <a:extLst>
              <a:ext uri="{FF2B5EF4-FFF2-40B4-BE49-F238E27FC236}">
                <a16:creationId xmlns:a16="http://schemas.microsoft.com/office/drawing/2014/main" id="{CA902A4F-0303-87E5-8E40-09692421BCAC}"/>
              </a:ext>
            </a:extLst>
          </p:cNvPr>
          <p:cNvGraphicFramePr/>
          <p:nvPr>
            <p:extLst>
              <p:ext uri="{D42A27DB-BD31-4B8C-83A1-F6EECF244321}">
                <p14:modId xmlns:p14="http://schemas.microsoft.com/office/powerpoint/2010/main" val="3488249232"/>
              </p:ext>
            </p:extLst>
          </p:nvPr>
        </p:nvGraphicFramePr>
        <p:xfrm>
          <a:off x="3676104" y="479778"/>
          <a:ext cx="4879728" cy="41833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Shape 77"/>
        <p:cNvGrpSpPr/>
        <p:nvPr/>
      </p:nvGrpSpPr>
      <p:grpSpPr>
        <a:xfrm>
          <a:off x="0" y="0"/>
          <a:ext cx="0" cy="0"/>
          <a:chOff x="0" y="0"/>
          <a:chExt cx="0" cy="0"/>
        </a:xfrm>
      </p:grpSpPr>
      <p:sp>
        <p:nvSpPr>
          <p:cNvPr id="87" name="Rectangle 86">
            <a:extLst>
              <a:ext uri="{FF2B5EF4-FFF2-40B4-BE49-F238E27FC236}">
                <a16:creationId xmlns:a16="http://schemas.microsoft.com/office/drawing/2014/main" id="{0F90CED2-72DA-49F5-8068-294F7EEF13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571" y="282"/>
            <a:ext cx="17145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useBgFill="1">
        <p:nvSpPr>
          <p:cNvPr id="89" name="Rectangle 88">
            <a:extLst>
              <a:ext uri="{FF2B5EF4-FFF2-40B4-BE49-F238E27FC236}">
                <a16:creationId xmlns:a16="http://schemas.microsoft.com/office/drawing/2014/main" id="{1E1665A6-74DB-4F44-A6EF-F01205E871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ctr"/>
            <a:endParaRPr lang="en-US"/>
          </a:p>
        </p:txBody>
      </p:sp>
      <p:sp>
        <p:nvSpPr>
          <p:cNvPr id="78" name="Google Shape;78;p17"/>
          <p:cNvSpPr txBox="1">
            <a:spLocks noGrp="1"/>
          </p:cNvSpPr>
          <p:nvPr>
            <p:ph type="title"/>
          </p:nvPr>
        </p:nvSpPr>
        <p:spPr>
          <a:xfrm>
            <a:off x="482600" y="514350"/>
            <a:ext cx="8178799" cy="1114425"/>
          </a:xfrm>
          <a:prstGeom prst="rect">
            <a:avLst/>
          </a:prstGeom>
          <a:noFill/>
        </p:spPr>
        <p:txBody>
          <a:bodyPr spcFirstLastPara="1" vert="horz" lIns="91440" tIns="45720" rIns="91440" bIns="45720" rtlCol="0" anchor="t" anchorCtr="0">
            <a:normAutofit/>
          </a:bodyPr>
          <a:lstStyle/>
          <a:p>
            <a:pPr marL="0" lvl="0" indent="0" algn="ctr" defTabSz="914400">
              <a:spcBef>
                <a:spcPct val="0"/>
              </a:spcBef>
              <a:spcAft>
                <a:spcPts val="0"/>
              </a:spcAft>
              <a:buSzPts val="990"/>
            </a:pPr>
            <a:r>
              <a:rPr lang="en-US" sz="4400"/>
              <a:t>Data collection &amp; Merging</a:t>
            </a:r>
          </a:p>
          <a:p>
            <a:pPr marL="0" lvl="0" indent="0" algn="ctr" defTabSz="914400">
              <a:spcBef>
                <a:spcPct val="0"/>
              </a:spcBef>
              <a:spcAft>
                <a:spcPts val="0"/>
              </a:spcAft>
              <a:buSzPts val="990"/>
            </a:pPr>
            <a:endParaRPr lang="en-US" sz="4400" b="1" i="1"/>
          </a:p>
        </p:txBody>
      </p:sp>
      <p:sp>
        <p:nvSpPr>
          <p:cNvPr id="79" name="Google Shape;79;p17"/>
          <p:cNvSpPr txBox="1">
            <a:spLocks noGrp="1"/>
          </p:cNvSpPr>
          <p:nvPr>
            <p:ph type="body" idx="1"/>
          </p:nvPr>
        </p:nvSpPr>
        <p:spPr>
          <a:xfrm>
            <a:off x="358571" y="1142738"/>
            <a:ext cx="7976100" cy="1057800"/>
          </a:xfrm>
          <a:prstGeom prst="rect">
            <a:avLst/>
          </a:prstGeom>
        </p:spPr>
        <p:txBody>
          <a:bodyPr spcFirstLastPara="1" wrap="square" lIns="91425" tIns="91425" rIns="91425" bIns="91425" anchor="t" anchorCtr="0">
            <a:normAutofit/>
          </a:bodyPr>
          <a:lstStyle/>
          <a:p>
            <a:pPr marL="457200" lvl="0" indent="-342900" algn="l" rtl="0">
              <a:lnSpc>
                <a:spcPct val="150000"/>
              </a:lnSpc>
              <a:spcBef>
                <a:spcPts val="400"/>
              </a:spcBef>
              <a:spcAft>
                <a:spcPts val="0"/>
              </a:spcAft>
              <a:buClr>
                <a:schemeClr val="dk1"/>
              </a:buClr>
              <a:buSzPts val="1800"/>
              <a:buChar char="●"/>
            </a:pPr>
            <a:r>
              <a:rPr lang="en-GB" dirty="0">
                <a:solidFill>
                  <a:schemeClr val="dk1"/>
                </a:solidFill>
              </a:rPr>
              <a:t>Merged </a:t>
            </a:r>
            <a:r>
              <a:rPr lang="en-GB" b="1" i="1" dirty="0">
                <a:solidFill>
                  <a:schemeClr val="dk1"/>
                </a:solidFill>
              </a:rPr>
              <a:t>person.csv</a:t>
            </a:r>
            <a:r>
              <a:rPr lang="en-GB" dirty="0">
                <a:solidFill>
                  <a:schemeClr val="dk1"/>
                </a:solidFill>
              </a:rPr>
              <a:t> and </a:t>
            </a:r>
            <a:r>
              <a:rPr lang="en-GB" b="1" dirty="0">
                <a:solidFill>
                  <a:schemeClr val="dk1"/>
                </a:solidFill>
              </a:rPr>
              <a:t>vehicle.csv</a:t>
            </a:r>
            <a:r>
              <a:rPr lang="en-GB" dirty="0">
                <a:solidFill>
                  <a:schemeClr val="dk1"/>
                </a:solidFill>
              </a:rPr>
              <a:t>  by ACCIDENT_NO and VEHICLE_ID</a:t>
            </a:r>
          </a:p>
          <a:p>
            <a:pPr marL="457200" lvl="0" indent="-342900" algn="l" rtl="0">
              <a:lnSpc>
                <a:spcPct val="150000"/>
              </a:lnSpc>
              <a:spcBef>
                <a:spcPts val="0"/>
              </a:spcBef>
              <a:spcAft>
                <a:spcPts val="0"/>
              </a:spcAft>
              <a:buClr>
                <a:schemeClr val="dk1"/>
              </a:buClr>
              <a:buSzPts val="1800"/>
              <a:buChar char="●"/>
            </a:pPr>
            <a:r>
              <a:rPr lang="en-GB" dirty="0">
                <a:solidFill>
                  <a:schemeClr val="dk1"/>
                </a:solidFill>
              </a:rPr>
              <a:t>Selected key variables(seatbelt, seat position, injury, vehicle type)</a:t>
            </a:r>
            <a:endParaRPr dirty="0"/>
          </a:p>
        </p:txBody>
      </p:sp>
      <p:sp>
        <p:nvSpPr>
          <p:cNvPr id="80" name="Google Shape;80;p17"/>
          <p:cNvSpPr txBox="1"/>
          <p:nvPr/>
        </p:nvSpPr>
        <p:spPr>
          <a:xfrm>
            <a:off x="2117900" y="1896400"/>
            <a:ext cx="4402500" cy="523200"/>
          </a:xfrm>
          <a:prstGeom prst="rect">
            <a:avLst/>
          </a:prstGeom>
          <a:noFill/>
          <a:ln>
            <a:noFill/>
          </a:ln>
        </p:spPr>
        <p:txBody>
          <a:bodyPr spcFirstLastPara="1" wrap="square" lIns="91425" tIns="91425" rIns="91425" bIns="91425" anchor="t" anchorCtr="0">
            <a:spAutoFit/>
          </a:bodyPr>
          <a:lstStyle/>
          <a:p>
            <a:pPr marL="0" lvl="0" indent="0" algn="ctr" rtl="0">
              <a:lnSpc>
                <a:spcPct val="150000"/>
              </a:lnSpc>
              <a:spcBef>
                <a:spcPts val="0"/>
              </a:spcBef>
              <a:spcAft>
                <a:spcPts val="1200"/>
              </a:spcAft>
              <a:buNone/>
            </a:pPr>
            <a:r>
              <a:rPr lang="en-GB" sz="2200">
                <a:solidFill>
                  <a:srgbClr val="4A86E8"/>
                </a:solidFill>
              </a:rPr>
              <a:t>Cleaning &amp; Feature Engineering</a:t>
            </a:r>
            <a:endParaRPr sz="1600">
              <a:solidFill>
                <a:srgbClr val="4A86E8"/>
              </a:solidFill>
            </a:endParaRPr>
          </a:p>
        </p:txBody>
      </p:sp>
      <p:graphicFrame>
        <p:nvGraphicFramePr>
          <p:cNvPr id="84" name="Google Shape;81;p17">
            <a:extLst>
              <a:ext uri="{FF2B5EF4-FFF2-40B4-BE49-F238E27FC236}">
                <a16:creationId xmlns:a16="http://schemas.microsoft.com/office/drawing/2014/main" id="{A558D8E5-FE35-B3E5-86E7-6974A89275BA}"/>
              </a:ext>
            </a:extLst>
          </p:cNvPr>
          <p:cNvGraphicFramePr/>
          <p:nvPr>
            <p:extLst>
              <p:ext uri="{D42A27DB-BD31-4B8C-83A1-F6EECF244321}">
                <p14:modId xmlns:p14="http://schemas.microsoft.com/office/powerpoint/2010/main" val="2190995305"/>
              </p:ext>
            </p:extLst>
          </p:nvPr>
        </p:nvGraphicFramePr>
        <p:xfrm>
          <a:off x="842228" y="2043112"/>
          <a:ext cx="7459542" cy="26860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Shape 85"/>
        <p:cNvGrpSpPr/>
        <p:nvPr/>
      </p:nvGrpSpPr>
      <p:grpSpPr>
        <a:xfrm>
          <a:off x="0" y="0"/>
          <a:ext cx="0" cy="0"/>
          <a:chOff x="0" y="0"/>
          <a:chExt cx="0" cy="0"/>
        </a:xfrm>
      </p:grpSpPr>
      <p:sp>
        <p:nvSpPr>
          <p:cNvPr id="93" name="Rectangle 92">
            <a:extLst>
              <a:ext uri="{FF2B5EF4-FFF2-40B4-BE49-F238E27FC236}">
                <a16:creationId xmlns:a16="http://schemas.microsoft.com/office/drawing/2014/main" id="{2793B903-AB42-42A0-AE97-93D366679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571" y="282"/>
            <a:ext cx="17145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86" name="Google Shape;86;p18"/>
          <p:cNvSpPr txBox="1">
            <a:spLocks noGrp="1"/>
          </p:cNvSpPr>
          <p:nvPr>
            <p:ph type="title"/>
          </p:nvPr>
        </p:nvSpPr>
        <p:spPr>
          <a:xfrm>
            <a:off x="1028700" y="514350"/>
            <a:ext cx="2784021" cy="873579"/>
          </a:xfrm>
          <a:prstGeom prst="rect">
            <a:avLst/>
          </a:prstGeom>
        </p:spPr>
        <p:txBody>
          <a:bodyPr spcFirstLastPara="1" vert="horz" lIns="91440" tIns="45720" rIns="91440" bIns="45720" rtlCol="0" anchor="t" anchorCtr="0">
            <a:normAutofit fontScale="90000"/>
          </a:bodyPr>
          <a:lstStyle/>
          <a:p>
            <a:pPr marL="0" lvl="0" indent="0" defTabSz="914400">
              <a:spcBef>
                <a:spcPct val="0"/>
              </a:spcBef>
              <a:spcAft>
                <a:spcPts val="0"/>
              </a:spcAft>
            </a:pPr>
            <a:r>
              <a:rPr lang="en-US" sz="2000" b="1" dirty="0"/>
              <a:t>Exploratory Data Analysis - Distribution Analysis </a:t>
            </a:r>
          </a:p>
        </p:txBody>
      </p:sp>
      <p:sp>
        <p:nvSpPr>
          <p:cNvPr id="87" name="Google Shape;87;p18"/>
          <p:cNvSpPr txBox="1">
            <a:spLocks noGrp="1"/>
          </p:cNvSpPr>
          <p:nvPr>
            <p:ph type="body" idx="1"/>
          </p:nvPr>
        </p:nvSpPr>
        <p:spPr>
          <a:xfrm>
            <a:off x="812901" y="1455651"/>
            <a:ext cx="3105956" cy="3369441"/>
          </a:xfrm>
          <a:prstGeom prst="rect">
            <a:avLst/>
          </a:prstGeom>
        </p:spPr>
        <p:txBody>
          <a:bodyPr spcFirstLastPara="1" vert="horz" lIns="91440" tIns="45720" rIns="91440" bIns="45720" rtlCol="0" anchorCtr="0">
            <a:normAutofit lnSpcReduction="10000"/>
          </a:bodyPr>
          <a:lstStyle/>
          <a:p>
            <a:pPr marL="384048" lvl="0" indent="-384048" defTabSz="914400">
              <a:spcBef>
                <a:spcPts val="0"/>
              </a:spcBef>
              <a:spcAft>
                <a:spcPts val="200"/>
              </a:spcAft>
              <a:buSzPts val="1500"/>
              <a:buFont typeface="Franklin Gothic Book" panose="020B0503020102020204" pitchFamily="34" charset="0"/>
              <a:buChar char="❏"/>
            </a:pPr>
            <a:r>
              <a:rPr lang="en-US" sz="1800"/>
              <a:t>57% of individuals wore seatbelts, only only 1.4% not wore seatbelts</a:t>
            </a:r>
          </a:p>
          <a:p>
            <a:pPr marL="384048" lvl="0" indent="-384048" defTabSz="914400">
              <a:spcBef>
                <a:spcPts val="0"/>
              </a:spcBef>
              <a:spcAft>
                <a:spcPts val="200"/>
              </a:spcAft>
              <a:buFont typeface="Franklin Gothic Book" panose="020B0503020102020204" pitchFamily="34" charset="0"/>
              <a:buNone/>
            </a:pPr>
            <a:endParaRPr lang="en-US" sz="1800"/>
          </a:p>
          <a:p>
            <a:pPr marL="384048" lvl="0" indent="-384048" defTabSz="914400">
              <a:spcBef>
                <a:spcPts val="0"/>
              </a:spcBef>
              <a:spcAft>
                <a:spcPts val="200"/>
              </a:spcAft>
              <a:buSzPts val="1500"/>
              <a:buFont typeface="Franklin Gothic Book" panose="020B0503020102020204" pitchFamily="34" charset="0"/>
              <a:buChar char="❏"/>
            </a:pPr>
            <a:r>
              <a:rPr lang="en-US" sz="1800"/>
              <a:t>Most injuries were none or other; only 0.7% were fatal </a:t>
            </a:r>
          </a:p>
          <a:p>
            <a:pPr marL="384048" lvl="0" indent="-384048" defTabSz="914400">
              <a:spcBef>
                <a:spcPts val="0"/>
              </a:spcBef>
              <a:spcAft>
                <a:spcPts val="200"/>
              </a:spcAft>
              <a:buFont typeface="Franklin Gothic Book" panose="020B0503020102020204" pitchFamily="34" charset="0"/>
              <a:buNone/>
            </a:pPr>
            <a:endParaRPr lang="en-US" sz="1800"/>
          </a:p>
          <a:p>
            <a:pPr marL="384048" lvl="0" indent="-384048" defTabSz="914400">
              <a:spcBef>
                <a:spcPts val="0"/>
              </a:spcBef>
              <a:spcAft>
                <a:spcPts val="200"/>
              </a:spcAft>
              <a:buSzPts val="1500"/>
              <a:buFont typeface="Franklin Gothic Book" panose="020B0503020102020204" pitchFamily="34" charset="0"/>
              <a:buChar char="❏"/>
            </a:pPr>
            <a:r>
              <a:rPr lang="en-US" sz="1800"/>
              <a:t>Most common seat position: Driver (76.9%)</a:t>
            </a:r>
          </a:p>
          <a:p>
            <a:pPr marL="384048" lvl="0" indent="-384048" defTabSz="914400">
              <a:spcBef>
                <a:spcPts val="0"/>
              </a:spcBef>
              <a:spcAft>
                <a:spcPts val="200"/>
              </a:spcAft>
              <a:buFont typeface="Franklin Gothic Book" panose="020B0503020102020204" pitchFamily="34" charset="0"/>
              <a:buNone/>
            </a:pPr>
            <a:endParaRPr lang="en-US" sz="1800"/>
          </a:p>
          <a:p>
            <a:pPr marL="384048" lvl="0" indent="-384048" defTabSz="914400">
              <a:spcBef>
                <a:spcPts val="0"/>
              </a:spcBef>
              <a:spcAft>
                <a:spcPts val="200"/>
              </a:spcAft>
              <a:buSzPts val="1800"/>
              <a:buFont typeface="Franklin Gothic Book" panose="020B0503020102020204" pitchFamily="34" charset="0"/>
              <a:buChar char="❏"/>
            </a:pPr>
            <a:r>
              <a:rPr lang="en-US" sz="1800"/>
              <a:t>Majority of vehicles is Cars (72%)</a:t>
            </a:r>
            <a:endParaRPr lang="en-US" sz="1800" dirty="0"/>
          </a:p>
        </p:txBody>
      </p:sp>
      <p:pic>
        <p:nvPicPr>
          <p:cNvPr id="88" name="Google Shape;88;p18" title="Picture 1.png"/>
          <p:cNvPicPr preferRelativeResize="0"/>
          <p:nvPr/>
        </p:nvPicPr>
        <p:blipFill>
          <a:blip r:embed="rId3"/>
          <a:stretch>
            <a:fillRect/>
          </a:stretch>
        </p:blipFill>
        <p:spPr>
          <a:xfrm>
            <a:off x="4067514" y="951139"/>
            <a:ext cx="4887799" cy="2944898"/>
          </a:xfrm>
          <a:prstGeom prst="rect">
            <a:avLst/>
          </a:prstGeom>
          <a:noFill/>
        </p:spPr>
      </p:pic>
    </p:spTree>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Shape 92"/>
        <p:cNvGrpSpPr/>
        <p:nvPr/>
      </p:nvGrpSpPr>
      <p:grpSpPr>
        <a:xfrm>
          <a:off x="0" y="0"/>
          <a:ext cx="0" cy="0"/>
          <a:chOff x="0" y="0"/>
          <a:chExt cx="0" cy="0"/>
        </a:xfrm>
      </p:grpSpPr>
      <p:sp>
        <p:nvSpPr>
          <p:cNvPr id="105" name="Rectangle 100">
            <a:extLst>
              <a:ext uri="{FF2B5EF4-FFF2-40B4-BE49-F238E27FC236}">
                <a16:creationId xmlns:a16="http://schemas.microsoft.com/office/drawing/2014/main" id="{2793B903-AB42-42A0-AE97-93D366679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571" y="282"/>
            <a:ext cx="17145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93" name="Google Shape;93;p19"/>
          <p:cNvSpPr txBox="1">
            <a:spLocks noGrp="1"/>
          </p:cNvSpPr>
          <p:nvPr>
            <p:ph type="title"/>
          </p:nvPr>
        </p:nvSpPr>
        <p:spPr>
          <a:xfrm>
            <a:off x="1028700" y="514350"/>
            <a:ext cx="2462021" cy="1114425"/>
          </a:xfrm>
          <a:prstGeom prst="rect">
            <a:avLst/>
          </a:prstGeom>
        </p:spPr>
        <p:txBody>
          <a:bodyPr spcFirstLastPara="1" vert="horz" lIns="91440" tIns="45720" rIns="91440" bIns="45720" rtlCol="0" anchor="t" anchorCtr="0">
            <a:normAutofit/>
          </a:bodyPr>
          <a:lstStyle/>
          <a:p>
            <a:pPr marL="0" lvl="0" indent="0" defTabSz="914400">
              <a:spcBef>
                <a:spcPct val="0"/>
              </a:spcBef>
              <a:spcAft>
                <a:spcPts val="0"/>
              </a:spcAft>
              <a:buClr>
                <a:schemeClr val="dk1"/>
              </a:buClr>
              <a:buSzPct val="42672"/>
            </a:pPr>
            <a:r>
              <a:rPr lang="en-US" sz="1800" b="1"/>
              <a:t>Exploratory Data Analysis - Relationship Analysis</a:t>
            </a:r>
            <a:endParaRPr lang="en-US" sz="1800"/>
          </a:p>
        </p:txBody>
      </p:sp>
      <p:sp>
        <p:nvSpPr>
          <p:cNvPr id="94" name="Google Shape;94;p19"/>
          <p:cNvSpPr txBox="1">
            <a:spLocks noGrp="1"/>
          </p:cNvSpPr>
          <p:nvPr>
            <p:ph type="body" idx="1"/>
          </p:nvPr>
        </p:nvSpPr>
        <p:spPr>
          <a:xfrm>
            <a:off x="1028700" y="1714500"/>
            <a:ext cx="2462020" cy="2686050"/>
          </a:xfrm>
          <a:prstGeom prst="rect">
            <a:avLst/>
          </a:prstGeom>
        </p:spPr>
        <p:txBody>
          <a:bodyPr spcFirstLastPara="1" vert="horz" lIns="91440" tIns="45720" rIns="91440" bIns="45720" rtlCol="0" anchorCtr="0">
            <a:normAutofit/>
          </a:bodyPr>
          <a:lstStyle/>
          <a:p>
            <a:pPr marL="384048" lvl="0" indent="-384048" defTabSz="914400">
              <a:spcBef>
                <a:spcPts val="0"/>
              </a:spcBef>
              <a:spcAft>
                <a:spcPts val="200"/>
              </a:spcAft>
              <a:buClr>
                <a:schemeClr val="dk1"/>
              </a:buClr>
              <a:buSzPts val="1400"/>
              <a:buFont typeface="Franklin Gothic Book" panose="020B0503020102020204" pitchFamily="34" charset="0"/>
              <a:buChar char="❏"/>
            </a:pPr>
            <a:r>
              <a:rPr lang="en-US" sz="1200" dirty="0"/>
              <a:t>Rear passengers had the highest proportion of non-injuries (56%)</a:t>
            </a:r>
          </a:p>
          <a:p>
            <a:pPr marL="384048" lvl="0" indent="-384048" defTabSz="914400">
              <a:spcBef>
                <a:spcPts val="0"/>
              </a:spcBef>
              <a:spcAft>
                <a:spcPts val="200"/>
              </a:spcAft>
              <a:buClr>
                <a:schemeClr val="dk1"/>
              </a:buClr>
              <a:buSzPts val="1400"/>
              <a:buFont typeface="Franklin Gothic Book" panose="020B0503020102020204" pitchFamily="34" charset="0"/>
              <a:buChar char="❏"/>
            </a:pPr>
            <a:r>
              <a:rPr lang="en-US" sz="1200" dirty="0"/>
              <a:t>Drivers and front passengers showed similar injury distributions</a:t>
            </a:r>
          </a:p>
          <a:p>
            <a:pPr marL="384048" lvl="0" indent="-384048" defTabSz="914400">
              <a:spcBef>
                <a:spcPts val="0"/>
              </a:spcBef>
              <a:spcAft>
                <a:spcPts val="200"/>
              </a:spcAft>
              <a:buClr>
                <a:schemeClr val="dk1"/>
              </a:buClr>
              <a:buSzPts val="1400"/>
              <a:buFont typeface="Franklin Gothic Book" panose="020B0503020102020204" pitchFamily="34" charset="0"/>
              <a:buChar char="❏"/>
            </a:pPr>
            <a:r>
              <a:rPr lang="en-US" sz="1200" dirty="0"/>
              <a:t>Motorcycle passengers had the lowest non-injury rate (13%) and the highest serious injury rate (44%)</a:t>
            </a:r>
          </a:p>
          <a:p>
            <a:pPr marL="384048" lvl="0" indent="-384048" defTabSz="914400">
              <a:spcBef>
                <a:spcPts val="0"/>
              </a:spcBef>
              <a:spcAft>
                <a:spcPts val="200"/>
              </a:spcAft>
              <a:buClr>
                <a:schemeClr val="dk1"/>
              </a:buClr>
              <a:buSzPts val="1400"/>
              <a:buFont typeface="Franklin Gothic Book" panose="020B0503020102020204" pitchFamily="34" charset="0"/>
              <a:buChar char="❏"/>
            </a:pPr>
            <a:r>
              <a:rPr lang="en-US" sz="1200" dirty="0"/>
              <a:t>Unknown seat positions had disproportionately high non-injury records (69%)</a:t>
            </a:r>
          </a:p>
        </p:txBody>
      </p:sp>
      <p:pic>
        <p:nvPicPr>
          <p:cNvPr id="95" name="Google Shape;95;p19" title="Picture 1.png"/>
          <p:cNvPicPr preferRelativeResize="0"/>
          <p:nvPr/>
        </p:nvPicPr>
        <p:blipFill>
          <a:blip r:embed="rId3"/>
          <a:stretch>
            <a:fillRect/>
          </a:stretch>
        </p:blipFill>
        <p:spPr>
          <a:xfrm>
            <a:off x="3773600" y="612700"/>
            <a:ext cx="4887799" cy="3678068"/>
          </a:xfrm>
          <a:prstGeom prst="rect">
            <a:avLst/>
          </a:prstGeom>
          <a:noFill/>
        </p:spPr>
      </p:pic>
      <p:sp>
        <p:nvSpPr>
          <p:cNvPr id="96" name="Google Shape;96;p19"/>
          <p:cNvSpPr txBox="1"/>
          <p:nvPr/>
        </p:nvSpPr>
        <p:spPr>
          <a:xfrm>
            <a:off x="240550" y="3505425"/>
            <a:ext cx="3842100" cy="392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350">
              <a:solidFill>
                <a:srgbClr val="2A2B2E"/>
              </a:solidFill>
              <a:highlight>
                <a:srgbClr val="FFFFFF"/>
              </a:highlight>
            </a:endParaRPr>
          </a:p>
        </p:txBody>
      </p:sp>
    </p:spTree>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Shape 100"/>
        <p:cNvGrpSpPr/>
        <p:nvPr/>
      </p:nvGrpSpPr>
      <p:grpSpPr>
        <a:xfrm>
          <a:off x="0" y="0"/>
          <a:ext cx="0" cy="0"/>
          <a:chOff x="0" y="0"/>
          <a:chExt cx="0" cy="0"/>
        </a:xfrm>
      </p:grpSpPr>
      <p:sp>
        <p:nvSpPr>
          <p:cNvPr id="111" name="Rectangle 107">
            <a:extLst>
              <a:ext uri="{FF2B5EF4-FFF2-40B4-BE49-F238E27FC236}">
                <a16:creationId xmlns:a16="http://schemas.microsoft.com/office/drawing/2014/main" id="{2793B903-AB42-42A0-AE97-93D366679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571" y="282"/>
            <a:ext cx="17145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useBgFill="1">
        <p:nvSpPr>
          <p:cNvPr id="110" name="Rectangle 109">
            <a:extLst>
              <a:ext uri="{FF2B5EF4-FFF2-40B4-BE49-F238E27FC236}">
                <a16:creationId xmlns:a16="http://schemas.microsoft.com/office/drawing/2014/main" id="{1D868099-6145-4BC0-A5EA-74BEF1776B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Google Shape;101;p20"/>
          <p:cNvSpPr txBox="1">
            <a:spLocks noGrp="1"/>
          </p:cNvSpPr>
          <p:nvPr>
            <p:ph type="title"/>
          </p:nvPr>
        </p:nvSpPr>
        <p:spPr>
          <a:xfrm>
            <a:off x="6353568" y="833161"/>
            <a:ext cx="2289779" cy="795613"/>
          </a:xfrm>
          <a:prstGeom prst="rect">
            <a:avLst/>
          </a:prstGeom>
        </p:spPr>
        <p:txBody>
          <a:bodyPr spcFirstLastPara="1" vert="horz" lIns="91440" tIns="45720" rIns="91440" bIns="45720" rtlCol="0" anchor="b" anchorCtr="0">
            <a:normAutofit fontScale="90000"/>
          </a:bodyPr>
          <a:lstStyle/>
          <a:p>
            <a:pPr marL="0" lvl="0" indent="0" defTabSz="914400">
              <a:spcBef>
                <a:spcPct val="0"/>
              </a:spcBef>
              <a:spcAft>
                <a:spcPts val="0"/>
              </a:spcAft>
              <a:buClr>
                <a:schemeClr val="dk1"/>
              </a:buClr>
              <a:buSzPct val="39285"/>
            </a:pPr>
            <a:r>
              <a:rPr lang="en-US" sz="1800" b="1" dirty="0"/>
              <a:t>Exploratory Data Analysis - Relationship Analysis</a:t>
            </a:r>
            <a:endParaRPr lang="en-US" sz="1800" dirty="0"/>
          </a:p>
        </p:txBody>
      </p:sp>
      <p:pic>
        <p:nvPicPr>
          <p:cNvPr id="103" name="Google Shape;103;p20" title="Picture 2.png"/>
          <p:cNvPicPr preferRelativeResize="0"/>
          <p:nvPr/>
        </p:nvPicPr>
        <p:blipFill>
          <a:blip r:embed="rId3"/>
          <a:stretch>
            <a:fillRect/>
          </a:stretch>
        </p:blipFill>
        <p:spPr>
          <a:xfrm>
            <a:off x="475706" y="631018"/>
            <a:ext cx="5175285" cy="3881463"/>
          </a:xfrm>
          <a:prstGeom prst="rect">
            <a:avLst/>
          </a:prstGeom>
          <a:noFill/>
        </p:spPr>
      </p:pic>
      <p:sp>
        <p:nvSpPr>
          <p:cNvPr id="102" name="Google Shape;102;p20"/>
          <p:cNvSpPr txBox="1">
            <a:spLocks noGrp="1"/>
          </p:cNvSpPr>
          <p:nvPr>
            <p:ph type="body" idx="1"/>
          </p:nvPr>
        </p:nvSpPr>
        <p:spPr>
          <a:xfrm>
            <a:off x="6353567" y="1714500"/>
            <a:ext cx="2635312" cy="2948940"/>
          </a:xfrm>
          <a:prstGeom prst="rect">
            <a:avLst/>
          </a:prstGeom>
        </p:spPr>
        <p:txBody>
          <a:bodyPr spcFirstLastPara="1" vert="horz" lIns="91440" tIns="45720" rIns="91440" bIns="45720" rtlCol="0" anchorCtr="0">
            <a:normAutofit lnSpcReduction="10000"/>
          </a:bodyPr>
          <a:lstStyle/>
          <a:p>
            <a:pPr marL="384048" lvl="0" indent="-384048" defTabSz="914400">
              <a:spcBef>
                <a:spcPts val="0"/>
              </a:spcBef>
              <a:spcAft>
                <a:spcPts val="200"/>
              </a:spcAft>
              <a:buClr>
                <a:schemeClr val="dk1"/>
              </a:buClr>
              <a:buSzPts val="1500"/>
              <a:buFont typeface="Franklin Gothic Book" panose="020B0503020102020204" pitchFamily="34" charset="0"/>
              <a:buChar char="❏"/>
            </a:pPr>
            <a:r>
              <a:rPr lang="en-US" sz="2000" dirty="0"/>
              <a:t>Not wearing a seatbelt: 12% serious, 29% minor, 58% no injury</a:t>
            </a:r>
          </a:p>
          <a:p>
            <a:pPr marL="384048" lvl="0" indent="-384048" defTabSz="914400">
              <a:spcBef>
                <a:spcPts val="0"/>
              </a:spcBef>
              <a:spcAft>
                <a:spcPts val="200"/>
              </a:spcAft>
              <a:buClr>
                <a:schemeClr val="dk1"/>
              </a:buClr>
              <a:buSzPts val="1500"/>
              <a:buFont typeface="Franklin Gothic Book" panose="020B0503020102020204" pitchFamily="34" charset="0"/>
              <a:buChar char="❏"/>
            </a:pPr>
            <a:r>
              <a:rPr lang="en-US" sz="2000" dirty="0"/>
              <a:t>Wearing a seatbelt: 15% serious, 36% minor, 48% no injury</a:t>
            </a:r>
          </a:p>
        </p:txBody>
      </p:sp>
      <p:sp>
        <p:nvSpPr>
          <p:cNvPr id="112" name="Freeform 6">
            <a:extLst>
              <a:ext uri="{FF2B5EF4-FFF2-40B4-BE49-F238E27FC236}">
                <a16:creationId xmlns:a16="http://schemas.microsoft.com/office/drawing/2014/main" id="{CC1026F7-DECB-49B4-A565-518BBA4454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flipV="1">
            <a:off x="5987575" y="480060"/>
            <a:ext cx="1722021" cy="2756235"/>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en-AU"/>
          </a:p>
        </p:txBody>
      </p:sp>
    </p:spTree>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Shape 108"/>
        <p:cNvGrpSpPr/>
        <p:nvPr/>
      </p:nvGrpSpPr>
      <p:grpSpPr>
        <a:xfrm>
          <a:off x="0" y="0"/>
          <a:ext cx="0" cy="0"/>
          <a:chOff x="0" y="0"/>
          <a:chExt cx="0" cy="0"/>
        </a:xfrm>
      </p:grpSpPr>
      <p:sp>
        <p:nvSpPr>
          <p:cNvPr id="116" name="Rectangle 115">
            <a:extLst>
              <a:ext uri="{FF2B5EF4-FFF2-40B4-BE49-F238E27FC236}">
                <a16:creationId xmlns:a16="http://schemas.microsoft.com/office/drawing/2014/main" id="{2793B903-AB42-42A0-AE97-93D366679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571" y="282"/>
            <a:ext cx="17145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109" name="Google Shape;109;p21"/>
          <p:cNvSpPr txBox="1">
            <a:spLocks noGrp="1"/>
          </p:cNvSpPr>
          <p:nvPr>
            <p:ph type="title"/>
          </p:nvPr>
        </p:nvSpPr>
        <p:spPr>
          <a:xfrm>
            <a:off x="1028700" y="514350"/>
            <a:ext cx="2462021" cy="1114425"/>
          </a:xfrm>
          <a:prstGeom prst="rect">
            <a:avLst/>
          </a:prstGeom>
        </p:spPr>
        <p:txBody>
          <a:bodyPr spcFirstLastPara="1" vert="horz" lIns="91440" tIns="45720" rIns="91440" bIns="45720" rtlCol="0" anchor="t" anchorCtr="0">
            <a:normAutofit/>
          </a:bodyPr>
          <a:lstStyle/>
          <a:p>
            <a:pPr marL="0" lvl="0" indent="0" defTabSz="914400">
              <a:spcBef>
                <a:spcPct val="0"/>
              </a:spcBef>
              <a:spcAft>
                <a:spcPts val="0"/>
              </a:spcAft>
              <a:buClr>
                <a:schemeClr val="dk1"/>
              </a:buClr>
              <a:buSzPct val="39285"/>
            </a:pPr>
            <a:r>
              <a:rPr lang="en-US" sz="2000" b="1" dirty="0"/>
              <a:t>Exploratory Data Analysis - Relationship Analysis</a:t>
            </a:r>
            <a:endParaRPr lang="en-US" sz="2000" dirty="0"/>
          </a:p>
        </p:txBody>
      </p:sp>
      <p:sp>
        <p:nvSpPr>
          <p:cNvPr id="110" name="Google Shape;110;p21"/>
          <p:cNvSpPr txBox="1">
            <a:spLocks noGrp="1"/>
          </p:cNvSpPr>
          <p:nvPr>
            <p:ph type="body" idx="1"/>
          </p:nvPr>
        </p:nvSpPr>
        <p:spPr>
          <a:xfrm>
            <a:off x="1028699" y="1714500"/>
            <a:ext cx="2555421" cy="2914650"/>
          </a:xfrm>
          <a:prstGeom prst="rect">
            <a:avLst/>
          </a:prstGeom>
        </p:spPr>
        <p:txBody>
          <a:bodyPr spcFirstLastPara="1" vert="horz" lIns="91440" tIns="45720" rIns="91440" bIns="45720" rtlCol="0" anchorCtr="0">
            <a:noAutofit/>
          </a:bodyPr>
          <a:lstStyle/>
          <a:p>
            <a:pPr marL="384048" lvl="0" indent="-384048" defTabSz="914400">
              <a:spcBef>
                <a:spcPts val="0"/>
              </a:spcBef>
              <a:spcAft>
                <a:spcPts val="200"/>
              </a:spcAft>
              <a:buClr>
                <a:schemeClr val="dk1"/>
              </a:buClr>
              <a:buSzPct val="100000"/>
              <a:buFont typeface="Franklin Gothic Book" panose="020B0503020102020204" pitchFamily="34" charset="0"/>
              <a:buChar char="❏"/>
            </a:pPr>
            <a:r>
              <a:rPr lang="en-US" sz="1800" dirty="0"/>
              <a:t>Buses and heavy trucks had the highest non-injury rates (68–70%)</a:t>
            </a:r>
          </a:p>
          <a:p>
            <a:pPr marL="384048" lvl="0" indent="-384048" defTabSz="914400">
              <a:spcBef>
                <a:spcPts val="0"/>
              </a:spcBef>
              <a:spcAft>
                <a:spcPts val="200"/>
              </a:spcAft>
              <a:buClr>
                <a:schemeClr val="dk1"/>
              </a:buClr>
              <a:buSzPct val="100000"/>
              <a:buFont typeface="Franklin Gothic Book" panose="020B0503020102020204" pitchFamily="34" charset="0"/>
              <a:buChar char="❏"/>
            </a:pPr>
            <a:r>
              <a:rPr lang="en-US" sz="1800" dirty="0"/>
              <a:t>Cars ,SUVs, light commercial showed moderate risk levels</a:t>
            </a:r>
          </a:p>
          <a:p>
            <a:pPr marL="384048" lvl="0" indent="-384048" defTabSz="914400">
              <a:spcBef>
                <a:spcPts val="0"/>
              </a:spcBef>
              <a:spcAft>
                <a:spcPts val="200"/>
              </a:spcAft>
              <a:buClr>
                <a:schemeClr val="dk1"/>
              </a:buClr>
              <a:buSzPct val="100000"/>
              <a:buFont typeface="Franklin Gothic Book" panose="020B0503020102020204" pitchFamily="34" charset="0"/>
              <a:buChar char="❏"/>
            </a:pPr>
            <a:r>
              <a:rPr lang="en-US" sz="1800" dirty="0"/>
              <a:t>Motorcycles showed the highest rates of injuries</a:t>
            </a:r>
          </a:p>
        </p:txBody>
      </p:sp>
      <p:pic>
        <p:nvPicPr>
          <p:cNvPr id="111" name="Google Shape;111;p21" title="Picture 3.png"/>
          <p:cNvPicPr preferRelativeResize="0"/>
          <p:nvPr/>
        </p:nvPicPr>
        <p:blipFill>
          <a:blip r:embed="rId3"/>
          <a:stretch>
            <a:fillRect/>
          </a:stretch>
        </p:blipFill>
        <p:spPr>
          <a:xfrm>
            <a:off x="3773600" y="618810"/>
            <a:ext cx="4887799" cy="3665848"/>
          </a:xfrm>
          <a:prstGeom prst="rect">
            <a:avLst/>
          </a:prstGeom>
          <a:noFill/>
        </p:spPr>
      </p:pic>
    </p:spTree>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2"/>
          <p:cNvSpPr txBox="1">
            <a:spLocks noGrp="1"/>
          </p:cNvSpPr>
          <p:nvPr>
            <p:ph type="title"/>
          </p:nvPr>
        </p:nvSpPr>
        <p:spPr>
          <a:xfrm>
            <a:off x="636812" y="445025"/>
            <a:ext cx="8195487"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2233" dirty="0">
                <a:solidFill>
                  <a:srgbClr val="0000FF"/>
                </a:solidFill>
              </a:rPr>
              <a:t>Chi-Square Independence Test - </a:t>
            </a:r>
            <a:r>
              <a:rPr lang="en-GB" sz="2166" dirty="0">
                <a:solidFill>
                  <a:schemeClr val="accent1"/>
                </a:solidFill>
              </a:rPr>
              <a:t>Statistical Testing</a:t>
            </a:r>
            <a:endParaRPr sz="2166" dirty="0">
              <a:solidFill>
                <a:schemeClr val="accent1"/>
              </a:solidFill>
            </a:endParaRPr>
          </a:p>
        </p:txBody>
      </p:sp>
      <p:sp>
        <p:nvSpPr>
          <p:cNvPr id="117" name="Google Shape;117;p22"/>
          <p:cNvSpPr txBox="1">
            <a:spLocks noGrp="1"/>
          </p:cNvSpPr>
          <p:nvPr>
            <p:ph type="body" idx="1"/>
          </p:nvPr>
        </p:nvSpPr>
        <p:spPr>
          <a:xfrm>
            <a:off x="344875" y="3115800"/>
            <a:ext cx="8487425" cy="1750114"/>
          </a:xfrm>
          <a:prstGeom prst="rect">
            <a:avLst/>
          </a:prstGeom>
        </p:spPr>
        <p:txBody>
          <a:bodyPr spcFirstLastPara="1" wrap="square" lIns="91425" tIns="91425" rIns="91425" bIns="91425" anchor="t" anchorCtr="0">
            <a:normAutofit fontScale="25000" lnSpcReduction="20000"/>
          </a:bodyPr>
          <a:lstStyle/>
          <a:p>
            <a:pPr marL="457200" lvl="0" indent="-350325" algn="l" rtl="0">
              <a:lnSpc>
                <a:spcPct val="200000"/>
              </a:lnSpc>
              <a:spcBef>
                <a:spcPts val="0"/>
              </a:spcBef>
              <a:spcAft>
                <a:spcPts val="0"/>
              </a:spcAft>
              <a:buClr>
                <a:srgbClr val="2A2B2E"/>
              </a:buClr>
              <a:buSzPct val="100000"/>
              <a:buChar char="●"/>
            </a:pPr>
            <a:r>
              <a:rPr lang="en-GB" sz="7600" dirty="0">
                <a:solidFill>
                  <a:schemeClr val="dk2"/>
                </a:solidFill>
              </a:rPr>
              <a:t>Whether to wear a seat belt is closely related to the degree of injury.</a:t>
            </a:r>
            <a:endParaRPr sz="7600" dirty="0">
              <a:solidFill>
                <a:schemeClr val="dk2"/>
              </a:solidFill>
            </a:endParaRPr>
          </a:p>
          <a:p>
            <a:pPr marL="457200" lvl="0" indent="-350325" algn="l" rtl="0">
              <a:lnSpc>
                <a:spcPct val="200000"/>
              </a:lnSpc>
              <a:spcBef>
                <a:spcPts val="0"/>
              </a:spcBef>
              <a:spcAft>
                <a:spcPts val="0"/>
              </a:spcAft>
              <a:buClr>
                <a:srgbClr val="2A2B2E"/>
              </a:buClr>
              <a:buSzPct val="100000"/>
              <a:buChar char="●"/>
            </a:pPr>
            <a:r>
              <a:rPr lang="en-GB" sz="7600" dirty="0">
                <a:solidFill>
                  <a:schemeClr val="dk2"/>
                </a:solidFill>
              </a:rPr>
              <a:t>different seat positions can bring significantly different risks of injury</a:t>
            </a:r>
            <a:endParaRPr sz="7600" dirty="0">
              <a:solidFill>
                <a:schemeClr val="dk2"/>
              </a:solidFill>
            </a:endParaRPr>
          </a:p>
          <a:p>
            <a:pPr marL="457200" lvl="0" indent="-350325" algn="l" rtl="0">
              <a:lnSpc>
                <a:spcPct val="200000"/>
              </a:lnSpc>
              <a:spcBef>
                <a:spcPts val="0"/>
              </a:spcBef>
              <a:spcAft>
                <a:spcPts val="0"/>
              </a:spcAft>
              <a:buClr>
                <a:srgbClr val="2A2B2E"/>
              </a:buClr>
              <a:buSzPct val="100000"/>
              <a:buChar char="●"/>
            </a:pPr>
            <a:r>
              <a:rPr lang="en-GB" sz="7600" dirty="0">
                <a:solidFill>
                  <a:schemeClr val="dk2"/>
                </a:solidFill>
              </a:rPr>
              <a:t>Passengers of different vehicle types also face different risks of injury.</a:t>
            </a:r>
            <a:endParaRPr sz="7600" dirty="0">
              <a:solidFill>
                <a:schemeClr val="dk2"/>
              </a:solidFill>
            </a:endParaRPr>
          </a:p>
          <a:p>
            <a:pPr marL="0" lvl="0" indent="0" algn="l" rtl="0">
              <a:spcBef>
                <a:spcPts val="1200"/>
              </a:spcBef>
              <a:spcAft>
                <a:spcPts val="0"/>
              </a:spcAft>
              <a:buNone/>
            </a:pPr>
            <a:r>
              <a:rPr lang="en-GB" sz="2400" dirty="0">
                <a:solidFill>
                  <a:srgbClr val="000000"/>
                </a:solidFill>
              </a:rPr>
              <a:t>  </a:t>
            </a:r>
            <a:r>
              <a:rPr lang="en-GB" sz="1900" dirty="0">
                <a:solidFill>
                  <a:srgbClr val="000000"/>
                </a:solidFill>
              </a:rPr>
              <a:t>              </a:t>
            </a:r>
            <a:endParaRPr dirty="0"/>
          </a:p>
          <a:p>
            <a:pPr marL="0" lvl="0" indent="0" algn="l" rtl="0">
              <a:spcBef>
                <a:spcPts val="1200"/>
              </a:spcBef>
              <a:spcAft>
                <a:spcPts val="1200"/>
              </a:spcAft>
              <a:buNone/>
            </a:pPr>
            <a:endParaRPr dirty="0"/>
          </a:p>
        </p:txBody>
      </p:sp>
      <p:sp>
        <p:nvSpPr>
          <p:cNvPr id="118" name="Google Shape;118;p22"/>
          <p:cNvSpPr txBox="1"/>
          <p:nvPr/>
        </p:nvSpPr>
        <p:spPr>
          <a:xfrm>
            <a:off x="636812" y="1517000"/>
            <a:ext cx="7943852" cy="461635"/>
          </a:xfrm>
          <a:prstGeom prst="rect">
            <a:avLst/>
          </a:prstGeom>
          <a:noFill/>
          <a:ln>
            <a:noFill/>
          </a:ln>
        </p:spPr>
        <p:txBody>
          <a:bodyPr spcFirstLastPara="1" wrap="square" lIns="91425" tIns="91425" rIns="91425" bIns="91425" anchor="t" anchorCtr="0">
            <a:spAutoFit/>
          </a:bodyPr>
          <a:lstStyle/>
          <a:p>
            <a:r>
              <a:rPr lang="en-GB" sz="1800" dirty="0">
                <a:solidFill>
                  <a:schemeClr val="dk2"/>
                </a:solidFill>
              </a:rPr>
              <a:t>Result show: </a:t>
            </a:r>
            <a:r>
              <a:rPr lang="en-GB" dirty="0">
                <a:solidFill>
                  <a:schemeClr val="dk2"/>
                </a:solidFill>
              </a:rPr>
              <a:t>Both test results showed that p = 0 &lt; 0.01</a:t>
            </a:r>
          </a:p>
        </p:txBody>
      </p:sp>
      <p:sp>
        <p:nvSpPr>
          <p:cNvPr id="119" name="Google Shape;119;p22"/>
          <p:cNvSpPr txBox="1"/>
          <p:nvPr/>
        </p:nvSpPr>
        <p:spPr>
          <a:xfrm>
            <a:off x="636813" y="944300"/>
            <a:ext cx="8422911"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800" dirty="0">
                <a:solidFill>
                  <a:schemeClr val="dk2"/>
                </a:solidFill>
              </a:rPr>
              <a:t>Verify whether the relationship between the variables is statistically significant</a:t>
            </a:r>
            <a:endParaRPr sz="1800" dirty="0">
              <a:solidFill>
                <a:schemeClr val="dk2"/>
              </a:solidFill>
            </a:endParaRPr>
          </a:p>
        </p:txBody>
      </p:sp>
      <p:sp>
        <p:nvSpPr>
          <p:cNvPr id="121" name="Google Shape;121;p22"/>
          <p:cNvSpPr txBox="1"/>
          <p:nvPr/>
        </p:nvSpPr>
        <p:spPr>
          <a:xfrm>
            <a:off x="628651" y="2252634"/>
            <a:ext cx="8319408" cy="72324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ltLang="zh-CN" sz="1600" b="1" i="1" dirty="0">
                <a:solidFill>
                  <a:schemeClr val="dk1"/>
                </a:solidFill>
              </a:rPr>
              <a:t>p-value</a:t>
            </a:r>
            <a:r>
              <a:rPr lang="en-GB" sz="1600" dirty="0">
                <a:solidFill>
                  <a:schemeClr val="dk1"/>
                </a:solidFill>
              </a:rPr>
              <a:t> less than </a:t>
            </a:r>
            <a:r>
              <a:rPr lang="en-GB" sz="1800" b="1" i="1" dirty="0">
                <a:solidFill>
                  <a:schemeClr val="dk1"/>
                </a:solidFill>
              </a:rPr>
              <a:t>0.01</a:t>
            </a:r>
            <a:r>
              <a:rPr lang="en-GB" sz="1600" dirty="0">
                <a:solidFill>
                  <a:schemeClr val="dk1"/>
                </a:solidFill>
              </a:rPr>
              <a:t> provides strong statistical evidence to </a:t>
            </a:r>
            <a:r>
              <a:rPr lang="en-GB" sz="1600" b="1" dirty="0">
                <a:solidFill>
                  <a:schemeClr val="dk1"/>
                </a:solidFill>
              </a:rPr>
              <a:t>reject the null hypothesis</a:t>
            </a:r>
            <a:r>
              <a:rPr lang="en-GB" sz="1600" dirty="0">
                <a:solidFill>
                  <a:schemeClr val="dk1"/>
                </a:solidFill>
              </a:rPr>
              <a:t>, indicating a </a:t>
            </a:r>
            <a:r>
              <a:rPr lang="en-GB" sz="1600" b="1" dirty="0">
                <a:solidFill>
                  <a:schemeClr val="dk1"/>
                </a:solidFill>
              </a:rPr>
              <a:t>significant association</a:t>
            </a:r>
            <a:r>
              <a:rPr lang="en-GB" sz="1600" dirty="0">
                <a:solidFill>
                  <a:schemeClr val="dk1"/>
                </a:solidFill>
              </a:rPr>
              <a:t> between the variables.</a:t>
            </a:r>
            <a:endParaRPr sz="2300" dirty="0">
              <a:solidFill>
                <a:schemeClr val="dk2"/>
              </a:solidFill>
            </a:endParaRPr>
          </a:p>
        </p:txBody>
      </p:sp>
      <p:sp>
        <p:nvSpPr>
          <p:cNvPr id="122" name="Google Shape;122;p22"/>
          <p:cNvSpPr txBox="1"/>
          <p:nvPr/>
        </p:nvSpPr>
        <p:spPr>
          <a:xfrm>
            <a:off x="482850" y="2591800"/>
            <a:ext cx="1466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rgbClr val="4A86E8"/>
              </a:solidFill>
            </a:endParaRPr>
          </a:p>
        </p:txBody>
      </p:sp>
    </p:spTree>
  </p:cSld>
  <p:clrMapOvr>
    <a:masterClrMapping/>
  </p:clrMapOvr>
  <p:transition spd="med">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3"/>
          <p:cNvSpPr txBox="1">
            <a:spLocks noGrp="1"/>
          </p:cNvSpPr>
          <p:nvPr>
            <p:ph type="title"/>
          </p:nvPr>
        </p:nvSpPr>
        <p:spPr>
          <a:xfrm>
            <a:off x="685800" y="445025"/>
            <a:ext cx="8146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GB" sz="2620" b="1" dirty="0">
                <a:solidFill>
                  <a:srgbClr val="3C78D8"/>
                </a:solidFill>
              </a:rPr>
              <a:t>Machine Learning Models</a:t>
            </a:r>
            <a:endParaRPr sz="2620" b="1" dirty="0">
              <a:solidFill>
                <a:srgbClr val="3C78D8"/>
              </a:solidFill>
            </a:endParaRPr>
          </a:p>
        </p:txBody>
      </p:sp>
      <p:sp>
        <p:nvSpPr>
          <p:cNvPr id="128" name="Google Shape;128;p23"/>
          <p:cNvSpPr txBox="1">
            <a:spLocks noGrp="1"/>
          </p:cNvSpPr>
          <p:nvPr>
            <p:ph type="body" idx="1"/>
          </p:nvPr>
        </p:nvSpPr>
        <p:spPr>
          <a:xfrm>
            <a:off x="685800" y="1152475"/>
            <a:ext cx="3886200" cy="3395032"/>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sz="2000" b="1" u="sng" dirty="0"/>
              <a:t>Logistic regression</a:t>
            </a:r>
            <a:endParaRPr sz="2000" b="1" u="sng" dirty="0"/>
          </a:p>
          <a:p>
            <a:pPr marL="0" lvl="0" indent="0" algn="l" rtl="0">
              <a:spcBef>
                <a:spcPts val="1200"/>
              </a:spcBef>
              <a:spcAft>
                <a:spcPts val="1200"/>
              </a:spcAft>
              <a:buNone/>
            </a:pPr>
            <a:r>
              <a:rPr lang="en-GB" sz="1800" i="1" dirty="0">
                <a:solidFill>
                  <a:schemeClr val="dk1"/>
                </a:solidFill>
                <a:latin typeface="Times New Roman"/>
                <a:cs typeface="Times New Roman"/>
                <a:sym typeface="Times New Roman"/>
              </a:rPr>
              <a:t>Logistic Regression is a well-established baseline classifier that performs well when the relationship between features and the target is linear. </a:t>
            </a:r>
            <a:endParaRPr sz="1800" i="1" dirty="0">
              <a:solidFill>
                <a:schemeClr val="dk1"/>
              </a:solidFill>
              <a:latin typeface="Times New Roman"/>
              <a:cs typeface="Times New Roman"/>
            </a:endParaRPr>
          </a:p>
        </p:txBody>
      </p:sp>
      <p:sp>
        <p:nvSpPr>
          <p:cNvPr id="129" name="Google Shape;129;p23"/>
          <p:cNvSpPr txBox="1">
            <a:spLocks noGrp="1"/>
          </p:cNvSpPr>
          <p:nvPr>
            <p:ph type="body" idx="2"/>
          </p:nvPr>
        </p:nvSpPr>
        <p:spPr>
          <a:xfrm>
            <a:off x="4832400" y="1152475"/>
            <a:ext cx="3999900" cy="2885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sz="2000" b="1" u="sng" dirty="0"/>
              <a:t>Random Forest</a:t>
            </a:r>
            <a:endParaRPr sz="2000" b="1" u="sng" dirty="0"/>
          </a:p>
          <a:p>
            <a:pPr marL="0" lvl="0" indent="0" algn="l" rtl="0">
              <a:spcBef>
                <a:spcPts val="1200"/>
              </a:spcBef>
              <a:spcAft>
                <a:spcPts val="1200"/>
              </a:spcAft>
              <a:buNone/>
            </a:pPr>
            <a:r>
              <a:rPr lang="en-GB" sz="1800" i="1" dirty="0">
                <a:solidFill>
                  <a:schemeClr val="dk1"/>
                </a:solidFill>
                <a:latin typeface="Times New Roman"/>
                <a:ea typeface="Times New Roman"/>
                <a:cs typeface="Times New Roman"/>
                <a:sym typeface="Times New Roman"/>
              </a:rPr>
              <a:t>Random Forest is a robust, non-linear ensemble method that can capture complex patterns in the data. It builds multiple decision trees and combines their predictions to improve accuracy. It is less prone to overfitting than a single decision tree.</a:t>
            </a:r>
            <a:endParaRPr sz="2100" i="1" dirty="0"/>
          </a:p>
        </p:txBody>
      </p:sp>
      <p:sp>
        <p:nvSpPr>
          <p:cNvPr id="2" name="文本框 1">
            <a:extLst>
              <a:ext uri="{FF2B5EF4-FFF2-40B4-BE49-F238E27FC236}">
                <a16:creationId xmlns:a16="http://schemas.microsoft.com/office/drawing/2014/main" id="{9E121EB8-851E-5D96-7249-AD4184622361}"/>
              </a:ext>
            </a:extLst>
          </p:cNvPr>
          <p:cNvSpPr txBox="1"/>
          <p:nvPr/>
        </p:nvSpPr>
        <p:spPr>
          <a:xfrm>
            <a:off x="685800" y="4139293"/>
            <a:ext cx="7903029" cy="646331"/>
          </a:xfrm>
          <a:prstGeom prst="rect">
            <a:avLst/>
          </a:prstGeom>
          <a:noFill/>
        </p:spPr>
        <p:txBody>
          <a:bodyPr wrap="square" rtlCol="0">
            <a:spAutoFit/>
          </a:bodyPr>
          <a:lstStyle/>
          <a:p>
            <a:pPr rtl="0">
              <a:buNone/>
            </a:pPr>
            <a:r>
              <a:rPr lang="en-GB" sz="1800" b="0" i="0" u="none" strike="noStrike" dirty="0">
                <a:solidFill>
                  <a:srgbClr val="000000"/>
                </a:solidFill>
                <a:effectLst/>
                <a:latin typeface="Times New Roman" panose="02020603050405020304" pitchFamily="18" charset="0"/>
              </a:rPr>
              <a:t>This combination of linear and non-linear models allows us to compare performance across different learning strategies and complexity levels. </a:t>
            </a:r>
            <a:endParaRPr lang="en-GB" b="0" dirty="0">
              <a:effectLst/>
            </a:endParaRPr>
          </a:p>
        </p:txBody>
      </p:sp>
    </p:spTree>
  </p:cSld>
  <p:clrMapOvr>
    <a:masterClrMapping/>
  </p:clrMapOvr>
  <p:transition spd="med">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4"/>
          <p:cNvSpPr txBox="1">
            <a:spLocks noGrp="1"/>
          </p:cNvSpPr>
          <p:nvPr>
            <p:ph type="title"/>
          </p:nvPr>
        </p:nvSpPr>
        <p:spPr>
          <a:xfrm>
            <a:off x="311700" y="377350"/>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Clr>
                <a:schemeClr val="dk1"/>
              </a:buClr>
              <a:buSzPct val="39285"/>
              <a:buFont typeface="Arial"/>
              <a:buNone/>
            </a:pPr>
            <a:r>
              <a:rPr lang="en-GB" b="1" i="1"/>
              <a:t>Model performance overview</a:t>
            </a:r>
            <a:endParaRPr/>
          </a:p>
        </p:txBody>
      </p:sp>
      <p:sp>
        <p:nvSpPr>
          <p:cNvPr id="135" name="Google Shape;135;p24"/>
          <p:cNvSpPr txBox="1">
            <a:spLocks noGrp="1"/>
          </p:cNvSpPr>
          <p:nvPr>
            <p:ph type="body" idx="1"/>
          </p:nvPr>
        </p:nvSpPr>
        <p:spPr>
          <a:xfrm>
            <a:off x="661306" y="1186300"/>
            <a:ext cx="8399294" cy="5727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1"/>
              </a:buClr>
              <a:buSzPts val="1100"/>
              <a:buFont typeface="Arial"/>
              <a:buNone/>
            </a:pPr>
            <a:r>
              <a:rPr lang="en-GB" sz="1500" dirty="0">
                <a:solidFill>
                  <a:schemeClr val="dk1"/>
                </a:solidFill>
              </a:rPr>
              <a:t>We used</a:t>
            </a:r>
            <a:r>
              <a:rPr lang="en-GB" sz="1500" i="1" dirty="0">
                <a:solidFill>
                  <a:schemeClr val="dk1"/>
                </a:solidFill>
              </a:rPr>
              <a:t> </a:t>
            </a:r>
            <a:r>
              <a:rPr lang="en-GB" sz="1500" b="1" i="1" dirty="0">
                <a:solidFill>
                  <a:schemeClr val="dk1"/>
                </a:solidFill>
              </a:rPr>
              <a:t>Stratified</a:t>
            </a:r>
            <a:r>
              <a:rPr lang="en-GB" sz="1200" b="1" dirty="0">
                <a:solidFill>
                  <a:schemeClr val="dk1"/>
                </a:solidFill>
              </a:rPr>
              <a:t> </a:t>
            </a:r>
            <a:r>
              <a:rPr lang="en-GB" sz="1500" b="1" i="1" dirty="0">
                <a:solidFill>
                  <a:schemeClr val="dk1"/>
                </a:solidFill>
              </a:rPr>
              <a:t>80-20 train-test split</a:t>
            </a:r>
            <a:r>
              <a:rPr lang="en-GB" sz="1500" i="1" dirty="0">
                <a:solidFill>
                  <a:schemeClr val="dk1"/>
                </a:solidFill>
              </a:rPr>
              <a:t> </a:t>
            </a:r>
            <a:r>
              <a:rPr lang="en-GB" sz="1500" dirty="0">
                <a:solidFill>
                  <a:schemeClr val="dk1"/>
                </a:solidFill>
              </a:rPr>
              <a:t>and applied </a:t>
            </a:r>
            <a:r>
              <a:rPr lang="en-GB" sz="1500" b="1" i="1" u="sng" dirty="0">
                <a:solidFill>
                  <a:schemeClr val="dk1"/>
                </a:solidFill>
              </a:rPr>
              <a:t>Cross-validation</a:t>
            </a:r>
            <a:r>
              <a:rPr lang="en-GB" sz="1500" i="1" dirty="0">
                <a:solidFill>
                  <a:schemeClr val="dk1"/>
                </a:solidFill>
              </a:rPr>
              <a:t> </a:t>
            </a:r>
            <a:r>
              <a:rPr lang="en-GB" sz="1500" dirty="0">
                <a:solidFill>
                  <a:schemeClr val="dk1"/>
                </a:solidFill>
              </a:rPr>
              <a:t>for model validation.</a:t>
            </a:r>
            <a:endParaRPr dirty="0"/>
          </a:p>
        </p:txBody>
      </p:sp>
      <p:graphicFrame>
        <p:nvGraphicFramePr>
          <p:cNvPr id="136" name="Google Shape;136;p24"/>
          <p:cNvGraphicFramePr/>
          <p:nvPr>
            <p:extLst>
              <p:ext uri="{D42A27DB-BD31-4B8C-83A1-F6EECF244321}">
                <p14:modId xmlns:p14="http://schemas.microsoft.com/office/powerpoint/2010/main" val="2952656963"/>
              </p:ext>
            </p:extLst>
          </p:nvPr>
        </p:nvGraphicFramePr>
        <p:xfrm>
          <a:off x="661306" y="1899450"/>
          <a:ext cx="8257093" cy="1973970"/>
        </p:xfrm>
        <a:graphic>
          <a:graphicData uri="http://schemas.openxmlformats.org/drawingml/2006/table">
            <a:tbl>
              <a:tblPr>
                <a:noFill/>
                <a:tableStyleId>{E5867858-D38C-4A6E-B77B-43783D642FB1}</a:tableStyleId>
              </a:tblPr>
              <a:tblGrid>
                <a:gridCol w="2752364">
                  <a:extLst>
                    <a:ext uri="{9D8B030D-6E8A-4147-A177-3AD203B41FA5}">
                      <a16:colId xmlns:a16="http://schemas.microsoft.com/office/drawing/2014/main" val="20000"/>
                    </a:ext>
                  </a:extLst>
                </a:gridCol>
                <a:gridCol w="1453796">
                  <a:extLst>
                    <a:ext uri="{9D8B030D-6E8A-4147-A177-3AD203B41FA5}">
                      <a16:colId xmlns:a16="http://schemas.microsoft.com/office/drawing/2014/main" val="20001"/>
                    </a:ext>
                  </a:extLst>
                </a:gridCol>
                <a:gridCol w="4050933">
                  <a:extLst>
                    <a:ext uri="{9D8B030D-6E8A-4147-A177-3AD203B41FA5}">
                      <a16:colId xmlns:a16="http://schemas.microsoft.com/office/drawing/2014/main" val="20002"/>
                    </a:ext>
                  </a:extLst>
                </a:gridCol>
              </a:tblGrid>
              <a:tr h="428550">
                <a:tc>
                  <a:txBody>
                    <a:bodyPr/>
                    <a:lstStyle/>
                    <a:p>
                      <a:pPr marL="0" lvl="0" indent="0" algn="ctr" rtl="0">
                        <a:lnSpc>
                          <a:spcPct val="115000"/>
                        </a:lnSpc>
                        <a:spcBef>
                          <a:spcPts val="0"/>
                        </a:spcBef>
                        <a:spcAft>
                          <a:spcPts val="0"/>
                        </a:spcAft>
                        <a:buNone/>
                      </a:pPr>
                      <a:r>
                        <a:rPr lang="en-GB" sz="1500" b="1">
                          <a:latin typeface="Verdana"/>
                          <a:ea typeface="Verdana"/>
                          <a:cs typeface="Verdana"/>
                          <a:sym typeface="Verdana"/>
                        </a:rPr>
                        <a:t>Model</a:t>
                      </a:r>
                      <a:endParaRPr sz="1500" b="1">
                        <a:latin typeface="Verdana"/>
                        <a:ea typeface="Verdana"/>
                        <a:cs typeface="Verdana"/>
                        <a:sym typeface="Verdana"/>
                      </a:endParaRPr>
                    </a:p>
                  </a:txBody>
                  <a:tcPr marL="91425" marR="91425" marT="91425" marB="914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sz="1500" b="1">
                          <a:latin typeface="Verdana"/>
                          <a:ea typeface="Verdana"/>
                          <a:cs typeface="Verdana"/>
                          <a:sym typeface="Verdana"/>
                        </a:rPr>
                        <a:t>Accuracy</a:t>
                      </a:r>
                      <a:endParaRPr sz="1500" b="1">
                        <a:latin typeface="Verdana"/>
                        <a:ea typeface="Verdana"/>
                        <a:cs typeface="Verdana"/>
                        <a:sym typeface="Verdana"/>
                      </a:endParaRPr>
                    </a:p>
                  </a:txBody>
                  <a:tcPr marL="91425" marR="91425" marT="91425" marB="914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sz="1500" b="1">
                          <a:latin typeface="Verdana"/>
                          <a:ea typeface="Verdana"/>
                          <a:cs typeface="Verdana"/>
                          <a:sym typeface="Verdana"/>
                        </a:rPr>
                        <a:t>Notes</a:t>
                      </a:r>
                      <a:endParaRPr sz="1500" b="1">
                        <a:latin typeface="Verdana"/>
                        <a:ea typeface="Verdana"/>
                        <a:cs typeface="Verdana"/>
                        <a:sym typeface="Verdana"/>
                      </a:endParaRPr>
                    </a:p>
                  </a:txBody>
                  <a:tcPr marL="91425" marR="91425" marT="91425" marB="914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745350">
                <a:tc>
                  <a:txBody>
                    <a:bodyPr/>
                    <a:lstStyle/>
                    <a:p>
                      <a:pPr marL="0" lvl="0" indent="0" algn="ctr" rtl="0">
                        <a:spcBef>
                          <a:spcPts val="0"/>
                        </a:spcBef>
                        <a:spcAft>
                          <a:spcPts val="0"/>
                        </a:spcAft>
                        <a:buNone/>
                      </a:pPr>
                      <a:r>
                        <a:rPr lang="en-GB">
                          <a:latin typeface="Verdana"/>
                          <a:ea typeface="Verdana"/>
                          <a:cs typeface="Verdana"/>
                          <a:sym typeface="Verdana"/>
                        </a:rPr>
                        <a:t>Logistic Regression</a:t>
                      </a:r>
                      <a:endParaRPr>
                        <a:latin typeface="Verdana"/>
                        <a:ea typeface="Verdana"/>
                        <a:cs typeface="Verdana"/>
                        <a:sym typeface="Verdana"/>
                      </a:endParaRPr>
                    </a:p>
                  </a:txBody>
                  <a:tcPr marL="91425" marR="91425" marT="91425" marB="91425"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GB">
                          <a:latin typeface="Verdana"/>
                          <a:ea typeface="Verdana"/>
                          <a:cs typeface="Verdana"/>
                          <a:sym typeface="Verdana"/>
                        </a:rPr>
                        <a:t>42%</a:t>
                      </a:r>
                      <a:endParaRPr>
                        <a:latin typeface="Verdana"/>
                        <a:ea typeface="Verdana"/>
                        <a:cs typeface="Verdana"/>
                        <a:sym typeface="Verdana"/>
                      </a:endParaRPr>
                    </a:p>
                  </a:txBody>
                  <a:tcPr marL="91425" marR="91425" marT="91425" marB="91425"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GB">
                          <a:latin typeface="Verdana"/>
                          <a:ea typeface="Verdana"/>
                          <a:cs typeface="Verdana"/>
                          <a:sym typeface="Verdana"/>
                        </a:rPr>
                        <a:t>These results indicate imbalanced classes and limited features may be key factors limiting performance. </a:t>
                      </a:r>
                      <a:endParaRPr/>
                    </a:p>
                  </a:txBody>
                  <a:tcPr marL="91425" marR="91425" marT="91425" marB="91425"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1"/>
                  </a:ext>
                </a:extLst>
              </a:tr>
              <a:tr h="745350">
                <a:tc>
                  <a:txBody>
                    <a:bodyPr/>
                    <a:lstStyle/>
                    <a:p>
                      <a:pPr marL="0" lvl="0" indent="0" algn="ctr" rtl="0">
                        <a:spcBef>
                          <a:spcPts val="0"/>
                        </a:spcBef>
                        <a:spcAft>
                          <a:spcPts val="0"/>
                        </a:spcAft>
                        <a:buNone/>
                      </a:pPr>
                      <a:r>
                        <a:rPr lang="en-GB">
                          <a:latin typeface="Verdana"/>
                          <a:ea typeface="Verdana"/>
                          <a:cs typeface="Verdana"/>
                          <a:sym typeface="Verdana"/>
                        </a:rPr>
                        <a:t>Random Forest</a:t>
                      </a:r>
                      <a:endParaRPr>
                        <a:latin typeface="Verdana"/>
                        <a:ea typeface="Verdana"/>
                        <a:cs typeface="Verdana"/>
                        <a:sym typeface="Verdana"/>
                      </a:endParaRPr>
                    </a:p>
                  </a:txBody>
                  <a:tcPr marL="91425" marR="91425" marT="91425" marB="91425"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GB">
                          <a:latin typeface="Verdana"/>
                          <a:ea typeface="Verdana"/>
                          <a:cs typeface="Verdana"/>
                          <a:sym typeface="Verdana"/>
                        </a:rPr>
                        <a:t>40%</a:t>
                      </a:r>
                      <a:endParaRPr>
                        <a:latin typeface="Verdana"/>
                        <a:ea typeface="Verdana"/>
                        <a:cs typeface="Verdana"/>
                        <a:sym typeface="Verdana"/>
                      </a:endParaRPr>
                    </a:p>
                  </a:txBody>
                  <a:tcPr marL="91425" marR="91425" marT="91425" marB="91425"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dirty="0"/>
                    </a:p>
                  </a:txBody>
                  <a:tcPr marL="91425" marR="91425" marT="91425" marB="91425"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alpha val="0"/>
                        </a:schemeClr>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137" name="Google Shape;137;p24"/>
          <p:cNvSpPr txBox="1"/>
          <p:nvPr/>
        </p:nvSpPr>
        <p:spPr>
          <a:xfrm>
            <a:off x="661306" y="4049375"/>
            <a:ext cx="8257094" cy="1169521"/>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600" dirty="0">
                <a:solidFill>
                  <a:schemeClr val="dk1"/>
                </a:solidFill>
                <a:latin typeface="Times New Roman"/>
                <a:ea typeface="Times New Roman"/>
                <a:cs typeface="Times New Roman"/>
                <a:sym typeface="Times New Roman"/>
              </a:rPr>
              <a:t>Both models show limited predictive performance, with overall accuracies of 42% for Logistic Regression and 40% for Random Forest. Given the imbalanced class distribution (e.g. only 0.67% of cases fall into the “fatal injury” category), these accuracy values should be interpreted cautiously.</a:t>
            </a:r>
            <a:endParaRPr sz="2300" dirty="0">
              <a:solidFill>
                <a:schemeClr val="dk2"/>
              </a:solidFill>
            </a:endParaRPr>
          </a:p>
        </p:txBody>
      </p:sp>
    </p:spTree>
  </p:cSld>
  <p:clrMapOvr>
    <a:masterClrMapping/>
  </p:clrMapOvr>
  <p:transition spd="med">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6"/>
          <p:cNvSpPr txBox="1">
            <a:spLocks noGrp="1"/>
          </p:cNvSpPr>
          <p:nvPr>
            <p:ph type="title"/>
          </p:nvPr>
        </p:nvSpPr>
        <p:spPr>
          <a:xfrm>
            <a:off x="187600" y="170625"/>
            <a:ext cx="8520600" cy="615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b="1" i="1"/>
              <a:t>Model performance summary</a:t>
            </a:r>
            <a:endParaRPr b="1" i="1"/>
          </a:p>
        </p:txBody>
      </p:sp>
      <p:graphicFrame>
        <p:nvGraphicFramePr>
          <p:cNvPr id="150" name="Google Shape;150;p26"/>
          <p:cNvGraphicFramePr/>
          <p:nvPr>
            <p:extLst>
              <p:ext uri="{D42A27DB-BD31-4B8C-83A1-F6EECF244321}">
                <p14:modId xmlns:p14="http://schemas.microsoft.com/office/powerpoint/2010/main" val="2004999962"/>
              </p:ext>
            </p:extLst>
          </p:nvPr>
        </p:nvGraphicFramePr>
        <p:xfrm>
          <a:off x="620487" y="1327500"/>
          <a:ext cx="4282412" cy="3718030"/>
        </p:xfrm>
        <a:graphic>
          <a:graphicData uri="http://schemas.openxmlformats.org/drawingml/2006/table">
            <a:tbl>
              <a:tblPr>
                <a:noFill/>
                <a:tableStyleId>{E5867858-D38C-4A6E-B77B-43783D642FB1}</a:tableStyleId>
              </a:tblPr>
              <a:tblGrid>
                <a:gridCol w="816429">
                  <a:extLst>
                    <a:ext uri="{9D8B030D-6E8A-4147-A177-3AD203B41FA5}">
                      <a16:colId xmlns:a16="http://schemas.microsoft.com/office/drawing/2014/main" val="20000"/>
                    </a:ext>
                  </a:extLst>
                </a:gridCol>
                <a:gridCol w="816429">
                  <a:extLst>
                    <a:ext uri="{9D8B030D-6E8A-4147-A177-3AD203B41FA5}">
                      <a16:colId xmlns:a16="http://schemas.microsoft.com/office/drawing/2014/main" val="20001"/>
                    </a:ext>
                  </a:extLst>
                </a:gridCol>
                <a:gridCol w="816429">
                  <a:extLst>
                    <a:ext uri="{9D8B030D-6E8A-4147-A177-3AD203B41FA5}">
                      <a16:colId xmlns:a16="http://schemas.microsoft.com/office/drawing/2014/main" val="20002"/>
                    </a:ext>
                  </a:extLst>
                </a:gridCol>
                <a:gridCol w="816429">
                  <a:extLst>
                    <a:ext uri="{9D8B030D-6E8A-4147-A177-3AD203B41FA5}">
                      <a16:colId xmlns:a16="http://schemas.microsoft.com/office/drawing/2014/main" val="20003"/>
                    </a:ext>
                  </a:extLst>
                </a:gridCol>
                <a:gridCol w="1016696">
                  <a:extLst>
                    <a:ext uri="{9D8B030D-6E8A-4147-A177-3AD203B41FA5}">
                      <a16:colId xmlns:a16="http://schemas.microsoft.com/office/drawing/2014/main" val="20004"/>
                    </a:ext>
                  </a:extLst>
                </a:gridCol>
              </a:tblGrid>
              <a:tr h="454304">
                <a:tc>
                  <a:txBody>
                    <a:bodyPr/>
                    <a:lstStyle/>
                    <a:p>
                      <a:pPr marL="63500" marR="63500" algn="ctr" rtl="0" fontAlgn="ctr">
                        <a:spcAft>
                          <a:spcPts val="1000"/>
                        </a:spcAft>
                        <a:buNone/>
                      </a:pPr>
                      <a:r>
                        <a:rPr lang="en-AU" sz="900" b="0" i="0" u="none" strike="noStrike">
                          <a:solidFill>
                            <a:srgbClr val="000000"/>
                          </a:solidFill>
                          <a:effectLst/>
                          <a:latin typeface="Arial" panose="020B0604020202020204" pitchFamily="34" charset="0"/>
                        </a:rPr>
                        <a:t> </a:t>
                      </a:r>
                      <a:endParaRPr lang="en-AU">
                        <a:effectLst/>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00" marR="63500" algn="ctr" rtl="0" fontAlgn="ctr">
                        <a:spcAft>
                          <a:spcPts val="1000"/>
                        </a:spcAft>
                        <a:buNone/>
                      </a:pPr>
                      <a:r>
                        <a:rPr lang="en-AU" sz="900" b="0" i="0" u="none" strike="noStrike">
                          <a:solidFill>
                            <a:srgbClr val="000000"/>
                          </a:solidFill>
                          <a:effectLst/>
                          <a:latin typeface="Arial" panose="020B0604020202020204" pitchFamily="34" charset="0"/>
                        </a:rPr>
                        <a:t>precision </a:t>
                      </a:r>
                      <a:endParaRPr lang="en-AU">
                        <a:effectLst/>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00" marR="63500" algn="ctr" rtl="0" fontAlgn="ctr">
                        <a:spcAft>
                          <a:spcPts val="1000"/>
                        </a:spcAft>
                        <a:buNone/>
                      </a:pPr>
                      <a:r>
                        <a:rPr lang="en-AU" sz="1000" b="1" i="1" u="none" strike="noStrike">
                          <a:solidFill>
                            <a:srgbClr val="000000"/>
                          </a:solidFill>
                          <a:effectLst/>
                          <a:latin typeface="Arial" panose="020B0604020202020204" pitchFamily="34" charset="0"/>
                        </a:rPr>
                        <a:t>recall </a:t>
                      </a:r>
                      <a:endParaRPr lang="en-AU">
                        <a:effectLst/>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9DAF8"/>
                    </a:solidFill>
                  </a:tcPr>
                </a:tc>
                <a:tc>
                  <a:txBody>
                    <a:bodyPr/>
                    <a:lstStyle/>
                    <a:p>
                      <a:pPr marL="63500" marR="63500" algn="ctr" rtl="0" fontAlgn="ctr">
                        <a:spcAft>
                          <a:spcPts val="1000"/>
                        </a:spcAft>
                        <a:buNone/>
                      </a:pPr>
                      <a:r>
                        <a:rPr lang="en-AU" sz="1000" b="1" i="1" u="none" strike="noStrike">
                          <a:solidFill>
                            <a:srgbClr val="000000"/>
                          </a:solidFill>
                          <a:effectLst/>
                          <a:latin typeface="Arial" panose="020B0604020202020204" pitchFamily="34" charset="0"/>
                        </a:rPr>
                        <a:t>f1-score </a:t>
                      </a:r>
                      <a:endParaRPr lang="en-AU">
                        <a:effectLst/>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9DAF8"/>
                    </a:solidFill>
                  </a:tcPr>
                </a:tc>
                <a:tc>
                  <a:txBody>
                    <a:bodyPr/>
                    <a:lstStyle/>
                    <a:p>
                      <a:pPr marL="63500" marR="63500" algn="ctr" rtl="0" fontAlgn="ctr">
                        <a:spcAft>
                          <a:spcPts val="1000"/>
                        </a:spcAft>
                        <a:buNone/>
                      </a:pPr>
                      <a:r>
                        <a:rPr lang="en-AU" sz="900" b="0" i="0" u="none" strike="noStrike">
                          <a:solidFill>
                            <a:srgbClr val="000000"/>
                          </a:solidFill>
                          <a:effectLst/>
                          <a:latin typeface="Arial" panose="020B0604020202020204" pitchFamily="34" charset="0"/>
                        </a:rPr>
                        <a:t>support </a:t>
                      </a:r>
                      <a:endParaRPr lang="en-AU">
                        <a:effectLst/>
                      </a:endParaRPr>
                    </a:p>
                  </a:txBody>
                  <a:tcPr marL="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468237">
                <a:tc>
                  <a:txBody>
                    <a:bodyPr/>
                    <a:lstStyle/>
                    <a:p>
                      <a:pPr marL="63500" marR="63500" algn="ctr" rtl="0" fontAlgn="ctr">
                        <a:spcAft>
                          <a:spcPts val="1000"/>
                        </a:spcAft>
                        <a:buNone/>
                      </a:pPr>
                      <a:r>
                        <a:rPr lang="en-AU" sz="900" b="0" i="0" u="none" strike="noStrike">
                          <a:solidFill>
                            <a:srgbClr val="000000"/>
                          </a:solidFill>
                          <a:effectLst/>
                          <a:latin typeface="Arial" panose="020B0604020202020204" pitchFamily="34" charset="0"/>
                        </a:rPr>
                        <a:t>Fatal Injury </a:t>
                      </a:r>
                      <a:endParaRPr lang="en-AU">
                        <a:effectLst/>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00" marR="63500" algn="ctr" rtl="0" fontAlgn="ctr">
                        <a:spcBef>
                          <a:spcPts val="1200"/>
                        </a:spcBef>
                        <a:spcAft>
                          <a:spcPts val="1200"/>
                        </a:spcAft>
                        <a:buNone/>
                      </a:pPr>
                      <a:r>
                        <a:rPr lang="en-AU" sz="900" b="0" i="0" u="none" strike="noStrike">
                          <a:solidFill>
                            <a:srgbClr val="000000"/>
                          </a:solidFill>
                          <a:effectLst/>
                          <a:latin typeface="Arial" panose="020B0604020202020204" pitchFamily="34" charset="0"/>
                        </a:rPr>
                        <a:t>0.01 </a:t>
                      </a:r>
                      <a:endParaRPr lang="en-AU">
                        <a:effectLst/>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00" marR="63500" algn="ctr" rtl="0" fontAlgn="ctr">
                        <a:spcAft>
                          <a:spcPts val="1000"/>
                        </a:spcAft>
                        <a:buNone/>
                      </a:pPr>
                      <a:r>
                        <a:rPr lang="en-AU" sz="1000" b="1" i="1" u="none" strike="noStrike">
                          <a:solidFill>
                            <a:srgbClr val="000000"/>
                          </a:solidFill>
                          <a:effectLst/>
                          <a:latin typeface="Arial" panose="020B0604020202020204" pitchFamily="34" charset="0"/>
                        </a:rPr>
                        <a:t>0.29 </a:t>
                      </a:r>
                      <a:endParaRPr lang="en-AU">
                        <a:effectLst/>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9DAF8"/>
                    </a:solidFill>
                  </a:tcPr>
                </a:tc>
                <a:tc>
                  <a:txBody>
                    <a:bodyPr/>
                    <a:lstStyle/>
                    <a:p>
                      <a:pPr marR="2261" indent="-158242" algn="ctr" rtl="0" fontAlgn="ctr">
                        <a:spcAft>
                          <a:spcPts val="1000"/>
                        </a:spcAft>
                        <a:buNone/>
                      </a:pPr>
                      <a:r>
                        <a:rPr lang="en-AU" sz="1000" b="1" i="1" u="none" strike="noStrike">
                          <a:solidFill>
                            <a:srgbClr val="000000"/>
                          </a:solidFill>
                          <a:effectLst/>
                          <a:latin typeface="Arial" panose="020B0604020202020204" pitchFamily="34" charset="0"/>
                        </a:rPr>
                        <a:t>0.03 </a:t>
                      </a:r>
                      <a:endParaRPr lang="en-AU">
                        <a:effectLst/>
                      </a:endParaRPr>
                    </a:p>
                  </a:txBody>
                  <a:tcPr marL="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9DAF8"/>
                    </a:solidFill>
                  </a:tcPr>
                </a:tc>
                <a:tc>
                  <a:txBody>
                    <a:bodyPr/>
                    <a:lstStyle/>
                    <a:p>
                      <a:pPr marL="63500" algn="ctr" rtl="0" fontAlgn="ctr">
                        <a:spcAft>
                          <a:spcPts val="1000"/>
                        </a:spcAft>
                        <a:buNone/>
                      </a:pPr>
                      <a:r>
                        <a:rPr lang="en-AU" sz="900" b="0" i="0" u="none" strike="noStrike">
                          <a:solidFill>
                            <a:srgbClr val="000000"/>
                          </a:solidFill>
                          <a:effectLst/>
                          <a:latin typeface="Arial" panose="020B0604020202020204" pitchFamily="34" charset="0"/>
                        </a:rPr>
                        <a:t>539 </a:t>
                      </a:r>
                      <a:endParaRPr lang="en-AU">
                        <a:effectLst/>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68237">
                <a:tc>
                  <a:txBody>
                    <a:bodyPr/>
                    <a:lstStyle/>
                    <a:p>
                      <a:pPr marL="63500" marR="63500" algn="ctr" rtl="0" fontAlgn="ctr">
                        <a:spcAft>
                          <a:spcPts val="1000"/>
                        </a:spcAft>
                        <a:buNone/>
                      </a:pPr>
                      <a:r>
                        <a:rPr lang="en-AU" sz="900" b="0" i="0" u="none" strike="noStrike">
                          <a:solidFill>
                            <a:srgbClr val="000000"/>
                          </a:solidFill>
                          <a:effectLst/>
                          <a:latin typeface="Arial" panose="020B0604020202020204" pitchFamily="34" charset="0"/>
                        </a:rPr>
                        <a:t>Non-Injury </a:t>
                      </a:r>
                      <a:endParaRPr lang="en-AU">
                        <a:effectLst/>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00" marR="63500" algn="ctr" rtl="0" fontAlgn="ctr">
                        <a:spcAft>
                          <a:spcPts val="1000"/>
                        </a:spcAft>
                        <a:buNone/>
                      </a:pPr>
                      <a:r>
                        <a:rPr lang="en-AU" sz="900" b="0" i="0" u="none" strike="noStrike">
                          <a:solidFill>
                            <a:srgbClr val="000000"/>
                          </a:solidFill>
                          <a:effectLst/>
                          <a:latin typeface="Arial" panose="020B0604020202020204" pitchFamily="34" charset="0"/>
                        </a:rPr>
                        <a:t>0.51 </a:t>
                      </a:r>
                      <a:endParaRPr lang="en-AU">
                        <a:effectLst/>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00" marR="63500" algn="ctr" rtl="0" fontAlgn="ctr">
                        <a:spcAft>
                          <a:spcPts val="1000"/>
                        </a:spcAft>
                        <a:buNone/>
                      </a:pPr>
                      <a:r>
                        <a:rPr lang="en-AU" sz="1000" b="1" i="1" u="none" strike="noStrike">
                          <a:solidFill>
                            <a:srgbClr val="000000"/>
                          </a:solidFill>
                          <a:effectLst/>
                          <a:latin typeface="Arial" panose="020B0604020202020204" pitchFamily="34" charset="0"/>
                        </a:rPr>
                        <a:t>0.79 </a:t>
                      </a:r>
                      <a:endParaRPr lang="en-AU">
                        <a:effectLst/>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9DAF8"/>
                    </a:solidFill>
                  </a:tcPr>
                </a:tc>
                <a:tc>
                  <a:txBody>
                    <a:bodyPr/>
                    <a:lstStyle/>
                    <a:p>
                      <a:pPr marL="63500" marR="63500" algn="ctr" rtl="0" fontAlgn="ctr">
                        <a:spcAft>
                          <a:spcPts val="1000"/>
                        </a:spcAft>
                        <a:buNone/>
                      </a:pPr>
                      <a:r>
                        <a:rPr lang="en-AU" sz="1000" b="1" i="1" u="none" strike="noStrike">
                          <a:solidFill>
                            <a:srgbClr val="000000"/>
                          </a:solidFill>
                          <a:effectLst/>
                          <a:latin typeface="Arial" panose="020B0604020202020204" pitchFamily="34" charset="0"/>
                        </a:rPr>
                        <a:t>0.62 </a:t>
                      </a:r>
                      <a:endParaRPr lang="en-AU">
                        <a:effectLst/>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9DAF8"/>
                    </a:solidFill>
                  </a:tcPr>
                </a:tc>
                <a:tc>
                  <a:txBody>
                    <a:bodyPr/>
                    <a:lstStyle/>
                    <a:p>
                      <a:pPr marL="63500" marR="63500" algn="ctr" rtl="0" fontAlgn="ctr">
                        <a:spcAft>
                          <a:spcPts val="1000"/>
                        </a:spcAft>
                        <a:buNone/>
                      </a:pPr>
                      <a:r>
                        <a:rPr lang="en-AU" sz="900" b="0" i="0" u="none" strike="noStrike">
                          <a:solidFill>
                            <a:srgbClr val="000000"/>
                          </a:solidFill>
                          <a:effectLst/>
                          <a:latin typeface="Arial" panose="020B0604020202020204" pitchFamily="34" charset="0"/>
                        </a:rPr>
                        <a:t>36824 </a:t>
                      </a:r>
                      <a:endParaRPr lang="en-AU">
                        <a:effectLst/>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68237">
                <a:tc>
                  <a:txBody>
                    <a:bodyPr/>
                    <a:lstStyle/>
                    <a:p>
                      <a:pPr marL="63500" marR="63500" algn="ctr" rtl="0" fontAlgn="ctr">
                        <a:spcAft>
                          <a:spcPts val="1000"/>
                        </a:spcAft>
                        <a:buNone/>
                      </a:pPr>
                      <a:r>
                        <a:rPr lang="en-AU" sz="900" b="0" i="0" u="none" strike="noStrike">
                          <a:solidFill>
                            <a:srgbClr val="000000"/>
                          </a:solidFill>
                          <a:effectLst/>
                          <a:latin typeface="Arial" panose="020B0604020202020204" pitchFamily="34" charset="0"/>
                        </a:rPr>
                        <a:t>0ther Injury </a:t>
                      </a:r>
                      <a:endParaRPr lang="en-AU">
                        <a:effectLst/>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00" marR="63500" algn="ctr" rtl="0" fontAlgn="ctr">
                        <a:spcAft>
                          <a:spcPts val="1000"/>
                        </a:spcAft>
                        <a:buNone/>
                      </a:pPr>
                      <a:r>
                        <a:rPr lang="en-AU" sz="900" b="0" i="0" u="none" strike="noStrike">
                          <a:solidFill>
                            <a:srgbClr val="000000"/>
                          </a:solidFill>
                          <a:effectLst/>
                          <a:latin typeface="Arial" panose="020B0604020202020204" pitchFamily="34" charset="0"/>
                        </a:rPr>
                        <a:t>0.39 </a:t>
                      </a:r>
                      <a:endParaRPr lang="en-AU">
                        <a:effectLst/>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00" marR="63500" algn="ctr" rtl="0" fontAlgn="ctr">
                        <a:spcAft>
                          <a:spcPts val="1000"/>
                        </a:spcAft>
                        <a:buNone/>
                      </a:pPr>
                      <a:r>
                        <a:rPr lang="en-AU" sz="1000" b="1" i="1" u="none" strike="noStrike">
                          <a:solidFill>
                            <a:srgbClr val="000000"/>
                          </a:solidFill>
                          <a:effectLst/>
                          <a:latin typeface="Arial" panose="020B0604020202020204" pitchFamily="34" charset="0"/>
                        </a:rPr>
                        <a:t>0.09 </a:t>
                      </a:r>
                      <a:endParaRPr lang="en-AU">
                        <a:effectLst/>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9DAF8"/>
                    </a:solidFill>
                  </a:tcPr>
                </a:tc>
                <a:tc>
                  <a:txBody>
                    <a:bodyPr/>
                    <a:lstStyle/>
                    <a:p>
                      <a:pPr marL="63500" marR="63500" algn="ctr" rtl="0" fontAlgn="ctr">
                        <a:spcAft>
                          <a:spcPts val="1000"/>
                        </a:spcAft>
                        <a:buNone/>
                      </a:pPr>
                      <a:r>
                        <a:rPr lang="en-AU" sz="1000" b="1" i="1" u="none" strike="noStrike">
                          <a:solidFill>
                            <a:srgbClr val="000000"/>
                          </a:solidFill>
                          <a:effectLst/>
                          <a:latin typeface="Arial" panose="020B0604020202020204" pitchFamily="34" charset="0"/>
                        </a:rPr>
                        <a:t>0.15 </a:t>
                      </a:r>
                      <a:endParaRPr lang="en-AU">
                        <a:effectLst/>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9DAF8"/>
                    </a:solidFill>
                  </a:tcPr>
                </a:tc>
                <a:tc>
                  <a:txBody>
                    <a:bodyPr/>
                    <a:lstStyle/>
                    <a:p>
                      <a:pPr marL="63500" marR="63500" algn="ctr" rtl="0" fontAlgn="ctr">
                        <a:spcAft>
                          <a:spcPts val="1000"/>
                        </a:spcAft>
                        <a:buNone/>
                      </a:pPr>
                      <a:r>
                        <a:rPr lang="en-AU" sz="900" b="0" i="0" u="none" strike="noStrike">
                          <a:solidFill>
                            <a:srgbClr val="000000"/>
                          </a:solidFill>
                          <a:effectLst/>
                          <a:latin typeface="Arial" panose="020B0604020202020204" pitchFamily="34" charset="0"/>
                        </a:rPr>
                        <a:t>29252 </a:t>
                      </a:r>
                      <a:endParaRPr lang="en-AU">
                        <a:effectLst/>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468237">
                <a:tc>
                  <a:txBody>
                    <a:bodyPr/>
                    <a:lstStyle/>
                    <a:p>
                      <a:pPr marL="63500" marR="63500" algn="ctr" rtl="0" fontAlgn="ctr">
                        <a:spcAft>
                          <a:spcPts val="1000"/>
                        </a:spcAft>
                        <a:buNone/>
                      </a:pPr>
                      <a:r>
                        <a:rPr lang="en-AU" sz="900" b="0" i="0" u="none" strike="noStrike">
                          <a:solidFill>
                            <a:srgbClr val="000000"/>
                          </a:solidFill>
                          <a:effectLst/>
                          <a:latin typeface="Arial" panose="020B0604020202020204" pitchFamily="34" charset="0"/>
                        </a:rPr>
                        <a:t>Serious Injury </a:t>
                      </a:r>
                      <a:endParaRPr lang="en-AU">
                        <a:effectLst/>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00" marR="63500" algn="ctr" rtl="0" fontAlgn="ctr">
                        <a:spcAft>
                          <a:spcPts val="1000"/>
                        </a:spcAft>
                        <a:buNone/>
                      </a:pPr>
                      <a:r>
                        <a:rPr lang="en-AU" sz="900" b="0" i="0" u="none" strike="noStrike">
                          <a:solidFill>
                            <a:srgbClr val="000000"/>
                          </a:solidFill>
                          <a:effectLst/>
                          <a:latin typeface="Arial" panose="020B0604020202020204" pitchFamily="34" charset="0"/>
                        </a:rPr>
                        <a:t>0.28 </a:t>
                      </a:r>
                      <a:endParaRPr lang="en-AU">
                        <a:effectLst/>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00" marR="63500" algn="ctr" rtl="0" fontAlgn="ctr">
                        <a:spcAft>
                          <a:spcPts val="1000"/>
                        </a:spcAft>
                        <a:buNone/>
                      </a:pPr>
                      <a:r>
                        <a:rPr lang="en-AU" sz="1000" b="1" i="1" u="none" strike="noStrike" dirty="0">
                          <a:solidFill>
                            <a:srgbClr val="000000"/>
                          </a:solidFill>
                          <a:effectLst/>
                          <a:latin typeface="Arial" panose="020B0604020202020204" pitchFamily="34" charset="0"/>
                        </a:rPr>
                        <a:t>0.10 </a:t>
                      </a:r>
                      <a:endParaRPr lang="en-AU" dirty="0">
                        <a:effectLst/>
                      </a:endParaRPr>
                    </a:p>
                  </a:txBody>
                  <a:tcPr marL="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9DAF8"/>
                    </a:solidFill>
                  </a:tcPr>
                </a:tc>
                <a:tc>
                  <a:txBody>
                    <a:bodyPr/>
                    <a:lstStyle/>
                    <a:p>
                      <a:pPr marL="63500" marR="63500" algn="ctr" rtl="0" fontAlgn="ctr">
                        <a:spcAft>
                          <a:spcPts val="1000"/>
                        </a:spcAft>
                        <a:buNone/>
                      </a:pPr>
                      <a:r>
                        <a:rPr lang="en-AU" sz="1000" b="1" i="1" u="none" strike="noStrike">
                          <a:solidFill>
                            <a:srgbClr val="000000"/>
                          </a:solidFill>
                          <a:effectLst/>
                          <a:latin typeface="Arial" panose="020B0604020202020204" pitchFamily="34" charset="0"/>
                        </a:rPr>
                        <a:t>0.15 </a:t>
                      </a:r>
                      <a:endParaRPr lang="en-AU">
                        <a:effectLst/>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9DAF8"/>
                    </a:solidFill>
                  </a:tcPr>
                </a:tc>
                <a:tc>
                  <a:txBody>
                    <a:bodyPr/>
                    <a:lstStyle/>
                    <a:p>
                      <a:pPr marL="63500" marR="63500" algn="ctr" rtl="0" fontAlgn="ctr">
                        <a:spcAft>
                          <a:spcPts val="1000"/>
                        </a:spcAft>
                        <a:buNone/>
                      </a:pPr>
                      <a:r>
                        <a:rPr lang="en-AU" sz="900" b="0" i="0" u="none" strike="noStrike">
                          <a:solidFill>
                            <a:srgbClr val="000000"/>
                          </a:solidFill>
                          <a:effectLst/>
                          <a:latin typeface="Arial" panose="020B0604020202020204" pitchFamily="34" charset="0"/>
                        </a:rPr>
                        <a:t>13558 </a:t>
                      </a:r>
                      <a:endParaRPr lang="en-AU">
                        <a:effectLst/>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454304">
                <a:tc>
                  <a:txBody>
                    <a:bodyPr/>
                    <a:lstStyle/>
                    <a:p>
                      <a:pPr marL="63500" marR="63500" algn="ctr" rtl="0" fontAlgn="ctr">
                        <a:spcAft>
                          <a:spcPts val="1000"/>
                        </a:spcAft>
                        <a:buNone/>
                      </a:pPr>
                      <a:r>
                        <a:rPr lang="en-AU" sz="900" b="0" i="0" u="none" strike="noStrike">
                          <a:solidFill>
                            <a:srgbClr val="000000"/>
                          </a:solidFill>
                          <a:effectLst/>
                          <a:latin typeface="Arial" panose="020B0604020202020204" pitchFamily="34" charset="0"/>
                        </a:rPr>
                        <a:t>accuracy </a:t>
                      </a:r>
                      <a:endParaRPr lang="en-AU">
                        <a:effectLst/>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00" marR="63500" algn="ctr" rtl="0" fontAlgn="ctr">
                        <a:spcAft>
                          <a:spcPts val="1000"/>
                        </a:spcAft>
                        <a:buNone/>
                      </a:pPr>
                      <a:r>
                        <a:rPr lang="en-AU" sz="900" b="0" i="0" u="none" strike="noStrike">
                          <a:solidFill>
                            <a:srgbClr val="000000"/>
                          </a:solidFill>
                          <a:effectLst/>
                          <a:latin typeface="Arial" panose="020B0604020202020204" pitchFamily="34" charset="0"/>
                        </a:rPr>
                        <a:t> </a:t>
                      </a:r>
                      <a:endParaRPr lang="en-AU">
                        <a:effectLst/>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00" marR="63500" algn="ctr" rtl="0" fontAlgn="ctr">
                        <a:spcAft>
                          <a:spcPts val="1000"/>
                        </a:spcAft>
                        <a:buNone/>
                      </a:pPr>
                      <a:r>
                        <a:rPr lang="en-AU" sz="900" b="0" i="0" u="none" strike="noStrike">
                          <a:solidFill>
                            <a:srgbClr val="000000"/>
                          </a:solidFill>
                          <a:effectLst/>
                          <a:latin typeface="Arial" panose="020B0604020202020204" pitchFamily="34" charset="0"/>
                        </a:rPr>
                        <a:t> </a:t>
                      </a:r>
                      <a:endParaRPr lang="en-AU">
                        <a:effectLst/>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00" marR="63500" algn="ctr" rtl="0" fontAlgn="ctr">
                        <a:spcAft>
                          <a:spcPts val="1000"/>
                        </a:spcAft>
                        <a:buNone/>
                      </a:pPr>
                      <a:r>
                        <a:rPr lang="en-AU" sz="900" b="0" i="0" u="none" strike="noStrike">
                          <a:solidFill>
                            <a:srgbClr val="000000"/>
                          </a:solidFill>
                          <a:effectLst/>
                          <a:latin typeface="Arial" panose="020B0604020202020204" pitchFamily="34" charset="0"/>
                        </a:rPr>
                        <a:t>0.42 </a:t>
                      </a:r>
                      <a:endParaRPr lang="en-AU">
                        <a:effectLst/>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6D9EEB"/>
                    </a:solidFill>
                  </a:tcPr>
                </a:tc>
                <a:tc>
                  <a:txBody>
                    <a:bodyPr/>
                    <a:lstStyle/>
                    <a:p>
                      <a:pPr marL="63500" marR="63500" algn="ctr" rtl="0" fontAlgn="ctr">
                        <a:spcAft>
                          <a:spcPts val="1000"/>
                        </a:spcAft>
                        <a:buNone/>
                      </a:pPr>
                      <a:r>
                        <a:rPr lang="en-AU" sz="900" b="0" i="0" u="none" strike="noStrike" dirty="0">
                          <a:solidFill>
                            <a:srgbClr val="000000"/>
                          </a:solidFill>
                          <a:effectLst/>
                          <a:latin typeface="Arial" panose="020B0604020202020204" pitchFamily="34" charset="0"/>
                        </a:rPr>
                        <a:t>80173 </a:t>
                      </a:r>
                      <a:endParaRPr lang="en-AU" dirty="0">
                        <a:effectLst/>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468237">
                <a:tc>
                  <a:txBody>
                    <a:bodyPr/>
                    <a:lstStyle/>
                    <a:p>
                      <a:pPr marL="63500" marR="63500" algn="ctr" rtl="0" fontAlgn="ctr">
                        <a:spcAft>
                          <a:spcPts val="1000"/>
                        </a:spcAft>
                        <a:buNone/>
                      </a:pPr>
                      <a:r>
                        <a:rPr lang="en-AU" sz="900" b="0" i="0" u="none" strike="noStrike">
                          <a:solidFill>
                            <a:srgbClr val="000000"/>
                          </a:solidFill>
                          <a:effectLst/>
                          <a:latin typeface="Arial" panose="020B0604020202020204" pitchFamily="34" charset="0"/>
                        </a:rPr>
                        <a:t>macro avg </a:t>
                      </a:r>
                      <a:endParaRPr lang="en-AU">
                        <a:effectLst/>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00" marR="63500" algn="ctr" rtl="0" fontAlgn="ctr">
                        <a:spcAft>
                          <a:spcPts val="1000"/>
                        </a:spcAft>
                        <a:buNone/>
                      </a:pPr>
                      <a:r>
                        <a:rPr lang="en-AU" sz="900" b="0" i="0" u="none" strike="noStrike">
                          <a:solidFill>
                            <a:srgbClr val="000000"/>
                          </a:solidFill>
                          <a:effectLst/>
                          <a:latin typeface="Arial" panose="020B0604020202020204" pitchFamily="34" charset="0"/>
                        </a:rPr>
                        <a:t>0.30 </a:t>
                      </a:r>
                      <a:endParaRPr lang="en-AU">
                        <a:effectLst/>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00" marR="63500" algn="ctr" rtl="0" fontAlgn="ctr">
                        <a:spcAft>
                          <a:spcPts val="1000"/>
                        </a:spcAft>
                        <a:buNone/>
                      </a:pPr>
                      <a:r>
                        <a:rPr lang="en-AU" sz="900" b="0" i="0" u="none" strike="noStrike">
                          <a:solidFill>
                            <a:srgbClr val="000000"/>
                          </a:solidFill>
                          <a:effectLst/>
                          <a:latin typeface="Arial" panose="020B0604020202020204" pitchFamily="34" charset="0"/>
                        </a:rPr>
                        <a:t>0.32 </a:t>
                      </a:r>
                      <a:endParaRPr lang="en-AU">
                        <a:effectLst/>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00" marR="63500" algn="ctr" rtl="0" fontAlgn="ctr">
                        <a:spcAft>
                          <a:spcPts val="1000"/>
                        </a:spcAft>
                        <a:buNone/>
                      </a:pPr>
                      <a:r>
                        <a:rPr lang="en-AU" sz="900" b="0" i="0" u="none" strike="noStrike">
                          <a:solidFill>
                            <a:srgbClr val="000000"/>
                          </a:solidFill>
                          <a:effectLst/>
                          <a:latin typeface="Arial" panose="020B0604020202020204" pitchFamily="34" charset="0"/>
                        </a:rPr>
                        <a:t>0.24 </a:t>
                      </a:r>
                      <a:endParaRPr lang="en-AU">
                        <a:effectLst/>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00" marR="63500" algn="ctr" rtl="0" fontAlgn="ctr">
                        <a:spcAft>
                          <a:spcPts val="1000"/>
                        </a:spcAft>
                        <a:buNone/>
                      </a:pPr>
                      <a:r>
                        <a:rPr lang="en-AU" sz="900" b="0" i="0" u="none" strike="noStrike" dirty="0">
                          <a:solidFill>
                            <a:srgbClr val="000000"/>
                          </a:solidFill>
                          <a:effectLst/>
                          <a:latin typeface="Arial" panose="020B0604020202020204" pitchFamily="34" charset="0"/>
                        </a:rPr>
                        <a:t>80173</a:t>
                      </a:r>
                      <a:endParaRPr lang="en-AU" dirty="0">
                        <a:effectLst/>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468237">
                <a:tc>
                  <a:txBody>
                    <a:bodyPr/>
                    <a:lstStyle/>
                    <a:p>
                      <a:pPr marL="63500" marR="63500" algn="ctr" rtl="0" fontAlgn="ctr">
                        <a:spcAft>
                          <a:spcPts val="1000"/>
                        </a:spcAft>
                        <a:buNone/>
                      </a:pPr>
                      <a:r>
                        <a:rPr lang="en-AU" sz="900" b="0" i="0" u="none" strike="noStrike">
                          <a:solidFill>
                            <a:srgbClr val="000000"/>
                          </a:solidFill>
                          <a:effectLst/>
                          <a:latin typeface="Arial" panose="020B0604020202020204" pitchFamily="34" charset="0"/>
                        </a:rPr>
                        <a:t>weighted avg </a:t>
                      </a:r>
                      <a:endParaRPr lang="en-AU">
                        <a:effectLst/>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00" marR="63500" algn="ctr" rtl="0" fontAlgn="ctr">
                        <a:spcAft>
                          <a:spcPts val="1000"/>
                        </a:spcAft>
                        <a:buNone/>
                      </a:pPr>
                      <a:r>
                        <a:rPr lang="en-AU" sz="900" b="0" i="0" u="none" strike="noStrike">
                          <a:solidFill>
                            <a:srgbClr val="000000"/>
                          </a:solidFill>
                          <a:effectLst/>
                          <a:latin typeface="Arial" panose="020B0604020202020204" pitchFamily="34" charset="0"/>
                        </a:rPr>
                        <a:t>0.42 </a:t>
                      </a:r>
                      <a:endParaRPr lang="en-AU">
                        <a:effectLst/>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00" marR="63500" algn="ctr" rtl="0" fontAlgn="ctr">
                        <a:spcAft>
                          <a:spcPts val="1000"/>
                        </a:spcAft>
                        <a:buNone/>
                      </a:pPr>
                      <a:r>
                        <a:rPr lang="en-AU" sz="900" b="0" i="0" u="none" strike="noStrike">
                          <a:solidFill>
                            <a:srgbClr val="000000"/>
                          </a:solidFill>
                          <a:effectLst/>
                          <a:latin typeface="Arial" panose="020B0604020202020204" pitchFamily="34" charset="0"/>
                        </a:rPr>
                        <a:t>0.42 </a:t>
                      </a:r>
                      <a:endParaRPr lang="en-AU">
                        <a:effectLst/>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00" marR="63500" algn="ctr" rtl="0" fontAlgn="ctr">
                        <a:spcAft>
                          <a:spcPts val="1000"/>
                        </a:spcAft>
                        <a:buNone/>
                      </a:pPr>
                      <a:r>
                        <a:rPr lang="en-AU" sz="900" b="0" i="0" u="none" strike="noStrike">
                          <a:solidFill>
                            <a:srgbClr val="000000"/>
                          </a:solidFill>
                          <a:effectLst/>
                          <a:latin typeface="Arial" panose="020B0604020202020204" pitchFamily="34" charset="0"/>
                        </a:rPr>
                        <a:t>0.36</a:t>
                      </a:r>
                      <a:endParaRPr lang="en-AU">
                        <a:effectLst/>
                      </a:endParaRPr>
                    </a:p>
                  </a:txBody>
                  <a:tcPr marL="63500" marR="635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4008" marR="64008" algn="l" rtl="0" eaLnBrk="1" fontAlgn="ctr" latinLnBrk="0" hangingPunct="1">
                        <a:spcAft>
                          <a:spcPts val="1000"/>
                        </a:spcAft>
                      </a:pPr>
                      <a:r>
                        <a:rPr lang="en-AU" sz="900" b="0" i="0" kern="1200" dirty="0">
                          <a:solidFill>
                            <a:srgbClr val="000000"/>
                          </a:solidFill>
                          <a:effectLst/>
                          <a:latin typeface="Arial" panose="020B0604020202020204" pitchFamily="34" charset="0"/>
                          <a:ea typeface="Arial" panose="020B0604020202020204" pitchFamily="34" charset="0"/>
                          <a:cs typeface="Arial" panose="020B0604020202020204" pitchFamily="34" charset="0"/>
                        </a:rPr>
                        <a:t>80173</a:t>
                      </a:r>
                      <a:endParaRPr lang="en-AU" sz="900" dirty="0">
                        <a:effectLst/>
                      </a:endParaRPr>
                    </a:p>
                  </a:txBody>
                  <a:tcPr marL="431800" marT="63500" marB="635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graphicFrame>
        <p:nvGraphicFramePr>
          <p:cNvPr id="151" name="Google Shape;151;p26"/>
          <p:cNvGraphicFramePr/>
          <p:nvPr>
            <p:extLst>
              <p:ext uri="{D42A27DB-BD31-4B8C-83A1-F6EECF244321}">
                <p14:modId xmlns:p14="http://schemas.microsoft.com/office/powerpoint/2010/main" val="2787548908"/>
              </p:ext>
            </p:extLst>
          </p:nvPr>
        </p:nvGraphicFramePr>
        <p:xfrm>
          <a:off x="5143500" y="1327500"/>
          <a:ext cx="3927655" cy="3814004"/>
        </p:xfrm>
        <a:graphic>
          <a:graphicData uri="http://schemas.openxmlformats.org/drawingml/2006/table">
            <a:tbl>
              <a:tblPr>
                <a:noFill/>
                <a:tableStyleId>{E5867858-D38C-4A6E-B77B-43783D642FB1}</a:tableStyleId>
              </a:tblPr>
              <a:tblGrid>
                <a:gridCol w="785531">
                  <a:extLst>
                    <a:ext uri="{9D8B030D-6E8A-4147-A177-3AD203B41FA5}">
                      <a16:colId xmlns:a16="http://schemas.microsoft.com/office/drawing/2014/main" val="20000"/>
                    </a:ext>
                  </a:extLst>
                </a:gridCol>
                <a:gridCol w="785531">
                  <a:extLst>
                    <a:ext uri="{9D8B030D-6E8A-4147-A177-3AD203B41FA5}">
                      <a16:colId xmlns:a16="http://schemas.microsoft.com/office/drawing/2014/main" val="20001"/>
                    </a:ext>
                  </a:extLst>
                </a:gridCol>
                <a:gridCol w="785531">
                  <a:extLst>
                    <a:ext uri="{9D8B030D-6E8A-4147-A177-3AD203B41FA5}">
                      <a16:colId xmlns:a16="http://schemas.microsoft.com/office/drawing/2014/main" val="20002"/>
                    </a:ext>
                  </a:extLst>
                </a:gridCol>
                <a:gridCol w="785531">
                  <a:extLst>
                    <a:ext uri="{9D8B030D-6E8A-4147-A177-3AD203B41FA5}">
                      <a16:colId xmlns:a16="http://schemas.microsoft.com/office/drawing/2014/main" val="20003"/>
                    </a:ext>
                  </a:extLst>
                </a:gridCol>
                <a:gridCol w="785531">
                  <a:extLst>
                    <a:ext uri="{9D8B030D-6E8A-4147-A177-3AD203B41FA5}">
                      <a16:colId xmlns:a16="http://schemas.microsoft.com/office/drawing/2014/main" val="20004"/>
                    </a:ext>
                  </a:extLst>
                </a:gridCol>
              </a:tblGrid>
              <a:tr h="501539">
                <a:tc>
                  <a:txBody>
                    <a:bodyPr/>
                    <a:lstStyle/>
                    <a:p>
                      <a:pPr marL="63500" marR="63500" lvl="0" indent="0" algn="ctr" rtl="0">
                        <a:lnSpc>
                          <a:spcPct val="115000"/>
                        </a:lnSpc>
                        <a:spcBef>
                          <a:spcPts val="400"/>
                        </a:spcBef>
                        <a:spcAft>
                          <a:spcPts val="400"/>
                        </a:spcAft>
                        <a:buNone/>
                      </a:pPr>
                      <a:r>
                        <a:rPr lang="en-GB" sz="900" dirty="0"/>
                        <a:t> </a:t>
                      </a:r>
                      <a:endParaRPr sz="900"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00" marR="63500" lvl="0" indent="0" algn="ctr" rtl="0">
                        <a:lnSpc>
                          <a:spcPct val="115000"/>
                        </a:lnSpc>
                        <a:spcBef>
                          <a:spcPts val="400"/>
                        </a:spcBef>
                        <a:spcAft>
                          <a:spcPts val="400"/>
                        </a:spcAft>
                        <a:buNone/>
                      </a:pPr>
                      <a:r>
                        <a:rPr lang="en-GB" sz="900"/>
                        <a:t>precision </a:t>
                      </a:r>
                      <a:endParaRPr sz="9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00" marR="63500" lvl="0" indent="0" algn="ctr" rtl="0">
                        <a:lnSpc>
                          <a:spcPct val="115000"/>
                        </a:lnSpc>
                        <a:spcBef>
                          <a:spcPts val="400"/>
                        </a:spcBef>
                        <a:spcAft>
                          <a:spcPts val="400"/>
                        </a:spcAft>
                        <a:buNone/>
                      </a:pPr>
                      <a:r>
                        <a:rPr lang="en-GB" sz="1000" b="1" i="1">
                          <a:solidFill>
                            <a:schemeClr val="dk1"/>
                          </a:solidFill>
                        </a:rPr>
                        <a:t>recall </a:t>
                      </a:r>
                      <a:endParaRPr sz="1000" b="1" i="1">
                        <a:solidFill>
                          <a:schemeClr val="dk1"/>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9DAF8"/>
                    </a:solidFill>
                  </a:tcPr>
                </a:tc>
                <a:tc>
                  <a:txBody>
                    <a:bodyPr/>
                    <a:lstStyle/>
                    <a:p>
                      <a:pPr marL="63500" marR="63500" lvl="0" indent="0" algn="ctr" rtl="0">
                        <a:lnSpc>
                          <a:spcPct val="115000"/>
                        </a:lnSpc>
                        <a:spcBef>
                          <a:spcPts val="400"/>
                        </a:spcBef>
                        <a:spcAft>
                          <a:spcPts val="400"/>
                        </a:spcAft>
                        <a:buNone/>
                      </a:pPr>
                      <a:r>
                        <a:rPr lang="en-GB" sz="1000" b="1" i="1">
                          <a:solidFill>
                            <a:schemeClr val="dk1"/>
                          </a:solidFill>
                        </a:rPr>
                        <a:t>f1-score </a:t>
                      </a:r>
                      <a:endParaRPr sz="1000" b="1" i="1">
                        <a:solidFill>
                          <a:schemeClr val="dk1"/>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9DAF8"/>
                    </a:solidFill>
                  </a:tcPr>
                </a:tc>
                <a:tc>
                  <a:txBody>
                    <a:bodyPr/>
                    <a:lstStyle/>
                    <a:p>
                      <a:pPr marL="63500" marR="63500" lvl="0" indent="0" algn="ctr" rtl="0">
                        <a:lnSpc>
                          <a:spcPct val="115000"/>
                        </a:lnSpc>
                        <a:spcBef>
                          <a:spcPts val="400"/>
                        </a:spcBef>
                        <a:spcAft>
                          <a:spcPts val="400"/>
                        </a:spcAft>
                        <a:buNone/>
                      </a:pPr>
                      <a:r>
                        <a:rPr lang="en-GB" sz="900"/>
                        <a:t>support </a:t>
                      </a:r>
                      <a:endParaRPr sz="9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469043">
                <a:tc>
                  <a:txBody>
                    <a:bodyPr/>
                    <a:lstStyle/>
                    <a:p>
                      <a:pPr marL="63500" marR="63500" lvl="0" indent="0" algn="ctr" rtl="0">
                        <a:lnSpc>
                          <a:spcPct val="115000"/>
                        </a:lnSpc>
                        <a:spcBef>
                          <a:spcPts val="400"/>
                        </a:spcBef>
                        <a:spcAft>
                          <a:spcPts val="400"/>
                        </a:spcAft>
                        <a:buNone/>
                      </a:pPr>
                      <a:r>
                        <a:rPr lang="en-GB" sz="900"/>
                        <a:t>Fatal Injury </a:t>
                      </a:r>
                      <a:endParaRPr sz="9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00" marR="63500" lvl="0" indent="0" algn="ctr" rtl="0">
                        <a:lnSpc>
                          <a:spcPct val="115000"/>
                        </a:lnSpc>
                        <a:spcBef>
                          <a:spcPts val="400"/>
                        </a:spcBef>
                        <a:spcAft>
                          <a:spcPts val="400"/>
                        </a:spcAft>
                        <a:buNone/>
                      </a:pPr>
                      <a:r>
                        <a:rPr lang="en-GB" sz="900" dirty="0"/>
                        <a:t>0.02 </a:t>
                      </a:r>
                      <a:endParaRPr sz="900" dirty="0"/>
                    </a:p>
                  </a:txBody>
                  <a:tcPr marL="91425" marR="0"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00" marR="63500" lvl="0" indent="0" algn="ctr" rtl="0">
                        <a:lnSpc>
                          <a:spcPct val="115000"/>
                        </a:lnSpc>
                        <a:spcBef>
                          <a:spcPts val="400"/>
                        </a:spcBef>
                        <a:spcAft>
                          <a:spcPts val="400"/>
                        </a:spcAft>
                        <a:buNone/>
                      </a:pPr>
                      <a:r>
                        <a:rPr lang="en-GB" sz="1000" b="1" i="1">
                          <a:solidFill>
                            <a:schemeClr val="dk1"/>
                          </a:solidFill>
                        </a:rPr>
                        <a:t>0.30 </a:t>
                      </a:r>
                      <a:endParaRPr sz="1000" b="1" i="1">
                        <a:solidFill>
                          <a:schemeClr val="dk1"/>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9DAF8"/>
                    </a:solidFill>
                  </a:tcPr>
                </a:tc>
                <a:tc>
                  <a:txBody>
                    <a:bodyPr/>
                    <a:lstStyle/>
                    <a:p>
                      <a:pPr marL="63500" marR="63500" lvl="0" indent="0" algn="ctr" rtl="0">
                        <a:lnSpc>
                          <a:spcPct val="115000"/>
                        </a:lnSpc>
                        <a:spcBef>
                          <a:spcPts val="400"/>
                        </a:spcBef>
                        <a:spcAft>
                          <a:spcPts val="400"/>
                        </a:spcAft>
                        <a:buNone/>
                      </a:pPr>
                      <a:r>
                        <a:rPr lang="en-GB" sz="1000" b="1" i="1">
                          <a:solidFill>
                            <a:schemeClr val="dk1"/>
                          </a:solidFill>
                        </a:rPr>
                        <a:t>0.03 </a:t>
                      </a:r>
                      <a:endParaRPr sz="1000" b="1" i="1">
                        <a:solidFill>
                          <a:schemeClr val="dk1"/>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9DAF8"/>
                    </a:solidFill>
                  </a:tcPr>
                </a:tc>
                <a:tc>
                  <a:txBody>
                    <a:bodyPr/>
                    <a:lstStyle/>
                    <a:p>
                      <a:pPr marL="63500" marR="63500" lvl="0" indent="0" algn="ctr" rtl="0">
                        <a:lnSpc>
                          <a:spcPct val="115000"/>
                        </a:lnSpc>
                        <a:spcBef>
                          <a:spcPts val="400"/>
                        </a:spcBef>
                        <a:spcAft>
                          <a:spcPts val="400"/>
                        </a:spcAft>
                        <a:buNone/>
                      </a:pPr>
                      <a:r>
                        <a:rPr lang="en-GB" sz="900"/>
                        <a:t>539 </a:t>
                      </a:r>
                      <a:endParaRPr sz="9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69043">
                <a:tc>
                  <a:txBody>
                    <a:bodyPr/>
                    <a:lstStyle/>
                    <a:p>
                      <a:pPr marL="63500" marR="63500" lvl="0" indent="0" algn="ctr" rtl="0">
                        <a:lnSpc>
                          <a:spcPct val="115000"/>
                        </a:lnSpc>
                        <a:spcBef>
                          <a:spcPts val="400"/>
                        </a:spcBef>
                        <a:spcAft>
                          <a:spcPts val="400"/>
                        </a:spcAft>
                        <a:buNone/>
                      </a:pPr>
                      <a:r>
                        <a:rPr lang="en-GB" sz="900"/>
                        <a:t>Non-Injury </a:t>
                      </a:r>
                      <a:endParaRPr sz="9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00" marR="63500" lvl="0" indent="0" algn="ctr" rtl="0">
                        <a:lnSpc>
                          <a:spcPct val="115000"/>
                        </a:lnSpc>
                        <a:spcBef>
                          <a:spcPts val="400"/>
                        </a:spcBef>
                        <a:spcAft>
                          <a:spcPts val="400"/>
                        </a:spcAft>
                        <a:buNone/>
                      </a:pPr>
                      <a:r>
                        <a:rPr lang="en-GB" sz="900"/>
                        <a:t>0.57 </a:t>
                      </a:r>
                      <a:endParaRPr sz="9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00" marR="63500" lvl="0" indent="0" algn="ctr" rtl="0">
                        <a:lnSpc>
                          <a:spcPct val="115000"/>
                        </a:lnSpc>
                        <a:spcBef>
                          <a:spcPts val="400"/>
                        </a:spcBef>
                        <a:spcAft>
                          <a:spcPts val="400"/>
                        </a:spcAft>
                        <a:buNone/>
                      </a:pPr>
                      <a:r>
                        <a:rPr lang="en-GB" sz="1000" b="1" i="1">
                          <a:solidFill>
                            <a:schemeClr val="dk1"/>
                          </a:solidFill>
                        </a:rPr>
                        <a:t>0.46 </a:t>
                      </a:r>
                      <a:endParaRPr sz="1000" b="1" i="1">
                        <a:solidFill>
                          <a:schemeClr val="dk1"/>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9DAF8"/>
                    </a:solidFill>
                  </a:tcPr>
                </a:tc>
                <a:tc>
                  <a:txBody>
                    <a:bodyPr/>
                    <a:lstStyle/>
                    <a:p>
                      <a:pPr marL="63500" marR="63500" lvl="0" indent="0" algn="ctr" rtl="0">
                        <a:lnSpc>
                          <a:spcPct val="115000"/>
                        </a:lnSpc>
                        <a:spcBef>
                          <a:spcPts val="400"/>
                        </a:spcBef>
                        <a:spcAft>
                          <a:spcPts val="400"/>
                        </a:spcAft>
                        <a:buNone/>
                      </a:pPr>
                      <a:r>
                        <a:rPr lang="en-GB" sz="1000" b="1" i="1">
                          <a:solidFill>
                            <a:schemeClr val="dk1"/>
                          </a:solidFill>
                        </a:rPr>
                        <a:t>0.51 </a:t>
                      </a:r>
                      <a:endParaRPr sz="1000" b="1" i="1">
                        <a:solidFill>
                          <a:schemeClr val="dk1"/>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9DAF8"/>
                    </a:solidFill>
                  </a:tcPr>
                </a:tc>
                <a:tc>
                  <a:txBody>
                    <a:bodyPr/>
                    <a:lstStyle/>
                    <a:p>
                      <a:pPr marL="63500" marR="63500" lvl="0" indent="0" algn="ctr" rtl="0">
                        <a:lnSpc>
                          <a:spcPct val="115000"/>
                        </a:lnSpc>
                        <a:spcBef>
                          <a:spcPts val="400"/>
                        </a:spcBef>
                        <a:spcAft>
                          <a:spcPts val="400"/>
                        </a:spcAft>
                        <a:buNone/>
                      </a:pPr>
                      <a:r>
                        <a:rPr lang="en-GB" sz="900"/>
                        <a:t>36824 </a:t>
                      </a:r>
                      <a:endParaRPr sz="9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69043">
                <a:tc>
                  <a:txBody>
                    <a:bodyPr/>
                    <a:lstStyle/>
                    <a:p>
                      <a:pPr marL="63500" marR="63500" lvl="0" indent="0" algn="ctr" rtl="0">
                        <a:lnSpc>
                          <a:spcPct val="115000"/>
                        </a:lnSpc>
                        <a:spcBef>
                          <a:spcPts val="400"/>
                        </a:spcBef>
                        <a:spcAft>
                          <a:spcPts val="400"/>
                        </a:spcAft>
                        <a:buNone/>
                      </a:pPr>
                      <a:r>
                        <a:rPr lang="en-GB" sz="900"/>
                        <a:t>Other Injury </a:t>
                      </a:r>
                      <a:endParaRPr sz="9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00" marR="63500" lvl="0" indent="0" algn="ctr" rtl="0">
                        <a:lnSpc>
                          <a:spcPct val="115000"/>
                        </a:lnSpc>
                        <a:spcBef>
                          <a:spcPts val="400"/>
                        </a:spcBef>
                        <a:spcAft>
                          <a:spcPts val="400"/>
                        </a:spcAft>
                        <a:buNone/>
                      </a:pPr>
                      <a:r>
                        <a:rPr lang="en-GB" sz="900" dirty="0"/>
                        <a:t>0.38 </a:t>
                      </a:r>
                      <a:endParaRPr sz="900"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00" marR="63500" lvl="0" indent="0" algn="ctr" rtl="0">
                        <a:lnSpc>
                          <a:spcPct val="115000"/>
                        </a:lnSpc>
                        <a:spcBef>
                          <a:spcPts val="400"/>
                        </a:spcBef>
                        <a:spcAft>
                          <a:spcPts val="400"/>
                        </a:spcAft>
                        <a:buNone/>
                      </a:pPr>
                      <a:r>
                        <a:rPr lang="en-GB" sz="1000" b="1" i="1" dirty="0">
                          <a:solidFill>
                            <a:schemeClr val="dk1"/>
                          </a:solidFill>
                        </a:rPr>
                        <a:t>0.46 </a:t>
                      </a:r>
                      <a:endParaRPr sz="1000" b="1" i="1" dirty="0">
                        <a:solidFill>
                          <a:schemeClr val="dk1"/>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9DAF8"/>
                    </a:solidFill>
                  </a:tcPr>
                </a:tc>
                <a:tc>
                  <a:txBody>
                    <a:bodyPr/>
                    <a:lstStyle/>
                    <a:p>
                      <a:pPr marL="63500" marR="63500" lvl="0" indent="0" algn="ctr" rtl="0">
                        <a:lnSpc>
                          <a:spcPct val="115000"/>
                        </a:lnSpc>
                        <a:spcBef>
                          <a:spcPts val="400"/>
                        </a:spcBef>
                        <a:spcAft>
                          <a:spcPts val="400"/>
                        </a:spcAft>
                        <a:buNone/>
                      </a:pPr>
                      <a:r>
                        <a:rPr lang="en-GB" sz="1000" b="1" i="1">
                          <a:solidFill>
                            <a:schemeClr val="dk1"/>
                          </a:solidFill>
                        </a:rPr>
                        <a:t>0.42</a:t>
                      </a:r>
                      <a:endParaRPr sz="1000" b="1" i="1">
                        <a:solidFill>
                          <a:schemeClr val="dk1"/>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9DAF8"/>
                    </a:solidFill>
                  </a:tcPr>
                </a:tc>
                <a:tc>
                  <a:txBody>
                    <a:bodyPr/>
                    <a:lstStyle/>
                    <a:p>
                      <a:pPr marL="63500" marR="63500" lvl="0" indent="0" algn="ctr" rtl="0">
                        <a:lnSpc>
                          <a:spcPct val="115000"/>
                        </a:lnSpc>
                        <a:spcBef>
                          <a:spcPts val="400"/>
                        </a:spcBef>
                        <a:spcAft>
                          <a:spcPts val="400"/>
                        </a:spcAft>
                        <a:buNone/>
                      </a:pPr>
                      <a:r>
                        <a:rPr lang="en-GB" sz="900" dirty="0"/>
                        <a:t>29252 </a:t>
                      </a:r>
                      <a:endParaRPr sz="900"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469043">
                <a:tc>
                  <a:txBody>
                    <a:bodyPr/>
                    <a:lstStyle/>
                    <a:p>
                      <a:pPr marL="63500" marR="63500" lvl="0" indent="0" algn="ctr" rtl="0">
                        <a:lnSpc>
                          <a:spcPct val="115000"/>
                        </a:lnSpc>
                        <a:spcBef>
                          <a:spcPts val="400"/>
                        </a:spcBef>
                        <a:spcAft>
                          <a:spcPts val="400"/>
                        </a:spcAft>
                        <a:buNone/>
                      </a:pPr>
                      <a:r>
                        <a:rPr lang="en-GB" sz="900"/>
                        <a:t>Serious Injury </a:t>
                      </a:r>
                      <a:endParaRPr sz="9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00" marR="63500" lvl="0" indent="0" algn="ctr" rtl="0">
                        <a:lnSpc>
                          <a:spcPct val="115000"/>
                        </a:lnSpc>
                        <a:spcBef>
                          <a:spcPts val="400"/>
                        </a:spcBef>
                        <a:spcAft>
                          <a:spcPts val="400"/>
                        </a:spcAft>
                        <a:buNone/>
                      </a:pPr>
                      <a:r>
                        <a:rPr lang="en-GB" sz="900"/>
                        <a:t>0.28 </a:t>
                      </a:r>
                      <a:endParaRPr sz="9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00" marR="63500" lvl="0" indent="0" algn="ctr" rtl="0">
                        <a:lnSpc>
                          <a:spcPct val="115000"/>
                        </a:lnSpc>
                        <a:spcBef>
                          <a:spcPts val="400"/>
                        </a:spcBef>
                        <a:spcAft>
                          <a:spcPts val="400"/>
                        </a:spcAft>
                        <a:buNone/>
                      </a:pPr>
                      <a:r>
                        <a:rPr lang="en-GB" sz="1000" b="1" i="1" dirty="0">
                          <a:solidFill>
                            <a:schemeClr val="dk1"/>
                          </a:solidFill>
                        </a:rPr>
                        <a:t>0.10 </a:t>
                      </a:r>
                      <a:endParaRPr sz="1000" b="1" i="1" dirty="0">
                        <a:solidFill>
                          <a:schemeClr val="dk1"/>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9DAF8"/>
                    </a:solidFill>
                  </a:tcPr>
                </a:tc>
                <a:tc>
                  <a:txBody>
                    <a:bodyPr/>
                    <a:lstStyle/>
                    <a:p>
                      <a:pPr marL="63500" marR="63500" lvl="0" indent="0" algn="ctr" rtl="0">
                        <a:lnSpc>
                          <a:spcPct val="115000"/>
                        </a:lnSpc>
                        <a:spcBef>
                          <a:spcPts val="400"/>
                        </a:spcBef>
                        <a:spcAft>
                          <a:spcPts val="400"/>
                        </a:spcAft>
                        <a:buNone/>
                      </a:pPr>
                      <a:r>
                        <a:rPr lang="en-GB" sz="1000" b="1" i="1" dirty="0">
                          <a:solidFill>
                            <a:schemeClr val="dk1"/>
                          </a:solidFill>
                        </a:rPr>
                        <a:t>0.15 </a:t>
                      </a:r>
                      <a:endParaRPr sz="1000" b="1" i="1" dirty="0">
                        <a:solidFill>
                          <a:schemeClr val="dk1"/>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9DAF8"/>
                    </a:solidFill>
                  </a:tcPr>
                </a:tc>
                <a:tc>
                  <a:txBody>
                    <a:bodyPr/>
                    <a:lstStyle/>
                    <a:p>
                      <a:pPr marL="63500" marR="63500" lvl="0" indent="0" algn="ctr" rtl="0">
                        <a:lnSpc>
                          <a:spcPct val="115000"/>
                        </a:lnSpc>
                        <a:spcBef>
                          <a:spcPts val="400"/>
                        </a:spcBef>
                        <a:spcAft>
                          <a:spcPts val="400"/>
                        </a:spcAft>
                        <a:buNone/>
                      </a:pPr>
                      <a:r>
                        <a:rPr lang="en-GB" sz="900"/>
                        <a:t>13558 </a:t>
                      </a:r>
                      <a:endParaRPr sz="9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435638">
                <a:tc>
                  <a:txBody>
                    <a:bodyPr/>
                    <a:lstStyle/>
                    <a:p>
                      <a:pPr marL="63500" marR="63500" lvl="0" indent="0" algn="ctr" rtl="0">
                        <a:lnSpc>
                          <a:spcPct val="115000"/>
                        </a:lnSpc>
                        <a:spcBef>
                          <a:spcPts val="400"/>
                        </a:spcBef>
                        <a:spcAft>
                          <a:spcPts val="400"/>
                        </a:spcAft>
                        <a:buNone/>
                      </a:pPr>
                      <a:r>
                        <a:rPr lang="en-GB" sz="900"/>
                        <a:t>accuracy </a:t>
                      </a:r>
                      <a:endParaRPr sz="9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00" marR="63500" lvl="0" indent="0" algn="ctr" rtl="0">
                        <a:lnSpc>
                          <a:spcPct val="115000"/>
                        </a:lnSpc>
                        <a:spcBef>
                          <a:spcPts val="400"/>
                        </a:spcBef>
                        <a:spcAft>
                          <a:spcPts val="400"/>
                        </a:spcAft>
                        <a:buNone/>
                      </a:pPr>
                      <a:r>
                        <a:rPr lang="en-GB" sz="900"/>
                        <a:t> </a:t>
                      </a:r>
                      <a:endParaRPr sz="9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00" marR="63500" lvl="0" indent="0" algn="ctr" rtl="0">
                        <a:lnSpc>
                          <a:spcPct val="115000"/>
                        </a:lnSpc>
                        <a:spcBef>
                          <a:spcPts val="400"/>
                        </a:spcBef>
                        <a:spcAft>
                          <a:spcPts val="400"/>
                        </a:spcAft>
                        <a:buNone/>
                      </a:pPr>
                      <a:r>
                        <a:rPr lang="en-GB" sz="900" dirty="0"/>
                        <a:t> </a:t>
                      </a:r>
                      <a:endParaRPr sz="900"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00" marR="63500" lvl="0" indent="0" algn="ctr" rtl="0">
                        <a:lnSpc>
                          <a:spcPct val="115000"/>
                        </a:lnSpc>
                        <a:spcBef>
                          <a:spcPts val="400"/>
                        </a:spcBef>
                        <a:spcAft>
                          <a:spcPts val="400"/>
                        </a:spcAft>
                        <a:buNone/>
                      </a:pPr>
                      <a:r>
                        <a:rPr lang="en-GB" sz="900" dirty="0"/>
                        <a:t>0.40 </a:t>
                      </a:r>
                      <a:endParaRPr sz="900"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6D9EEB"/>
                    </a:solidFill>
                  </a:tcPr>
                </a:tc>
                <a:tc>
                  <a:txBody>
                    <a:bodyPr/>
                    <a:lstStyle/>
                    <a:p>
                      <a:pPr marL="63500" marR="63500" lvl="0" indent="0" algn="ctr" rtl="0">
                        <a:lnSpc>
                          <a:spcPct val="115000"/>
                        </a:lnSpc>
                        <a:spcBef>
                          <a:spcPts val="400"/>
                        </a:spcBef>
                        <a:spcAft>
                          <a:spcPts val="400"/>
                        </a:spcAft>
                        <a:buNone/>
                      </a:pPr>
                      <a:r>
                        <a:rPr lang="en-GB" sz="900" dirty="0"/>
                        <a:t>80173 </a:t>
                      </a:r>
                      <a:endParaRPr sz="900"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435638">
                <a:tc>
                  <a:txBody>
                    <a:bodyPr/>
                    <a:lstStyle/>
                    <a:p>
                      <a:pPr marL="63500" marR="63500" lvl="0" indent="0" algn="ctr" rtl="0">
                        <a:lnSpc>
                          <a:spcPct val="115000"/>
                        </a:lnSpc>
                        <a:spcBef>
                          <a:spcPts val="400"/>
                        </a:spcBef>
                        <a:spcAft>
                          <a:spcPts val="400"/>
                        </a:spcAft>
                        <a:buNone/>
                      </a:pPr>
                      <a:r>
                        <a:rPr lang="en-GB" sz="900"/>
                        <a:t>macro avg </a:t>
                      </a:r>
                      <a:endParaRPr sz="900"/>
                    </a:p>
                  </a:txBody>
                  <a:tcPr marL="0"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00" marR="63500" lvl="0" indent="0" algn="ctr" rtl="0">
                        <a:lnSpc>
                          <a:spcPct val="115000"/>
                        </a:lnSpc>
                        <a:spcBef>
                          <a:spcPts val="400"/>
                        </a:spcBef>
                        <a:spcAft>
                          <a:spcPts val="400"/>
                        </a:spcAft>
                        <a:buNone/>
                      </a:pPr>
                      <a:r>
                        <a:rPr lang="en-GB" sz="900"/>
                        <a:t>0.31 </a:t>
                      </a:r>
                      <a:endParaRPr sz="9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00" marR="63500" lvl="0" indent="0" algn="ctr" rtl="0">
                        <a:lnSpc>
                          <a:spcPct val="115000"/>
                        </a:lnSpc>
                        <a:spcBef>
                          <a:spcPts val="400"/>
                        </a:spcBef>
                        <a:spcAft>
                          <a:spcPts val="400"/>
                        </a:spcAft>
                        <a:buNone/>
                      </a:pPr>
                      <a:r>
                        <a:rPr lang="en-GB" sz="900"/>
                        <a:t>0.33 </a:t>
                      </a:r>
                      <a:endParaRPr sz="9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00" marR="63500" lvl="0" indent="0" algn="ctr" rtl="0">
                        <a:lnSpc>
                          <a:spcPct val="115000"/>
                        </a:lnSpc>
                        <a:spcBef>
                          <a:spcPts val="400"/>
                        </a:spcBef>
                        <a:spcAft>
                          <a:spcPts val="400"/>
                        </a:spcAft>
                        <a:buNone/>
                      </a:pPr>
                      <a:r>
                        <a:rPr lang="en-GB" sz="900"/>
                        <a:t>0.28 </a:t>
                      </a:r>
                      <a:endParaRPr sz="9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00" marR="63500" lvl="0" indent="0" algn="ctr" rtl="0">
                        <a:lnSpc>
                          <a:spcPct val="115000"/>
                        </a:lnSpc>
                        <a:spcBef>
                          <a:spcPts val="400"/>
                        </a:spcBef>
                        <a:spcAft>
                          <a:spcPts val="400"/>
                        </a:spcAft>
                        <a:buNone/>
                      </a:pPr>
                      <a:r>
                        <a:rPr lang="en-GB" sz="900" dirty="0"/>
                        <a:t>80173 </a:t>
                      </a:r>
                      <a:endParaRPr sz="900"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469043">
                <a:tc>
                  <a:txBody>
                    <a:bodyPr/>
                    <a:lstStyle/>
                    <a:p>
                      <a:pPr marL="63500" marR="63500" lvl="0" indent="0" algn="ctr" rtl="0">
                        <a:lnSpc>
                          <a:spcPct val="115000"/>
                        </a:lnSpc>
                        <a:spcBef>
                          <a:spcPts val="400"/>
                        </a:spcBef>
                        <a:spcAft>
                          <a:spcPts val="400"/>
                        </a:spcAft>
                        <a:buNone/>
                      </a:pPr>
                      <a:r>
                        <a:rPr lang="en-GB" sz="900"/>
                        <a:t>weighted avg </a:t>
                      </a:r>
                      <a:endParaRPr sz="9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00" marR="63500" lvl="0" indent="0" algn="ctr" rtl="0">
                        <a:lnSpc>
                          <a:spcPct val="115000"/>
                        </a:lnSpc>
                        <a:spcBef>
                          <a:spcPts val="400"/>
                        </a:spcBef>
                        <a:spcAft>
                          <a:spcPts val="400"/>
                        </a:spcAft>
                        <a:buNone/>
                      </a:pPr>
                      <a:r>
                        <a:rPr lang="en-GB" sz="900"/>
                        <a:t>0.45 </a:t>
                      </a:r>
                      <a:endParaRPr sz="9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00" marR="63500" lvl="0" indent="0" algn="ctr" rtl="0">
                        <a:lnSpc>
                          <a:spcPct val="115000"/>
                        </a:lnSpc>
                        <a:spcBef>
                          <a:spcPts val="400"/>
                        </a:spcBef>
                        <a:spcAft>
                          <a:spcPts val="400"/>
                        </a:spcAft>
                        <a:buNone/>
                      </a:pPr>
                      <a:r>
                        <a:rPr lang="en-GB" sz="900"/>
                        <a:t>0.40 </a:t>
                      </a:r>
                      <a:endParaRPr sz="9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00" marR="63500" lvl="0" indent="0" algn="ctr" rtl="0">
                        <a:lnSpc>
                          <a:spcPct val="115000"/>
                        </a:lnSpc>
                        <a:spcBef>
                          <a:spcPts val="400"/>
                        </a:spcBef>
                        <a:spcAft>
                          <a:spcPts val="400"/>
                        </a:spcAft>
                        <a:buNone/>
                      </a:pPr>
                      <a:r>
                        <a:rPr lang="en-GB" sz="900"/>
                        <a:t>0.41 </a:t>
                      </a:r>
                      <a:endParaRPr sz="9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00" marR="63500" lvl="0" indent="0" algn="ctr" rtl="0">
                        <a:lnSpc>
                          <a:spcPct val="115000"/>
                        </a:lnSpc>
                        <a:spcBef>
                          <a:spcPts val="400"/>
                        </a:spcBef>
                        <a:spcAft>
                          <a:spcPts val="400"/>
                        </a:spcAft>
                        <a:buNone/>
                      </a:pPr>
                      <a:r>
                        <a:rPr lang="en-GB" sz="900" dirty="0"/>
                        <a:t>80173 </a:t>
                      </a:r>
                      <a:endParaRPr sz="900"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
        <p:nvSpPr>
          <p:cNvPr id="152" name="Google Shape;152;p26"/>
          <p:cNvSpPr txBox="1"/>
          <p:nvPr/>
        </p:nvSpPr>
        <p:spPr>
          <a:xfrm>
            <a:off x="767442" y="809325"/>
            <a:ext cx="4135458" cy="44624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500" b="1" dirty="0">
                <a:solidFill>
                  <a:srgbClr val="1155CC"/>
                </a:solidFill>
                <a:latin typeface="Times New Roman"/>
                <a:ea typeface="Times New Roman"/>
                <a:cs typeface="Times New Roman"/>
                <a:sym typeface="Times New Roman"/>
              </a:rPr>
              <a:t>Classification report (</a:t>
            </a:r>
            <a:r>
              <a:rPr lang="en-GB" sz="1700" b="1" dirty="0">
                <a:solidFill>
                  <a:srgbClr val="1155CC"/>
                </a:solidFill>
                <a:latin typeface="Times New Roman"/>
                <a:ea typeface="Times New Roman"/>
                <a:cs typeface="Times New Roman"/>
                <a:sym typeface="Times New Roman"/>
              </a:rPr>
              <a:t>Logistic Regression</a:t>
            </a:r>
            <a:r>
              <a:rPr lang="en-AU" sz="1500" b="1" dirty="0">
                <a:solidFill>
                  <a:srgbClr val="1155CC"/>
                </a:solidFill>
                <a:latin typeface="Times New Roman"/>
                <a:ea typeface="Times New Roman"/>
                <a:cs typeface="Times New Roman"/>
                <a:sym typeface="Times New Roman"/>
              </a:rPr>
              <a:t>)</a:t>
            </a:r>
            <a:endParaRPr sz="2400" b="1" dirty="0">
              <a:solidFill>
                <a:srgbClr val="1155CC"/>
              </a:solidFill>
            </a:endParaRPr>
          </a:p>
        </p:txBody>
      </p:sp>
      <p:sp>
        <p:nvSpPr>
          <p:cNvPr id="153" name="Google Shape;153;p26"/>
          <p:cNvSpPr txBox="1"/>
          <p:nvPr/>
        </p:nvSpPr>
        <p:spPr>
          <a:xfrm>
            <a:off x="4902900" y="786213"/>
            <a:ext cx="42411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500" b="1">
                <a:solidFill>
                  <a:srgbClr val="1155CC"/>
                </a:solidFill>
                <a:latin typeface="Times New Roman"/>
                <a:ea typeface="Times New Roman"/>
                <a:cs typeface="Times New Roman"/>
                <a:sym typeface="Times New Roman"/>
              </a:rPr>
              <a:t>Classification report (</a:t>
            </a:r>
            <a:r>
              <a:rPr lang="en-GB" sz="1700" b="1">
                <a:solidFill>
                  <a:srgbClr val="1155CC"/>
                </a:solidFill>
                <a:latin typeface="Times New Roman"/>
                <a:ea typeface="Times New Roman"/>
                <a:cs typeface="Times New Roman"/>
                <a:sym typeface="Times New Roman"/>
              </a:rPr>
              <a:t>Random Forest</a:t>
            </a:r>
            <a:r>
              <a:rPr lang="en-GB" sz="1500" b="1">
                <a:solidFill>
                  <a:srgbClr val="1155CC"/>
                </a:solidFill>
                <a:latin typeface="Times New Roman"/>
                <a:ea typeface="Times New Roman"/>
                <a:cs typeface="Times New Roman"/>
                <a:sym typeface="Times New Roman"/>
              </a:rPr>
              <a:t>)</a:t>
            </a:r>
            <a:r>
              <a:rPr lang="en-GB" sz="1300" b="1">
                <a:solidFill>
                  <a:srgbClr val="1155CC"/>
                </a:solidFill>
                <a:latin typeface="Times New Roman"/>
                <a:ea typeface="Times New Roman"/>
                <a:cs typeface="Times New Roman"/>
                <a:sym typeface="Times New Roman"/>
              </a:rPr>
              <a:t> </a:t>
            </a:r>
            <a:endParaRPr sz="2200" b="1">
              <a:solidFill>
                <a:srgbClr val="1155CC"/>
              </a:solidFill>
            </a:endParaRPr>
          </a:p>
        </p:txBody>
      </p:sp>
    </p:spTree>
  </p:cSld>
  <p:clrMapOvr>
    <a:masterClrMapping/>
  </p:clrMapOvr>
  <p:transition spd="med">
    <p:pull/>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Shape 141"/>
        <p:cNvGrpSpPr/>
        <p:nvPr/>
      </p:nvGrpSpPr>
      <p:grpSpPr>
        <a:xfrm>
          <a:off x="0" y="0"/>
          <a:ext cx="0" cy="0"/>
          <a:chOff x="0" y="0"/>
          <a:chExt cx="0" cy="0"/>
        </a:xfrm>
      </p:grpSpPr>
      <p:grpSp>
        <p:nvGrpSpPr>
          <p:cNvPr id="149" name="Group 148">
            <a:extLst>
              <a:ext uri="{FF2B5EF4-FFF2-40B4-BE49-F238E27FC236}">
                <a16:creationId xmlns:a16="http://schemas.microsoft.com/office/drawing/2014/main" id="{624E16E8-84BF-4D4C-A746-2537B1C1597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4643" y="558351"/>
            <a:ext cx="8005589" cy="4012254"/>
            <a:chOff x="752858" y="744469"/>
            <a:chExt cx="10674117" cy="5349671"/>
          </a:xfrm>
        </p:grpSpPr>
        <p:sp>
          <p:nvSpPr>
            <p:cNvPr id="150" name="Freeform 6">
              <a:extLst>
                <a:ext uri="{FF2B5EF4-FFF2-40B4-BE49-F238E27FC236}">
                  <a16:creationId xmlns:a16="http://schemas.microsoft.com/office/drawing/2014/main" id="{F890A3A2-97E0-41D2-BD93-30D3DFA732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en-AU"/>
            </a:p>
          </p:txBody>
        </p:sp>
        <p:sp>
          <p:nvSpPr>
            <p:cNvPr id="151" name="Freeform 6">
              <a:extLst>
                <a:ext uri="{FF2B5EF4-FFF2-40B4-BE49-F238E27FC236}">
                  <a16:creationId xmlns:a16="http://schemas.microsoft.com/office/drawing/2014/main" id="{718CB90A-6005-4951-84F5-70B5863EF7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en-AU"/>
            </a:p>
          </p:txBody>
        </p:sp>
      </p:grpSp>
      <p:sp useBgFill="1">
        <p:nvSpPr>
          <p:cNvPr id="153" name="Rectangle 152">
            <a:extLst>
              <a:ext uri="{FF2B5EF4-FFF2-40B4-BE49-F238E27FC236}">
                <a16:creationId xmlns:a16="http://schemas.microsoft.com/office/drawing/2014/main" id="{7BB74091-09FE-44AF-8325-7FE6E175F7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Google Shape;142;p25"/>
          <p:cNvSpPr txBox="1">
            <a:spLocks noGrp="1"/>
          </p:cNvSpPr>
          <p:nvPr>
            <p:ph type="title"/>
          </p:nvPr>
        </p:nvSpPr>
        <p:spPr>
          <a:xfrm>
            <a:off x="564643" y="3552720"/>
            <a:ext cx="8040514" cy="702577"/>
          </a:xfrm>
          <a:prstGeom prst="rect">
            <a:avLst/>
          </a:prstGeom>
        </p:spPr>
        <p:txBody>
          <a:bodyPr spcFirstLastPara="1" vert="horz" lIns="91440" tIns="45720" rIns="91440" bIns="45720" rtlCol="0" anchor="b" anchorCtr="0">
            <a:normAutofit/>
          </a:bodyPr>
          <a:lstStyle/>
          <a:p>
            <a:pPr marL="0" lvl="0" indent="0" algn="ctr" defTabSz="914400">
              <a:spcBef>
                <a:spcPct val="0"/>
              </a:spcBef>
              <a:spcAft>
                <a:spcPts val="0"/>
              </a:spcAft>
            </a:pPr>
            <a:r>
              <a:rPr lang="en-US" sz="3600" b="1" i="1" cap="all"/>
              <a:t>Model performance overview</a:t>
            </a:r>
          </a:p>
        </p:txBody>
      </p:sp>
      <p:pic>
        <p:nvPicPr>
          <p:cNvPr id="143" name="Google Shape;143;p25" title="Figure_1.png"/>
          <p:cNvPicPr preferRelativeResize="0"/>
          <p:nvPr/>
        </p:nvPicPr>
        <p:blipFill>
          <a:blip r:embed="rId3"/>
          <a:srcRect t="6285" r="-2" b="1439"/>
          <a:stretch>
            <a:fillRect/>
          </a:stretch>
        </p:blipFill>
        <p:spPr>
          <a:xfrm>
            <a:off x="20" y="10"/>
            <a:ext cx="4537690" cy="3140336"/>
          </a:xfrm>
          <a:prstGeom prst="rect">
            <a:avLst/>
          </a:prstGeom>
          <a:noFill/>
        </p:spPr>
      </p:pic>
      <p:pic>
        <p:nvPicPr>
          <p:cNvPr id="144" name="Google Shape;144;p25" title="Figure_2.png"/>
          <p:cNvPicPr preferRelativeResize="0"/>
          <p:nvPr/>
        </p:nvPicPr>
        <p:blipFill>
          <a:blip r:embed="rId4"/>
          <a:srcRect t="7726" r="-2" b="-2"/>
          <a:stretch>
            <a:fillRect/>
          </a:stretch>
        </p:blipFill>
        <p:spPr>
          <a:xfrm>
            <a:off x="4606290" y="10"/>
            <a:ext cx="4537710" cy="3140336"/>
          </a:xfrm>
          <a:prstGeom prst="rect">
            <a:avLst/>
          </a:prstGeom>
          <a:noFill/>
        </p:spPr>
      </p:pic>
      <p:sp>
        <p:nvSpPr>
          <p:cNvPr id="155" name="Freeform: Shape 154">
            <a:extLst>
              <a:ext uri="{FF2B5EF4-FFF2-40B4-BE49-F238E27FC236}">
                <a16:creationId xmlns:a16="http://schemas.microsoft.com/office/drawing/2014/main" id="{0F30CCEB-94C4-4F72-BA5A-9CEA853022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flipV="1">
            <a:off x="326202" y="3334913"/>
            <a:ext cx="1467878" cy="827765"/>
          </a:xfrm>
          <a:custGeom>
            <a:avLst/>
            <a:gdLst>
              <a:gd name="connsiteX0" fmla="*/ 2017702 w 2017702"/>
              <a:gd name="connsiteY0" fmla="*/ 1137821 h 1137821"/>
              <a:gd name="connsiteX1" fmla="*/ 404 w 2017702"/>
              <a:gd name="connsiteY1" fmla="*/ 1137821 h 1137821"/>
              <a:gd name="connsiteX2" fmla="*/ 0 w 2017702"/>
              <a:gd name="connsiteY2" fmla="*/ 900216 h 1137821"/>
              <a:gd name="connsiteX3" fmla="*/ 1767759 w 2017702"/>
              <a:gd name="connsiteY3" fmla="*/ 901031 h 1137821"/>
              <a:gd name="connsiteX4" fmla="*/ 1767759 w 2017702"/>
              <a:gd name="connsiteY4" fmla="*/ 0 h 1137821"/>
              <a:gd name="connsiteX5" fmla="*/ 2017702 w 2017702"/>
              <a:gd name="connsiteY5" fmla="*/ 0 h 1137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17702" h="1137821">
                <a:moveTo>
                  <a:pt x="2017702" y="1137821"/>
                </a:moveTo>
                <a:lnTo>
                  <a:pt x="404" y="1137821"/>
                </a:lnTo>
                <a:cubicBezTo>
                  <a:pt x="-404" y="1055814"/>
                  <a:pt x="807" y="982224"/>
                  <a:pt x="0" y="900216"/>
                </a:cubicBezTo>
                <a:lnTo>
                  <a:pt x="1767759" y="901031"/>
                </a:lnTo>
                <a:lnTo>
                  <a:pt x="1767759" y="0"/>
                </a:lnTo>
                <a:lnTo>
                  <a:pt x="2017702" y="0"/>
                </a:lnTo>
                <a:close/>
              </a:path>
            </a:pathLst>
          </a:custGeom>
          <a:solidFill>
            <a:schemeClr val="tx2">
              <a:alpha val="80000"/>
            </a:schemeClr>
          </a:solidFill>
          <a:ln w="0">
            <a:noFill/>
            <a:prstDash val="solid"/>
            <a:round/>
            <a:headEnd/>
            <a:tailEnd/>
          </a:ln>
        </p:spPr>
        <p:txBody>
          <a:bodyPr/>
          <a:lstStyle/>
          <a:p>
            <a:endParaRPr lang="en-AU"/>
          </a:p>
        </p:txBody>
      </p:sp>
      <p:sp>
        <p:nvSpPr>
          <p:cNvPr id="157" name="Freeform: Shape 156">
            <a:extLst>
              <a:ext uri="{FF2B5EF4-FFF2-40B4-BE49-F238E27FC236}">
                <a16:creationId xmlns:a16="http://schemas.microsoft.com/office/drawing/2014/main" id="{0DE1A94F-CC8B-4954-97A7-ADD4F300D6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347627" y="3983422"/>
            <a:ext cx="1531699" cy="910115"/>
          </a:xfrm>
          <a:custGeom>
            <a:avLst/>
            <a:gdLst>
              <a:gd name="connsiteX0" fmla="*/ 1844618 w 2105428"/>
              <a:gd name="connsiteY0" fmla="*/ 0 h 1251016"/>
              <a:gd name="connsiteX1" fmla="*/ 2105428 w 2105428"/>
              <a:gd name="connsiteY1" fmla="*/ 0 h 1251016"/>
              <a:gd name="connsiteX2" fmla="*/ 2105428 w 2105428"/>
              <a:gd name="connsiteY2" fmla="*/ 1251016 h 1251016"/>
              <a:gd name="connsiteX3" fmla="*/ 421 w 2105428"/>
              <a:gd name="connsiteY3" fmla="*/ 1251016 h 1251016"/>
              <a:gd name="connsiteX4" fmla="*/ 0 w 2105428"/>
              <a:gd name="connsiteY4" fmla="*/ 1003081 h 1251016"/>
              <a:gd name="connsiteX5" fmla="*/ 1844618 w 2105428"/>
              <a:gd name="connsiteY5" fmla="*/ 1003931 h 1251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5428" h="1251016">
                <a:moveTo>
                  <a:pt x="1844618" y="0"/>
                </a:moveTo>
                <a:lnTo>
                  <a:pt x="2105428" y="0"/>
                </a:lnTo>
                <a:lnTo>
                  <a:pt x="2105428" y="1251016"/>
                </a:lnTo>
                <a:lnTo>
                  <a:pt x="421" y="1251016"/>
                </a:lnTo>
                <a:cubicBezTo>
                  <a:pt x="-421" y="1165443"/>
                  <a:pt x="842" y="1088654"/>
                  <a:pt x="0" y="1003081"/>
                </a:cubicBezTo>
                <a:lnTo>
                  <a:pt x="1844618" y="1003931"/>
                </a:lnTo>
                <a:close/>
              </a:path>
            </a:pathLst>
          </a:custGeom>
          <a:solidFill>
            <a:schemeClr val="tx2">
              <a:alpha val="80000"/>
            </a:schemeClr>
          </a:solidFill>
          <a:ln w="0">
            <a:noFill/>
            <a:prstDash val="solid"/>
            <a:round/>
            <a:headEnd/>
            <a:tailEnd/>
          </a:ln>
        </p:spPr>
        <p:txBody>
          <a:bodyPr/>
          <a:lstStyle/>
          <a:p>
            <a:endParaRPr lang="en-AU"/>
          </a:p>
        </p:txBody>
      </p:sp>
    </p:spTree>
  </p:cSld>
  <p:clrMapOvr>
    <a:masterClrMapping/>
  </p:clrMapOvr>
  <p:transition spd="med">
    <p:pull/>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Shape 157"/>
        <p:cNvGrpSpPr/>
        <p:nvPr/>
      </p:nvGrpSpPr>
      <p:grpSpPr>
        <a:xfrm>
          <a:off x="0" y="0"/>
          <a:ext cx="0" cy="0"/>
          <a:chOff x="0" y="0"/>
          <a:chExt cx="0" cy="0"/>
        </a:xfrm>
      </p:grpSpPr>
      <p:sp>
        <p:nvSpPr>
          <p:cNvPr id="177" name="Rectangle 172">
            <a:extLst>
              <a:ext uri="{FF2B5EF4-FFF2-40B4-BE49-F238E27FC236}">
                <a16:creationId xmlns:a16="http://schemas.microsoft.com/office/drawing/2014/main" id="{2793B903-AB42-42A0-AE97-93D366679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571" y="282"/>
            <a:ext cx="17145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158" name="Google Shape;158;p27"/>
          <p:cNvSpPr txBox="1">
            <a:spLocks noGrp="1"/>
          </p:cNvSpPr>
          <p:nvPr>
            <p:ph type="title"/>
          </p:nvPr>
        </p:nvSpPr>
        <p:spPr>
          <a:xfrm>
            <a:off x="1028700" y="514350"/>
            <a:ext cx="2462021" cy="1114425"/>
          </a:xfrm>
          <a:prstGeom prst="rect">
            <a:avLst/>
          </a:prstGeom>
        </p:spPr>
        <p:txBody>
          <a:bodyPr spcFirstLastPara="1" vert="horz" lIns="91440" tIns="45720" rIns="91440" bIns="45720" rtlCol="0" anchor="t" anchorCtr="0">
            <a:normAutofit/>
          </a:bodyPr>
          <a:lstStyle/>
          <a:p>
            <a:pPr marL="0" lvl="0" indent="0" defTabSz="914400">
              <a:spcBef>
                <a:spcPct val="0"/>
              </a:spcBef>
              <a:spcAft>
                <a:spcPts val="0"/>
              </a:spcAft>
            </a:pPr>
            <a:r>
              <a:rPr lang="en-US" sz="2400" b="1" i="1"/>
              <a:t>Feature Importance (Random Forest)</a:t>
            </a:r>
            <a:endParaRPr lang="en-US" sz="2400"/>
          </a:p>
        </p:txBody>
      </p:sp>
      <p:sp>
        <p:nvSpPr>
          <p:cNvPr id="161" name="Google Shape;161;p27"/>
          <p:cNvSpPr txBox="1"/>
          <p:nvPr/>
        </p:nvSpPr>
        <p:spPr>
          <a:xfrm>
            <a:off x="1028700" y="1714500"/>
            <a:ext cx="2462020" cy="2686050"/>
          </a:xfrm>
          <a:prstGeom prst="rect">
            <a:avLst/>
          </a:prstGeom>
        </p:spPr>
        <p:txBody>
          <a:bodyPr spcFirstLastPara="1" vert="horz" lIns="91440" tIns="45720" rIns="91440" bIns="45720" rtlCol="0" anchorCtr="0">
            <a:normAutofit fontScale="85000" lnSpcReduction="10000"/>
          </a:bodyPr>
          <a:lstStyle/>
          <a:p>
            <a:pPr marL="384048" lvl="0" indent="-384048" defTabSz="914400">
              <a:lnSpc>
                <a:spcPct val="94000"/>
              </a:lnSpc>
              <a:spcBef>
                <a:spcPts val="0"/>
              </a:spcBef>
              <a:spcAft>
                <a:spcPts val="200"/>
              </a:spcAft>
              <a:buClr>
                <a:schemeClr val="dk1"/>
              </a:buClr>
              <a:buSzPts val="1100"/>
              <a:buFont typeface="Franklin Gothic Book" panose="020B0503020102020204" pitchFamily="34" charset="0"/>
              <a:buNone/>
            </a:pPr>
            <a:r>
              <a:rPr lang="en-US" sz="1500" dirty="0">
                <a:solidFill>
                  <a:schemeClr val="tx2"/>
                </a:solidFill>
                <a:sym typeface="Times New Roman"/>
              </a:rPr>
              <a:t>Random Forest's feature importance analysis shows vehicle type contributes more significantly to injury severity prediction than others. However, since these features alone are insufficient to distinguish between multiple injury levels, integrating additional variables—such as speed, weather, impact direction, or collision type may improve model discriminability. </a:t>
            </a:r>
          </a:p>
          <a:p>
            <a:pPr marL="384048" lvl="0" indent="-384048" defTabSz="914400">
              <a:lnSpc>
                <a:spcPct val="94000"/>
              </a:lnSpc>
              <a:spcBef>
                <a:spcPts val="600"/>
              </a:spcBef>
              <a:spcAft>
                <a:spcPts val="200"/>
              </a:spcAft>
              <a:buFont typeface="Franklin Gothic Book" panose="020B0503020102020204" pitchFamily="34" charset="0"/>
              <a:buNone/>
            </a:pPr>
            <a:endParaRPr lang="en-US" sz="1100" dirty="0">
              <a:solidFill>
                <a:schemeClr val="tx2"/>
              </a:solidFill>
            </a:endParaRPr>
          </a:p>
        </p:txBody>
      </p:sp>
      <p:pic>
        <p:nvPicPr>
          <p:cNvPr id="159" name="Google Shape;159;p27" title="Figure_3.png"/>
          <p:cNvPicPr preferRelativeResize="0"/>
          <p:nvPr/>
        </p:nvPicPr>
        <p:blipFill>
          <a:blip r:embed="rId3"/>
          <a:stretch>
            <a:fillRect/>
          </a:stretch>
        </p:blipFill>
        <p:spPr>
          <a:xfrm>
            <a:off x="3773600" y="924297"/>
            <a:ext cx="4887799" cy="3054873"/>
          </a:xfrm>
          <a:prstGeom prst="rect">
            <a:avLst/>
          </a:prstGeom>
          <a:noFill/>
        </p:spPr>
      </p:pic>
      <p:sp>
        <p:nvSpPr>
          <p:cNvPr id="160" name="Google Shape;160;p27"/>
          <p:cNvSpPr txBox="1"/>
          <p:nvPr/>
        </p:nvSpPr>
        <p:spPr>
          <a:xfrm>
            <a:off x="5786450" y="1624275"/>
            <a:ext cx="31470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2"/>
              </a:solidFill>
            </a:endParaRPr>
          </a:p>
        </p:txBody>
      </p:sp>
    </p:spTree>
  </p:cSld>
  <p:clrMapOvr>
    <a:masterClrMapping/>
  </p:clrMapOvr>
  <p:transition spd="med">
    <p:pull/>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Shape 165"/>
        <p:cNvGrpSpPr/>
        <p:nvPr/>
      </p:nvGrpSpPr>
      <p:grpSpPr>
        <a:xfrm>
          <a:off x="0" y="0"/>
          <a:ext cx="0" cy="0"/>
          <a:chOff x="0" y="0"/>
          <a:chExt cx="0" cy="0"/>
        </a:xfrm>
      </p:grpSpPr>
      <p:sp>
        <p:nvSpPr>
          <p:cNvPr id="182" name="Rectangle 181">
            <a:extLst>
              <a:ext uri="{FF2B5EF4-FFF2-40B4-BE49-F238E27FC236}">
                <a16:creationId xmlns:a16="http://schemas.microsoft.com/office/drawing/2014/main" id="{2793B903-AB42-42A0-AE97-93D366679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571" y="282"/>
            <a:ext cx="17145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166" name="Google Shape;166;p28"/>
          <p:cNvSpPr txBox="1">
            <a:spLocks noGrp="1"/>
          </p:cNvSpPr>
          <p:nvPr>
            <p:ph type="title"/>
          </p:nvPr>
        </p:nvSpPr>
        <p:spPr>
          <a:xfrm>
            <a:off x="1028700" y="514350"/>
            <a:ext cx="2462021" cy="1114425"/>
          </a:xfrm>
          <a:prstGeom prst="rect">
            <a:avLst/>
          </a:prstGeom>
        </p:spPr>
        <p:txBody>
          <a:bodyPr spcFirstLastPara="1" vert="horz" lIns="91440" tIns="45720" rIns="91440" bIns="45720" rtlCol="0" anchor="t" anchorCtr="0">
            <a:normAutofit/>
          </a:bodyPr>
          <a:lstStyle/>
          <a:p>
            <a:pPr marL="0" lvl="0" indent="0" defTabSz="914400">
              <a:spcAft>
                <a:spcPts val="0"/>
              </a:spcAft>
            </a:pPr>
            <a:r>
              <a:rPr lang="en-US" sz="2400" b="1" dirty="0"/>
              <a:t>Evaluating Number of Clusters</a:t>
            </a:r>
          </a:p>
        </p:txBody>
      </p:sp>
      <p:sp>
        <p:nvSpPr>
          <p:cNvPr id="168" name="Google Shape;168;p28"/>
          <p:cNvSpPr txBox="1"/>
          <p:nvPr/>
        </p:nvSpPr>
        <p:spPr>
          <a:xfrm>
            <a:off x="1028700" y="1714500"/>
            <a:ext cx="2462020" cy="2686050"/>
          </a:xfrm>
          <a:prstGeom prst="rect">
            <a:avLst/>
          </a:prstGeom>
        </p:spPr>
        <p:txBody>
          <a:bodyPr spcFirstLastPara="1" vert="horz" lIns="91440" tIns="45720" rIns="91440" bIns="45720" rtlCol="0" anchorCtr="0">
            <a:normAutofit/>
          </a:bodyPr>
          <a:lstStyle/>
          <a:p>
            <a:pPr marL="384048" lvl="0" indent="-384048" defTabSz="914400">
              <a:lnSpc>
                <a:spcPct val="94000"/>
              </a:lnSpc>
              <a:spcBef>
                <a:spcPts val="0"/>
              </a:spcBef>
              <a:spcAft>
                <a:spcPts val="200"/>
              </a:spcAft>
              <a:buFont typeface="Franklin Gothic Book" panose="020B0503020102020204" pitchFamily="34" charset="0"/>
              <a:buNone/>
            </a:pPr>
            <a:r>
              <a:rPr lang="en-US" dirty="0">
                <a:solidFill>
                  <a:schemeClr val="tx2"/>
                </a:solidFill>
              </a:rPr>
              <a:t>E</a:t>
            </a:r>
            <a:r>
              <a:rPr lang="en-US" altLang="zh-CN" dirty="0">
                <a:solidFill>
                  <a:schemeClr val="tx2"/>
                </a:solidFill>
              </a:rPr>
              <a:t>lbow Method</a:t>
            </a:r>
            <a:endParaRPr lang="en-US" dirty="0">
              <a:solidFill>
                <a:schemeClr val="tx2"/>
              </a:solidFill>
            </a:endParaRPr>
          </a:p>
          <a:p>
            <a:pPr marL="384048" lvl="0" indent="-384048" defTabSz="914400">
              <a:lnSpc>
                <a:spcPct val="94000"/>
              </a:lnSpc>
              <a:spcBef>
                <a:spcPts val="0"/>
              </a:spcBef>
              <a:spcAft>
                <a:spcPts val="200"/>
              </a:spcAft>
              <a:buFont typeface="Franklin Gothic Book" panose="020B0503020102020204" pitchFamily="34" charset="0"/>
              <a:buNone/>
            </a:pPr>
            <a:r>
              <a:rPr lang="en-US" dirty="0">
                <a:solidFill>
                  <a:schemeClr val="tx2"/>
                </a:solidFill>
              </a:rPr>
              <a:t>But no clear “Elbow”</a:t>
            </a:r>
          </a:p>
        </p:txBody>
      </p:sp>
      <p:pic>
        <p:nvPicPr>
          <p:cNvPr id="167" name="Google Shape;167;p28" title="Elbow Method.png"/>
          <p:cNvPicPr preferRelativeResize="0"/>
          <p:nvPr/>
        </p:nvPicPr>
        <p:blipFill>
          <a:blip r:embed="rId3"/>
          <a:stretch>
            <a:fillRect/>
          </a:stretch>
        </p:blipFill>
        <p:spPr>
          <a:xfrm>
            <a:off x="3773600" y="618809"/>
            <a:ext cx="4887799" cy="3665849"/>
          </a:xfrm>
          <a:prstGeom prst="rect">
            <a:avLst/>
          </a:prstGeom>
          <a:noFill/>
        </p:spPr>
      </p:pic>
    </p:spTree>
  </p:cSld>
  <p:clrMapOvr>
    <a:masterClrMapping/>
  </p:clrMapOvr>
  <p:transition spd="med">
    <p:pull/>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9"/>
          <p:cNvSpPr txBox="1">
            <a:spLocks noGrp="1"/>
          </p:cNvSpPr>
          <p:nvPr>
            <p:ph type="title"/>
          </p:nvPr>
        </p:nvSpPr>
        <p:spPr>
          <a:xfrm>
            <a:off x="971550" y="179431"/>
            <a:ext cx="7200900" cy="1114425"/>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dirty="0"/>
              <a:t>Silhouette Score: Evaluating Cluster Quality</a:t>
            </a:r>
            <a:endParaRPr dirty="0"/>
          </a:p>
        </p:txBody>
      </p:sp>
      <p:pic>
        <p:nvPicPr>
          <p:cNvPr id="174" name="Google Shape;174;p29"/>
          <p:cNvPicPr preferRelativeResize="0"/>
          <p:nvPr/>
        </p:nvPicPr>
        <p:blipFill>
          <a:blip r:embed="rId3">
            <a:alphaModFix/>
          </a:blip>
          <a:stretch>
            <a:fillRect/>
          </a:stretch>
        </p:blipFill>
        <p:spPr>
          <a:xfrm>
            <a:off x="767045" y="1185331"/>
            <a:ext cx="4579225" cy="3365833"/>
          </a:xfrm>
          <a:prstGeom prst="rect">
            <a:avLst/>
          </a:prstGeom>
          <a:noFill/>
          <a:ln>
            <a:noFill/>
          </a:ln>
        </p:spPr>
      </p:pic>
      <p:sp>
        <p:nvSpPr>
          <p:cNvPr id="175" name="Google Shape;175;p29"/>
          <p:cNvSpPr txBox="1"/>
          <p:nvPr/>
        </p:nvSpPr>
        <p:spPr>
          <a:xfrm>
            <a:off x="5479238" y="785282"/>
            <a:ext cx="3572192" cy="42637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b="1" dirty="0">
                <a:solidFill>
                  <a:schemeClr val="dk1"/>
                </a:solidFill>
              </a:rPr>
              <a:t>What is Silhouette Score?</a:t>
            </a:r>
            <a:endParaRPr sz="1800" b="1" dirty="0">
              <a:solidFill>
                <a:schemeClr val="dk1"/>
              </a:solidFill>
            </a:endParaRPr>
          </a:p>
          <a:p>
            <a:pPr marL="457200" lvl="0" indent="-342900" algn="l" rtl="0">
              <a:spcBef>
                <a:spcPts val="0"/>
              </a:spcBef>
              <a:spcAft>
                <a:spcPts val="0"/>
              </a:spcAft>
              <a:buClr>
                <a:schemeClr val="dk1"/>
              </a:buClr>
              <a:buSzPts val="1800"/>
              <a:buChar char="-"/>
            </a:pPr>
            <a:r>
              <a:rPr lang="en-GB" sz="1800" dirty="0">
                <a:solidFill>
                  <a:schemeClr val="dk1"/>
                </a:solidFill>
              </a:rPr>
              <a:t>Scores how well points fit in their cluster (range: -1 to 1)</a:t>
            </a:r>
            <a:endParaRPr sz="1800" dirty="0">
              <a:solidFill>
                <a:schemeClr val="dk1"/>
              </a:solidFill>
            </a:endParaRPr>
          </a:p>
          <a:p>
            <a:pPr marL="457200" lvl="0" indent="-342900" algn="l" rtl="0">
              <a:spcBef>
                <a:spcPts val="0"/>
              </a:spcBef>
              <a:spcAft>
                <a:spcPts val="0"/>
              </a:spcAft>
              <a:buClr>
                <a:schemeClr val="dk1"/>
              </a:buClr>
              <a:buSzPts val="1800"/>
              <a:buChar char="-"/>
            </a:pPr>
            <a:r>
              <a:rPr lang="en-GB" sz="1800" dirty="0">
                <a:solidFill>
                  <a:schemeClr val="dk1"/>
                </a:solidFill>
              </a:rPr>
              <a:t>Silhouette Score = (cohesion − separation) / max</a:t>
            </a:r>
            <a:endParaRPr sz="1800" dirty="0">
              <a:solidFill>
                <a:schemeClr val="dk1"/>
              </a:solidFill>
            </a:endParaRPr>
          </a:p>
          <a:p>
            <a:pPr marL="0" lvl="0" indent="0" algn="l" rtl="0">
              <a:spcBef>
                <a:spcPts val="0"/>
              </a:spcBef>
              <a:spcAft>
                <a:spcPts val="0"/>
              </a:spcAft>
              <a:buNone/>
            </a:pPr>
            <a:r>
              <a:rPr lang="en-GB" sz="1800" b="1" dirty="0">
                <a:solidFill>
                  <a:schemeClr val="dk1"/>
                </a:solidFill>
              </a:rPr>
              <a:t>We observed:</a:t>
            </a:r>
            <a:endParaRPr sz="1800" b="1" dirty="0">
              <a:solidFill>
                <a:schemeClr val="dk1"/>
              </a:solidFill>
            </a:endParaRPr>
          </a:p>
          <a:p>
            <a:pPr marL="457200" lvl="0" indent="-342900" algn="l" rtl="0">
              <a:spcBef>
                <a:spcPts val="0"/>
              </a:spcBef>
              <a:spcAft>
                <a:spcPts val="0"/>
              </a:spcAft>
              <a:buClr>
                <a:schemeClr val="dk1"/>
              </a:buClr>
              <a:buSzPts val="1800"/>
              <a:buChar char="-"/>
            </a:pPr>
            <a:r>
              <a:rPr lang="en-GB" sz="1800" dirty="0">
                <a:solidFill>
                  <a:schemeClr val="dk1"/>
                </a:solidFill>
              </a:rPr>
              <a:t>Originally believed k=3 scored 0.83 (report)</a:t>
            </a:r>
            <a:endParaRPr sz="1800" dirty="0">
              <a:solidFill>
                <a:schemeClr val="dk1"/>
              </a:solidFill>
            </a:endParaRPr>
          </a:p>
          <a:p>
            <a:pPr marL="457200" lvl="0" indent="-342900" algn="l" rtl="0">
              <a:spcBef>
                <a:spcPts val="0"/>
              </a:spcBef>
              <a:spcAft>
                <a:spcPts val="0"/>
              </a:spcAft>
              <a:buClr>
                <a:schemeClr val="dk1"/>
              </a:buClr>
              <a:buSzPts val="1800"/>
              <a:buChar char="-"/>
            </a:pPr>
            <a:r>
              <a:rPr lang="en-GB" sz="1800" dirty="0">
                <a:solidFill>
                  <a:schemeClr val="dk1"/>
                </a:solidFill>
              </a:rPr>
              <a:t>But re-runs on sampled data show k=3 ~ 0.36–0.45</a:t>
            </a:r>
            <a:endParaRPr sz="1800" dirty="0">
              <a:solidFill>
                <a:schemeClr val="dk1"/>
              </a:solidFill>
            </a:endParaRPr>
          </a:p>
          <a:p>
            <a:pPr marL="0" lvl="0" indent="0" algn="l" rtl="0">
              <a:spcBef>
                <a:spcPts val="0"/>
              </a:spcBef>
              <a:spcAft>
                <a:spcPts val="0"/>
              </a:spcAft>
              <a:buNone/>
            </a:pPr>
            <a:r>
              <a:rPr lang="en-GB" sz="1800" b="1" dirty="0">
                <a:solidFill>
                  <a:schemeClr val="dk1"/>
                </a:solidFill>
              </a:rPr>
              <a:t>Why we still choose k = 3</a:t>
            </a:r>
            <a:endParaRPr sz="1800" b="1" dirty="0">
              <a:solidFill>
                <a:schemeClr val="dk1"/>
              </a:solidFill>
            </a:endParaRPr>
          </a:p>
          <a:p>
            <a:pPr marL="457200" lvl="0" indent="-342900" algn="l" rtl="0">
              <a:spcBef>
                <a:spcPts val="0"/>
              </a:spcBef>
              <a:spcAft>
                <a:spcPts val="0"/>
              </a:spcAft>
              <a:buClr>
                <a:schemeClr val="dk1"/>
              </a:buClr>
              <a:buSzPts val="1800"/>
              <a:buChar char="-"/>
            </a:pPr>
            <a:r>
              <a:rPr lang="en-GB" sz="1800" dirty="0">
                <a:solidFill>
                  <a:schemeClr val="dk1"/>
                </a:solidFill>
              </a:rPr>
              <a:t>Reveals meaningful risk profiles</a:t>
            </a:r>
            <a:endParaRPr sz="1800" dirty="0">
              <a:solidFill>
                <a:schemeClr val="dk1"/>
              </a:solidFill>
            </a:endParaRPr>
          </a:p>
          <a:p>
            <a:pPr marL="457200" marR="0" lvl="0" indent="-342900" algn="l" rtl="0">
              <a:lnSpc>
                <a:spcPct val="100000"/>
              </a:lnSpc>
              <a:spcBef>
                <a:spcPts val="0"/>
              </a:spcBef>
              <a:spcAft>
                <a:spcPts val="0"/>
              </a:spcAft>
              <a:buClr>
                <a:schemeClr val="dk1"/>
              </a:buClr>
              <a:buSzPts val="1800"/>
              <a:buChar char="-"/>
            </a:pPr>
            <a:r>
              <a:rPr lang="en-GB" sz="1800" dirty="0">
                <a:solidFill>
                  <a:schemeClr val="dk1"/>
                </a:solidFill>
              </a:rPr>
              <a:t>Prioritized interpretability over score</a:t>
            </a:r>
            <a:endParaRPr sz="1800" dirty="0">
              <a:solidFill>
                <a:schemeClr val="dk1"/>
              </a:solidFill>
            </a:endParaRPr>
          </a:p>
          <a:p>
            <a:pPr marL="0" lvl="0" indent="0" algn="l" rtl="0">
              <a:spcBef>
                <a:spcPts val="0"/>
              </a:spcBef>
              <a:spcAft>
                <a:spcPts val="0"/>
              </a:spcAft>
              <a:buNone/>
            </a:pPr>
            <a:endParaRPr sz="1800" dirty="0">
              <a:solidFill>
                <a:schemeClr val="dk2"/>
              </a:solidFill>
            </a:endParaRPr>
          </a:p>
        </p:txBody>
      </p:sp>
      <p:sp>
        <p:nvSpPr>
          <p:cNvPr id="176" name="Google Shape;176;p29"/>
          <p:cNvSpPr txBox="1"/>
          <p:nvPr/>
        </p:nvSpPr>
        <p:spPr>
          <a:xfrm>
            <a:off x="463763" y="4618175"/>
            <a:ext cx="4810970" cy="43085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600" dirty="0">
                <a:solidFill>
                  <a:schemeClr val="dk2"/>
                </a:solidFill>
              </a:rPr>
              <a:t>Score varies with sampling; insight remains consistent</a:t>
            </a:r>
            <a:endParaRPr sz="1600" dirty="0">
              <a:solidFill>
                <a:schemeClr val="dk2"/>
              </a:solidFill>
            </a:endParaRPr>
          </a:p>
        </p:txBody>
      </p:sp>
    </p:spTree>
  </p:cSld>
  <p:clrMapOvr>
    <a:masterClrMapping/>
  </p:clrMapOvr>
  <p:transition spd="med">
    <p:pull/>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30"/>
          <p:cNvSpPr txBox="1">
            <a:spLocks noGrp="1"/>
          </p:cNvSpPr>
          <p:nvPr>
            <p:ph type="title"/>
          </p:nvPr>
        </p:nvSpPr>
        <p:spPr>
          <a:xfrm>
            <a:off x="719666" y="305550"/>
            <a:ext cx="8112633"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a:t>Cluster Profiles for k = 3</a:t>
            </a:r>
            <a:endParaRPr dirty="0"/>
          </a:p>
        </p:txBody>
      </p:sp>
      <p:pic>
        <p:nvPicPr>
          <p:cNvPr id="182" name="Google Shape;182;p30" title="Cluster Profiles Heatmap.png"/>
          <p:cNvPicPr preferRelativeResize="0"/>
          <p:nvPr/>
        </p:nvPicPr>
        <p:blipFill rotWithShape="1">
          <a:blip r:embed="rId3">
            <a:alphaModFix/>
          </a:blip>
          <a:srcRect l="-894" r="5719"/>
          <a:stretch/>
        </p:blipFill>
        <p:spPr>
          <a:xfrm>
            <a:off x="903088" y="808500"/>
            <a:ext cx="7691225" cy="4040625"/>
          </a:xfrm>
          <a:prstGeom prst="rect">
            <a:avLst/>
          </a:prstGeom>
          <a:noFill/>
          <a:ln>
            <a:noFill/>
          </a:ln>
        </p:spPr>
      </p:pic>
    </p:spTree>
  </p:cSld>
  <p:clrMapOvr>
    <a:masterClrMapping/>
  </p:clrMapOvr>
  <p:transition spd="med">
    <p:pull/>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31"/>
          <p:cNvSpPr txBox="1">
            <a:spLocks noGrp="1"/>
          </p:cNvSpPr>
          <p:nvPr>
            <p:ph type="title"/>
          </p:nvPr>
        </p:nvSpPr>
        <p:spPr>
          <a:xfrm>
            <a:off x="646174" y="200800"/>
            <a:ext cx="8296025"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a:t>Further Exploration: 4-cluster Solution</a:t>
            </a:r>
            <a:endParaRPr dirty="0"/>
          </a:p>
        </p:txBody>
      </p:sp>
      <p:pic>
        <p:nvPicPr>
          <p:cNvPr id="188" name="Google Shape;188;p31" title="k = 4 heatmap.png"/>
          <p:cNvPicPr preferRelativeResize="0"/>
          <p:nvPr/>
        </p:nvPicPr>
        <p:blipFill rotWithShape="1">
          <a:blip r:embed="rId3">
            <a:alphaModFix/>
          </a:blip>
          <a:srcRect r="5687"/>
          <a:stretch/>
        </p:blipFill>
        <p:spPr>
          <a:xfrm>
            <a:off x="999575" y="773500"/>
            <a:ext cx="7498250" cy="3975025"/>
          </a:xfrm>
          <a:prstGeom prst="rect">
            <a:avLst/>
          </a:prstGeom>
          <a:noFill/>
          <a:ln>
            <a:noFill/>
          </a:ln>
        </p:spPr>
      </p:pic>
      <p:sp>
        <p:nvSpPr>
          <p:cNvPr id="189" name="Google Shape;189;p31"/>
          <p:cNvSpPr txBox="1"/>
          <p:nvPr/>
        </p:nvSpPr>
        <p:spPr>
          <a:xfrm>
            <a:off x="1359550" y="4697375"/>
            <a:ext cx="7033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800">
                <a:solidFill>
                  <a:schemeClr val="dk1"/>
                </a:solidFill>
              </a:rPr>
              <a:t>Do not change the conclusion</a:t>
            </a:r>
            <a:endParaRPr sz="1800">
              <a:solidFill>
                <a:schemeClr val="dk1"/>
              </a:solidFill>
            </a:endParaRPr>
          </a:p>
        </p:txBody>
      </p:sp>
    </p:spTree>
  </p:cSld>
  <p:clrMapOvr>
    <a:masterClrMapping/>
  </p:clrMapOvr>
  <p:transition spd="med">
    <p:pull/>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Shape 193"/>
        <p:cNvGrpSpPr/>
        <p:nvPr/>
      </p:nvGrpSpPr>
      <p:grpSpPr>
        <a:xfrm>
          <a:off x="0" y="0"/>
          <a:ext cx="0" cy="0"/>
          <a:chOff x="0" y="0"/>
          <a:chExt cx="0" cy="0"/>
        </a:xfrm>
      </p:grpSpPr>
      <p:sp>
        <p:nvSpPr>
          <p:cNvPr id="200" name="Rectangle 199">
            <a:extLst>
              <a:ext uri="{FF2B5EF4-FFF2-40B4-BE49-F238E27FC236}">
                <a16:creationId xmlns:a16="http://schemas.microsoft.com/office/drawing/2014/main" id="{2A97F59D-628C-4053-B41F-489D0045FD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571" y="282"/>
            <a:ext cx="17145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202" name="Rectangle 201">
            <a:extLst>
              <a:ext uri="{FF2B5EF4-FFF2-40B4-BE49-F238E27FC236}">
                <a16:creationId xmlns:a16="http://schemas.microsoft.com/office/drawing/2014/main" id="{3362DFFC-4DCC-48EE-B781-94D04B95F1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2"/>
            <a:ext cx="3977640" cy="51432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194" name="Google Shape;194;p32"/>
          <p:cNvSpPr txBox="1">
            <a:spLocks noGrp="1"/>
          </p:cNvSpPr>
          <p:nvPr>
            <p:ph type="title"/>
          </p:nvPr>
        </p:nvSpPr>
        <p:spPr>
          <a:xfrm>
            <a:off x="480060" y="593677"/>
            <a:ext cx="3014130" cy="3946793"/>
          </a:xfrm>
          <a:prstGeom prst="rect">
            <a:avLst/>
          </a:prstGeom>
        </p:spPr>
        <p:txBody>
          <a:bodyPr spcFirstLastPara="1" vert="horz" lIns="91440" tIns="45720" rIns="91440" bIns="45720" rtlCol="0" anchor="ctr" anchorCtr="0">
            <a:normAutofit/>
          </a:bodyPr>
          <a:lstStyle/>
          <a:p>
            <a:pPr marL="0" lvl="0" indent="0" algn="r" defTabSz="914400">
              <a:spcAft>
                <a:spcPts val="0"/>
              </a:spcAft>
            </a:pPr>
            <a:r>
              <a:rPr lang="en-US" sz="4100">
                <a:solidFill>
                  <a:schemeClr val="bg2"/>
                </a:solidFill>
              </a:rPr>
              <a:t>Limitations:</a:t>
            </a:r>
          </a:p>
        </p:txBody>
      </p:sp>
      <p:sp>
        <p:nvSpPr>
          <p:cNvPr id="204" name="Rectangle 203">
            <a:extLst>
              <a:ext uri="{FF2B5EF4-FFF2-40B4-BE49-F238E27FC236}">
                <a16:creationId xmlns:a16="http://schemas.microsoft.com/office/drawing/2014/main" id="{18B8B265-E68C-4B64-9238-781F0102C5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7640" y="282"/>
            <a:ext cx="171450" cy="51435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195" name="Google Shape;195;p32"/>
          <p:cNvSpPr txBox="1"/>
          <p:nvPr/>
        </p:nvSpPr>
        <p:spPr>
          <a:xfrm>
            <a:off x="4461090" y="593677"/>
            <a:ext cx="4324339" cy="4166102"/>
          </a:xfrm>
          <a:prstGeom prst="rect">
            <a:avLst/>
          </a:prstGeom>
        </p:spPr>
        <p:txBody>
          <a:bodyPr spcFirstLastPara="1" vert="horz" lIns="91440" tIns="45720" rIns="91440" bIns="45720" rtlCol="0" anchor="ctr" anchorCtr="0">
            <a:normAutofit fontScale="92500" lnSpcReduction="20000"/>
          </a:bodyPr>
          <a:lstStyle/>
          <a:p>
            <a:pPr marL="0" lvl="0" indent="-384048" defTabSz="914400">
              <a:lnSpc>
                <a:spcPct val="94000"/>
              </a:lnSpc>
              <a:spcBef>
                <a:spcPts val="0"/>
              </a:spcBef>
              <a:spcAft>
                <a:spcPts val="200"/>
              </a:spcAft>
              <a:buFont typeface="Franklin Gothic Book" panose="020B0503020102020204" pitchFamily="34" charset="0"/>
              <a:buNone/>
            </a:pPr>
            <a:r>
              <a:rPr lang="en-US" sz="1900" b="1" dirty="0">
                <a:solidFill>
                  <a:schemeClr val="tx2"/>
                </a:solidFill>
              </a:rPr>
              <a:t>1. Feature Simplification</a:t>
            </a:r>
          </a:p>
          <a:p>
            <a:pPr marL="0" lvl="0" indent="-384048" defTabSz="914400">
              <a:lnSpc>
                <a:spcPct val="94000"/>
              </a:lnSpc>
              <a:spcBef>
                <a:spcPts val="0"/>
              </a:spcBef>
              <a:spcAft>
                <a:spcPts val="200"/>
              </a:spcAft>
              <a:buClr>
                <a:schemeClr val="dk1"/>
              </a:buClr>
              <a:buSzPts val="1100"/>
              <a:buFont typeface="Franklin Gothic Book" panose="020B0503020102020204" pitchFamily="34" charset="0"/>
              <a:buNone/>
            </a:pPr>
            <a:r>
              <a:rPr lang="en-US" sz="1400" dirty="0">
                <a:solidFill>
                  <a:schemeClr val="tx2"/>
                </a:solidFill>
              </a:rPr>
              <a:t>Seatbelt, helmet, and airbag data were merged into a single column.</a:t>
            </a:r>
          </a:p>
          <a:p>
            <a:pPr marL="0" lvl="0" indent="-384048" defTabSz="914400">
              <a:lnSpc>
                <a:spcPct val="94000"/>
              </a:lnSpc>
              <a:spcBef>
                <a:spcPts val="0"/>
              </a:spcBef>
              <a:spcAft>
                <a:spcPts val="200"/>
              </a:spcAft>
              <a:buFont typeface="Franklin Gothic Book" panose="020B0503020102020204" pitchFamily="34" charset="0"/>
              <a:buNone/>
            </a:pPr>
            <a:r>
              <a:rPr lang="en-US" sz="1400" dirty="0">
                <a:solidFill>
                  <a:schemeClr val="tx2"/>
                </a:solidFill>
              </a:rPr>
              <a:t>This reduced dimensionality but may have masked </a:t>
            </a:r>
            <a:r>
              <a:rPr lang="en-US" sz="1400" b="1" dirty="0">
                <a:solidFill>
                  <a:schemeClr val="tx2"/>
                </a:solidFill>
              </a:rPr>
              <a:t>important protective effects</a:t>
            </a:r>
            <a:r>
              <a:rPr lang="en-US" sz="1400" dirty="0">
                <a:solidFill>
                  <a:schemeClr val="tx2"/>
                </a:solidFill>
              </a:rPr>
              <a:t>.</a:t>
            </a:r>
          </a:p>
          <a:p>
            <a:pPr marL="0" lvl="0" indent="-384048" defTabSz="914400">
              <a:lnSpc>
                <a:spcPct val="94000"/>
              </a:lnSpc>
              <a:spcBef>
                <a:spcPts val="0"/>
              </a:spcBef>
              <a:spcAft>
                <a:spcPts val="200"/>
              </a:spcAft>
              <a:buFont typeface="Franklin Gothic Book" panose="020B0503020102020204" pitchFamily="34" charset="0"/>
              <a:buNone/>
            </a:pPr>
            <a:endParaRPr lang="en-US" sz="1500" dirty="0">
              <a:solidFill>
                <a:schemeClr val="tx2"/>
              </a:solidFill>
            </a:endParaRPr>
          </a:p>
          <a:p>
            <a:pPr marL="0" lvl="0" indent="-384048" defTabSz="914400">
              <a:lnSpc>
                <a:spcPct val="94000"/>
              </a:lnSpc>
              <a:spcBef>
                <a:spcPts val="0"/>
              </a:spcBef>
              <a:spcAft>
                <a:spcPts val="200"/>
              </a:spcAft>
              <a:buFont typeface="Franklin Gothic Book" panose="020B0503020102020204" pitchFamily="34" charset="0"/>
              <a:buNone/>
            </a:pPr>
            <a:r>
              <a:rPr lang="en-US" sz="1900" b="1" dirty="0">
                <a:solidFill>
                  <a:schemeClr val="tx2"/>
                </a:solidFill>
              </a:rPr>
              <a:t>2. KMeans with One-Hot Encoding</a:t>
            </a:r>
          </a:p>
          <a:p>
            <a:pPr marL="0" lvl="0" indent="-384048" defTabSz="914400">
              <a:lnSpc>
                <a:spcPct val="94000"/>
              </a:lnSpc>
              <a:spcBef>
                <a:spcPts val="0"/>
              </a:spcBef>
              <a:spcAft>
                <a:spcPts val="200"/>
              </a:spcAft>
              <a:buClr>
                <a:schemeClr val="dk1"/>
              </a:buClr>
              <a:buSzPts val="1100"/>
              <a:buFont typeface="Franklin Gothic Book" panose="020B0503020102020204" pitchFamily="34" charset="0"/>
              <a:buNone/>
            </a:pPr>
            <a:r>
              <a:rPr lang="en-US" sz="1400" dirty="0">
                <a:solidFill>
                  <a:schemeClr val="tx2"/>
                </a:solidFill>
              </a:rPr>
              <a:t>KMeans assumes spherical clusters and Euclidean distance.</a:t>
            </a:r>
          </a:p>
          <a:p>
            <a:pPr marL="0" lvl="0" indent="-384048" defTabSz="914400">
              <a:lnSpc>
                <a:spcPct val="94000"/>
              </a:lnSpc>
              <a:spcBef>
                <a:spcPts val="0"/>
              </a:spcBef>
              <a:spcAft>
                <a:spcPts val="200"/>
              </a:spcAft>
              <a:buFont typeface="Franklin Gothic Book" panose="020B0503020102020204" pitchFamily="34" charset="0"/>
              <a:buNone/>
            </a:pPr>
            <a:r>
              <a:rPr lang="en-US" sz="1400" dirty="0">
                <a:solidFill>
                  <a:schemeClr val="tx2"/>
                </a:solidFill>
              </a:rPr>
              <a:t>One-hot encoding of categorical features may distort true behavioral similarity.</a:t>
            </a:r>
          </a:p>
          <a:p>
            <a:pPr marL="0" lvl="0" indent="-384048" defTabSz="914400">
              <a:lnSpc>
                <a:spcPct val="94000"/>
              </a:lnSpc>
              <a:spcBef>
                <a:spcPts val="0"/>
              </a:spcBef>
              <a:spcAft>
                <a:spcPts val="200"/>
              </a:spcAft>
              <a:buFont typeface="Franklin Gothic Book" panose="020B0503020102020204" pitchFamily="34" charset="0"/>
              <a:buNone/>
            </a:pPr>
            <a:endParaRPr lang="en-US" sz="1400" dirty="0">
              <a:solidFill>
                <a:schemeClr val="tx2"/>
              </a:solidFill>
            </a:endParaRPr>
          </a:p>
          <a:p>
            <a:pPr marL="0" lvl="0" indent="-384048" defTabSz="914400">
              <a:lnSpc>
                <a:spcPct val="94000"/>
              </a:lnSpc>
              <a:spcBef>
                <a:spcPts val="0"/>
              </a:spcBef>
              <a:spcAft>
                <a:spcPts val="200"/>
              </a:spcAft>
              <a:buFont typeface="Franklin Gothic Book" panose="020B0503020102020204" pitchFamily="34" charset="0"/>
              <a:buNone/>
            </a:pPr>
            <a:r>
              <a:rPr lang="en-US" sz="1900" b="1" dirty="0">
                <a:solidFill>
                  <a:schemeClr val="tx2"/>
                </a:solidFill>
              </a:rPr>
              <a:t>3. Cluster Imbalance and Overfitting Risk</a:t>
            </a:r>
          </a:p>
          <a:p>
            <a:pPr marL="0" lvl="0" indent="-384048" defTabSz="914400">
              <a:lnSpc>
                <a:spcPct val="94000"/>
              </a:lnSpc>
              <a:spcBef>
                <a:spcPts val="0"/>
              </a:spcBef>
              <a:spcAft>
                <a:spcPts val="200"/>
              </a:spcAft>
              <a:buClr>
                <a:schemeClr val="dk1"/>
              </a:buClr>
              <a:buSzPts val="1100"/>
              <a:buFont typeface="Franklin Gothic Book" panose="020B0503020102020204" pitchFamily="34" charset="0"/>
              <a:buNone/>
            </a:pPr>
            <a:r>
              <a:rPr lang="en-US" sz="1400" dirty="0">
                <a:solidFill>
                  <a:schemeClr val="tx2"/>
                </a:solidFill>
              </a:rPr>
              <a:t>Cluster 0 included over 90% of samples.</a:t>
            </a:r>
          </a:p>
          <a:p>
            <a:pPr marL="0" lvl="0" indent="-384048" defTabSz="914400">
              <a:lnSpc>
                <a:spcPct val="94000"/>
              </a:lnSpc>
              <a:spcBef>
                <a:spcPts val="0"/>
              </a:spcBef>
              <a:spcAft>
                <a:spcPts val="200"/>
              </a:spcAft>
              <a:buFont typeface="Franklin Gothic Book" panose="020B0503020102020204" pitchFamily="34" charset="0"/>
              <a:buNone/>
            </a:pPr>
            <a:r>
              <a:rPr lang="en-US" sz="1400" dirty="0">
                <a:solidFill>
                  <a:schemeClr val="tx2"/>
                </a:solidFill>
              </a:rPr>
              <a:t>KMeans may overfit majority groups and compress or misclassify smaller, high-risk clusters.</a:t>
            </a:r>
          </a:p>
          <a:p>
            <a:pPr marL="0" lvl="0" indent="-384048" defTabSz="914400">
              <a:lnSpc>
                <a:spcPct val="94000"/>
              </a:lnSpc>
              <a:spcBef>
                <a:spcPts val="0"/>
              </a:spcBef>
              <a:spcAft>
                <a:spcPts val="200"/>
              </a:spcAft>
              <a:buFont typeface="Franklin Gothic Book" panose="020B0503020102020204" pitchFamily="34" charset="0"/>
              <a:buNone/>
            </a:pPr>
            <a:endParaRPr lang="en-US" sz="1700" dirty="0">
              <a:solidFill>
                <a:schemeClr val="tx2"/>
              </a:solidFill>
            </a:endParaRPr>
          </a:p>
          <a:p>
            <a:pPr marL="0" lvl="0" indent="-384048" defTabSz="914400">
              <a:lnSpc>
                <a:spcPct val="94000"/>
              </a:lnSpc>
              <a:spcBef>
                <a:spcPts val="0"/>
              </a:spcBef>
              <a:spcAft>
                <a:spcPts val="200"/>
              </a:spcAft>
              <a:buFont typeface="Franklin Gothic Book" panose="020B0503020102020204" pitchFamily="34" charset="0"/>
              <a:buNone/>
            </a:pPr>
            <a:r>
              <a:rPr lang="en-US" sz="1900" b="1" dirty="0">
                <a:solidFill>
                  <a:schemeClr val="tx2"/>
                </a:solidFill>
              </a:rPr>
              <a:t>4. Missed Feature Interactions</a:t>
            </a:r>
            <a:endParaRPr lang="en-US" sz="1900" dirty="0">
              <a:solidFill>
                <a:schemeClr val="tx2"/>
              </a:solidFill>
            </a:endParaRPr>
          </a:p>
          <a:p>
            <a:pPr marL="0" lvl="0" indent="-384048" defTabSz="914400">
              <a:lnSpc>
                <a:spcPct val="94000"/>
              </a:lnSpc>
              <a:spcBef>
                <a:spcPts val="0"/>
              </a:spcBef>
              <a:spcAft>
                <a:spcPts val="200"/>
              </a:spcAft>
              <a:buClr>
                <a:schemeClr val="dk1"/>
              </a:buClr>
              <a:buSzPts val="1100"/>
              <a:buFont typeface="Franklin Gothic Book" panose="020B0503020102020204" pitchFamily="34" charset="0"/>
              <a:buNone/>
            </a:pPr>
            <a:r>
              <a:rPr lang="en-US" sz="1400" dirty="0">
                <a:solidFill>
                  <a:schemeClr val="tx2"/>
                </a:solidFill>
              </a:rPr>
              <a:t>Potential interactions (e.g. front seat + no belt) were not explicitly modeled.</a:t>
            </a:r>
          </a:p>
          <a:p>
            <a:pPr marL="0" lvl="0" indent="-384048" defTabSz="914400">
              <a:lnSpc>
                <a:spcPct val="94000"/>
              </a:lnSpc>
              <a:spcBef>
                <a:spcPts val="0"/>
              </a:spcBef>
              <a:spcAft>
                <a:spcPts val="200"/>
              </a:spcAft>
              <a:buFont typeface="Franklin Gothic Book" panose="020B0503020102020204" pitchFamily="34" charset="0"/>
              <a:buNone/>
            </a:pPr>
            <a:r>
              <a:rPr lang="en-US" sz="1400" dirty="0">
                <a:solidFill>
                  <a:schemeClr val="tx2"/>
                </a:solidFill>
              </a:rPr>
              <a:t>This may overlook </a:t>
            </a:r>
            <a:r>
              <a:rPr lang="en-US" sz="1400" b="1" dirty="0">
                <a:solidFill>
                  <a:schemeClr val="tx2"/>
                </a:solidFill>
              </a:rPr>
              <a:t>compound risk effects</a:t>
            </a:r>
            <a:r>
              <a:rPr lang="en-US" sz="1400" dirty="0">
                <a:solidFill>
                  <a:schemeClr val="tx2"/>
                </a:solidFill>
              </a:rPr>
              <a:t>.</a:t>
            </a:r>
          </a:p>
        </p:txBody>
      </p:sp>
    </p:spTree>
  </p:cSld>
  <p:clrMapOvr>
    <a:masterClrMapping/>
  </p:clrMapOvr>
  <p:transition spd="med">
    <p:pull/>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Shape 199"/>
        <p:cNvGrpSpPr/>
        <p:nvPr/>
      </p:nvGrpSpPr>
      <p:grpSpPr>
        <a:xfrm>
          <a:off x="0" y="0"/>
          <a:ext cx="0" cy="0"/>
          <a:chOff x="0" y="0"/>
          <a:chExt cx="0" cy="0"/>
        </a:xfrm>
      </p:grpSpPr>
      <p:sp>
        <p:nvSpPr>
          <p:cNvPr id="207" name="Rectangle 206">
            <a:extLst>
              <a:ext uri="{FF2B5EF4-FFF2-40B4-BE49-F238E27FC236}">
                <a16:creationId xmlns:a16="http://schemas.microsoft.com/office/drawing/2014/main" id="{0E807223-DF88-4D6D-970E-08919E5E02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571" y="282"/>
            <a:ext cx="17145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useBgFill="1">
        <p:nvSpPr>
          <p:cNvPr id="209" name="Rectangle 208">
            <a:extLst>
              <a:ext uri="{FF2B5EF4-FFF2-40B4-BE49-F238E27FC236}">
                <a16:creationId xmlns:a16="http://schemas.microsoft.com/office/drawing/2014/main" id="{AB37E899-1A26-449D-9A99-B8D7B95645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Google Shape;200;p33"/>
          <p:cNvSpPr txBox="1">
            <a:spLocks noGrp="1"/>
          </p:cNvSpPr>
          <p:nvPr>
            <p:ph type="title"/>
          </p:nvPr>
        </p:nvSpPr>
        <p:spPr>
          <a:xfrm>
            <a:off x="3825618" y="514350"/>
            <a:ext cx="4632582" cy="1114425"/>
          </a:xfrm>
          <a:prstGeom prst="rect">
            <a:avLst/>
          </a:prstGeom>
        </p:spPr>
        <p:txBody>
          <a:bodyPr spcFirstLastPara="1" vert="horz" lIns="91440" tIns="45720" rIns="91440" bIns="45720" rtlCol="0" anchor="t" anchorCtr="0">
            <a:normAutofit/>
          </a:bodyPr>
          <a:lstStyle/>
          <a:p>
            <a:pPr marL="0" lvl="0" indent="0" defTabSz="914400">
              <a:spcBef>
                <a:spcPct val="0"/>
              </a:spcBef>
              <a:spcAft>
                <a:spcPts val="0"/>
              </a:spcAft>
            </a:pPr>
            <a:r>
              <a:rPr lang="en-US" sz="4400"/>
              <a:t>Conclusion</a:t>
            </a:r>
          </a:p>
        </p:txBody>
      </p:sp>
      <p:pic>
        <p:nvPicPr>
          <p:cNvPr id="204" name="Picture 202" descr="大型停车场俯视图">
            <a:extLst>
              <a:ext uri="{FF2B5EF4-FFF2-40B4-BE49-F238E27FC236}">
                <a16:creationId xmlns:a16="http://schemas.microsoft.com/office/drawing/2014/main" id="{40DCD94E-2515-94C9-EF2C-973E6948E587}"/>
              </a:ext>
            </a:extLst>
          </p:cNvPr>
          <p:cNvPicPr>
            <a:picLocks noChangeAspect="1"/>
          </p:cNvPicPr>
          <p:nvPr/>
        </p:nvPicPr>
        <p:blipFill>
          <a:blip r:embed="rId3"/>
          <a:srcRect l="11616" r="43758" b="-2"/>
          <a:stretch>
            <a:fillRect/>
          </a:stretch>
        </p:blipFill>
        <p:spPr>
          <a:xfrm>
            <a:off x="20" y="10"/>
            <a:ext cx="3451588" cy="5143490"/>
          </a:xfrm>
          <a:prstGeom prst="rect">
            <a:avLst/>
          </a:prstGeom>
        </p:spPr>
      </p:pic>
      <p:sp>
        <p:nvSpPr>
          <p:cNvPr id="211" name="Rectangle 210">
            <a:extLst>
              <a:ext uri="{FF2B5EF4-FFF2-40B4-BE49-F238E27FC236}">
                <a16:creationId xmlns:a16="http://schemas.microsoft.com/office/drawing/2014/main" id="{A9023BA4-63D6-4B04-BC2C-6D126A2305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571" y="282"/>
            <a:ext cx="17145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201" name="Google Shape;201;p33"/>
          <p:cNvSpPr txBox="1">
            <a:spLocks noGrp="1"/>
          </p:cNvSpPr>
          <p:nvPr>
            <p:ph type="body" idx="1"/>
          </p:nvPr>
        </p:nvSpPr>
        <p:spPr>
          <a:xfrm>
            <a:off x="3825618" y="1224643"/>
            <a:ext cx="4844853" cy="3747407"/>
          </a:xfrm>
          <a:prstGeom prst="rect">
            <a:avLst/>
          </a:prstGeom>
        </p:spPr>
        <p:txBody>
          <a:bodyPr spcFirstLastPara="1" vert="horz" lIns="91440" tIns="45720" rIns="91440" bIns="45720" rtlCol="0" anchorCtr="0">
            <a:normAutofit fontScale="92500" lnSpcReduction="20000"/>
          </a:bodyPr>
          <a:lstStyle/>
          <a:p>
            <a:pPr marL="384048" lvl="0" indent="-384048" defTabSz="914400">
              <a:spcBef>
                <a:spcPts val="1400"/>
              </a:spcBef>
              <a:spcAft>
                <a:spcPts val="200"/>
              </a:spcAft>
              <a:buClr>
                <a:schemeClr val="dk1"/>
              </a:buClr>
              <a:buSzPts val="1100"/>
              <a:buFont typeface="Franklin Gothic Book" panose="020B0503020102020204" pitchFamily="34" charset="0"/>
              <a:buNone/>
            </a:pPr>
            <a:r>
              <a:rPr lang="en-US" sz="1800" b="1" dirty="0"/>
              <a:t>Key Findings</a:t>
            </a:r>
          </a:p>
          <a:p>
            <a:pPr marL="384048" lvl="0" indent="-384048" defTabSz="914400">
              <a:spcBef>
                <a:spcPts val="1200"/>
              </a:spcBef>
              <a:spcAft>
                <a:spcPts val="200"/>
              </a:spcAft>
              <a:buClr>
                <a:schemeClr val="dk1"/>
              </a:buClr>
              <a:buSzPts val="1300"/>
              <a:buFont typeface="Franklin Gothic Book" panose="020B0503020102020204" pitchFamily="34" charset="0"/>
              <a:buChar char="●"/>
            </a:pPr>
            <a:r>
              <a:rPr lang="en-US" sz="1800" dirty="0"/>
              <a:t>Rear seat positions are relatively safer</a:t>
            </a:r>
            <a:br>
              <a:rPr lang="en-US" sz="1800" dirty="0"/>
            </a:br>
            <a:endParaRPr lang="en-US" sz="1800" dirty="0"/>
          </a:p>
          <a:p>
            <a:pPr marL="384048" lvl="0" indent="-384048" defTabSz="914400">
              <a:spcBef>
                <a:spcPts val="0"/>
              </a:spcBef>
              <a:spcAft>
                <a:spcPts val="200"/>
              </a:spcAft>
              <a:buClr>
                <a:schemeClr val="dk1"/>
              </a:buClr>
              <a:buSzPts val="1300"/>
              <a:buFont typeface="Franklin Gothic Book" panose="020B0503020102020204" pitchFamily="34" charset="0"/>
              <a:buChar char="●"/>
            </a:pPr>
            <a:r>
              <a:rPr lang="en-US" sz="1800" dirty="0"/>
              <a:t>Seatbelt usage significantly reduces injury severity</a:t>
            </a:r>
            <a:br>
              <a:rPr lang="en-US" sz="1800" dirty="0"/>
            </a:br>
            <a:endParaRPr lang="en-US" sz="1800" dirty="0"/>
          </a:p>
          <a:p>
            <a:pPr marL="384048" lvl="0" indent="-384048" defTabSz="914400">
              <a:spcBef>
                <a:spcPts val="0"/>
              </a:spcBef>
              <a:spcAft>
                <a:spcPts val="200"/>
              </a:spcAft>
              <a:buClr>
                <a:schemeClr val="dk1"/>
              </a:buClr>
              <a:buSzPts val="1300"/>
              <a:buFont typeface="Franklin Gothic Book" panose="020B0503020102020204" pitchFamily="34" charset="0"/>
              <a:buChar char="●"/>
            </a:pPr>
            <a:r>
              <a:rPr lang="en-US" sz="1800" dirty="0"/>
              <a:t>Vehicle type strongly influences crash outcomes</a:t>
            </a:r>
          </a:p>
          <a:p>
            <a:pPr marL="384048" lvl="0" indent="-384048" defTabSz="914400">
              <a:spcBef>
                <a:spcPts val="1400"/>
              </a:spcBef>
              <a:spcAft>
                <a:spcPts val="200"/>
              </a:spcAft>
              <a:buFont typeface="Franklin Gothic Book" panose="020B0503020102020204" pitchFamily="34" charset="0"/>
              <a:buNone/>
            </a:pPr>
            <a:r>
              <a:rPr lang="en-US" sz="1800" b="1" dirty="0"/>
              <a:t>We Recommend</a:t>
            </a:r>
          </a:p>
          <a:p>
            <a:pPr marL="384048" lvl="0" indent="-384048" defTabSz="914400">
              <a:spcBef>
                <a:spcPts val="1200"/>
              </a:spcBef>
              <a:spcAft>
                <a:spcPts val="200"/>
              </a:spcAft>
              <a:buClr>
                <a:schemeClr val="dk1"/>
              </a:buClr>
              <a:buSzPts val="1100"/>
              <a:buFont typeface="Franklin Gothic Book" panose="020B0503020102020204" pitchFamily="34" charset="0"/>
              <a:buChar char="●"/>
            </a:pPr>
            <a:r>
              <a:rPr lang="en-US" sz="1800" dirty="0"/>
              <a:t>Promote seatbelt use in </a:t>
            </a:r>
            <a:r>
              <a:rPr lang="en-US" sz="1800" b="1" dirty="0"/>
              <a:t>all seats</a:t>
            </a:r>
            <a:br>
              <a:rPr lang="en-US" sz="1800" b="1" dirty="0"/>
            </a:br>
            <a:endParaRPr lang="en-US" sz="1800" b="1" dirty="0"/>
          </a:p>
          <a:p>
            <a:pPr marL="384048" lvl="0" indent="-384048" defTabSz="914400">
              <a:spcBef>
                <a:spcPts val="0"/>
              </a:spcBef>
              <a:spcAft>
                <a:spcPts val="200"/>
              </a:spcAft>
              <a:buClr>
                <a:schemeClr val="dk1"/>
              </a:buClr>
              <a:buSzPts val="1100"/>
              <a:buFont typeface="Franklin Gothic Book" panose="020B0503020102020204" pitchFamily="34" charset="0"/>
              <a:buChar char="●"/>
            </a:pPr>
            <a:r>
              <a:rPr lang="en-US" sz="1800" dirty="0"/>
              <a:t>Tailor safety messages by </a:t>
            </a:r>
            <a:r>
              <a:rPr lang="en-US" sz="1800" b="1" dirty="0"/>
              <a:t>user type</a:t>
            </a:r>
            <a:br>
              <a:rPr lang="en-US" sz="1800" b="1" dirty="0"/>
            </a:br>
            <a:endParaRPr lang="en-US" sz="1800" b="1" dirty="0"/>
          </a:p>
          <a:p>
            <a:pPr marL="384048" lvl="0" indent="-384048" defTabSz="914400">
              <a:spcBef>
                <a:spcPts val="0"/>
              </a:spcBef>
              <a:spcAft>
                <a:spcPts val="200"/>
              </a:spcAft>
              <a:buClr>
                <a:schemeClr val="dk1"/>
              </a:buClr>
              <a:buSzPts val="1100"/>
              <a:buFont typeface="Franklin Gothic Book" panose="020B0503020102020204" pitchFamily="34" charset="0"/>
              <a:buChar char="●"/>
            </a:pPr>
            <a:r>
              <a:rPr lang="en-US" sz="1800" dirty="0"/>
              <a:t>Apply stricter rules for </a:t>
            </a:r>
            <a:r>
              <a:rPr lang="en-US" sz="1800" b="1" dirty="0"/>
              <a:t>high-risk vehicles</a:t>
            </a:r>
          </a:p>
          <a:p>
            <a:pPr marL="384048" lvl="0" indent="-384048" defTabSz="914400">
              <a:spcBef>
                <a:spcPts val="0"/>
              </a:spcBef>
              <a:spcAft>
                <a:spcPts val="200"/>
              </a:spcAft>
              <a:buClr>
                <a:schemeClr val="dk1"/>
              </a:buClr>
              <a:buSzPts val="1300"/>
              <a:buFont typeface="Franklin Gothic Book" panose="020B0503020102020204" pitchFamily="34" charset="0"/>
              <a:buNone/>
            </a:pPr>
            <a:endParaRPr lang="en-US" sz="400" dirty="0"/>
          </a:p>
        </p:txBody>
      </p:sp>
    </p:spTree>
  </p:cSld>
  <p:clrMapOvr>
    <a:masterClrMapping/>
  </p:clrMapOvr>
  <p:transition spd="med">
    <p:pull/>
  </p:transition>
</p:sld>
</file>

<file path=ppt/theme/theme1.xml><?xml version="1.0" encoding="utf-8"?>
<a:theme xmlns:a="http://schemas.openxmlformats.org/drawingml/2006/main" name="剪切">
  <a:themeElements>
    <a:clrScheme name="剪切">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剪切">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剪切">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TM10001105[[fn=剪切]]</Template>
  <TotalTime>37</TotalTime>
  <Words>1466</Words>
  <Application>Microsoft Office PowerPoint</Application>
  <PresentationFormat>全屏显示(16:9)</PresentationFormat>
  <Paragraphs>210</Paragraphs>
  <Slides>21</Slides>
  <Notes>21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21</vt:i4>
      </vt:variant>
    </vt:vector>
  </HeadingPairs>
  <TitlesOfParts>
    <vt:vector size="26" baseType="lpstr">
      <vt:lpstr>Arial</vt:lpstr>
      <vt:lpstr>Franklin Gothic Book</vt:lpstr>
      <vt:lpstr>Times New Roman</vt:lpstr>
      <vt:lpstr>Verdana</vt:lpstr>
      <vt:lpstr>剪切</vt:lpstr>
      <vt:lpstr>Understanding Injury Risk on the Road: A Cluster-Based Analysis of Behavioural and Structural Factors</vt:lpstr>
      <vt:lpstr>Introduction</vt:lpstr>
      <vt:lpstr>Correlation to road accident policy makers or implementor</vt:lpstr>
      <vt:lpstr>Methodology overview</vt:lpstr>
      <vt:lpstr>Data collection &amp; Merging </vt:lpstr>
      <vt:lpstr>Exploratory Data Analysis - Distribution Analysis </vt:lpstr>
      <vt:lpstr>Exploratory Data Analysis - Relationship Analysis</vt:lpstr>
      <vt:lpstr>Exploratory Data Analysis - Relationship Analysis</vt:lpstr>
      <vt:lpstr>Exploratory Data Analysis - Relationship Analysis</vt:lpstr>
      <vt:lpstr>Chi-Square Independence Test - Statistical Testing</vt:lpstr>
      <vt:lpstr>Machine Learning Models</vt:lpstr>
      <vt:lpstr>Model performance overview</vt:lpstr>
      <vt:lpstr>Model performance summary</vt:lpstr>
      <vt:lpstr>Model performance overview</vt:lpstr>
      <vt:lpstr>Feature Importance (Random Forest)</vt:lpstr>
      <vt:lpstr>Evaluating Number of Clusters</vt:lpstr>
      <vt:lpstr>Silhouette Score: Evaluating Cluster Quality</vt:lpstr>
      <vt:lpstr>Cluster Profiles for k = 3</vt:lpstr>
      <vt:lpstr>Further Exploration: 4-cluster Solution</vt:lpstr>
      <vt:lpstr>Limitations: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Charlotte Lyu</cp:lastModifiedBy>
  <cp:revision>11</cp:revision>
  <dcterms:modified xsi:type="dcterms:W3CDTF">2025-05-23T07:06:26Z</dcterms:modified>
</cp:coreProperties>
</file>